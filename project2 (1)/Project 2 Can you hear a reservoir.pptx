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notesMasterIdLst>
    <p:notesMasterId r:id="rId16"/>
  </p:notesMasterIdLst>
  <p:sldIdLst>
    <p:sldId id="256" r:id="rId2"/>
    <p:sldId id="257" r:id="rId3"/>
    <p:sldId id="264" r:id="rId4"/>
    <p:sldId id="258" r:id="rId5"/>
    <p:sldId id="265" r:id="rId6"/>
    <p:sldId id="266" r:id="rId7"/>
    <p:sldId id="267" r:id="rId8"/>
    <p:sldId id="268" r:id="rId9"/>
    <p:sldId id="269" r:id="rId10"/>
    <p:sldId id="270" r:id="rId11"/>
    <p:sldId id="271" r:id="rId12"/>
    <p:sldId id="272" r:id="rId13"/>
    <p:sldId id="273"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873" autoAdjust="0"/>
  </p:normalViewPr>
  <p:slideViewPr>
    <p:cSldViewPr snapToGrid="0">
      <p:cViewPr varScale="1">
        <p:scale>
          <a:sx n="96" d="100"/>
          <a:sy n="96" d="100"/>
        </p:scale>
        <p:origin x="115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vin Varpe" userId="fb6be2d5-6df9-4bd4-b8a9-c39bfd7faf5b" providerId="ADAL" clId="{134F18AD-6699-4F60-BD45-FEFDEE8D834B}"/>
    <pc:docChg chg="modSld">
      <pc:chgData name="Malvin Varpe" userId="fb6be2d5-6df9-4bd4-b8a9-c39bfd7faf5b" providerId="ADAL" clId="{134F18AD-6699-4F60-BD45-FEFDEE8D834B}" dt="2025-10-23T05:06:33.590" v="0" actId="20577"/>
      <pc:docMkLst>
        <pc:docMk/>
      </pc:docMkLst>
      <pc:sldChg chg="modNotesTx">
        <pc:chgData name="Malvin Varpe" userId="fb6be2d5-6df9-4bd4-b8a9-c39bfd7faf5b" providerId="ADAL" clId="{134F18AD-6699-4F60-BD45-FEFDEE8D834B}" dt="2025-10-23T05:06:33.590" v="0" actId="20577"/>
        <pc:sldMkLst>
          <pc:docMk/>
          <pc:sldMk cId="3600804934"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7ED373-BAD1-4F47-AB59-36CCC457D4C9}" type="datetimeFigureOut">
              <a:rPr lang="en-US" smtClean="0"/>
              <a:t>10/23/2025</a:t>
            </a:fld>
            <a:endParaRPr lang="en-US"/>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A439AA-4617-4627-B5F6-FFD7862B74B0}" type="slidenum">
              <a:rPr lang="en-US" smtClean="0"/>
              <a:t>‹#›</a:t>
            </a:fld>
            <a:endParaRPr lang="en-US"/>
          </a:p>
        </p:txBody>
      </p:sp>
    </p:spTree>
    <p:extLst>
      <p:ext uri="{BB962C8B-B14F-4D97-AF65-F5344CB8AC3E}">
        <p14:creationId xmlns:p14="http://schemas.microsoft.com/office/powerpoint/2010/main" val="466898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en-US" dirty="0"/>
              <a:t>Malvin will cover </a:t>
            </a:r>
          </a:p>
        </p:txBody>
      </p:sp>
      <p:sp>
        <p:nvSpPr>
          <p:cNvPr id="4" name="Plassholder for lysbildenummer 3"/>
          <p:cNvSpPr>
            <a:spLocks noGrp="1"/>
          </p:cNvSpPr>
          <p:nvPr>
            <p:ph type="sldNum" sz="quarter" idx="5"/>
          </p:nvPr>
        </p:nvSpPr>
        <p:spPr/>
        <p:txBody>
          <a:bodyPr/>
          <a:lstStyle/>
          <a:p>
            <a:fld id="{F7A439AA-4617-4627-B5F6-FFD7862B74B0}" type="slidenum">
              <a:rPr lang="en-US" smtClean="0"/>
              <a:t>2</a:t>
            </a:fld>
            <a:endParaRPr lang="en-US"/>
          </a:p>
        </p:txBody>
      </p:sp>
    </p:spTree>
    <p:extLst>
      <p:ext uri="{BB962C8B-B14F-4D97-AF65-F5344CB8AC3E}">
        <p14:creationId xmlns:p14="http://schemas.microsoft.com/office/powerpoint/2010/main" val="4078324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Our main learning objectives are to implement finite difference solvers for radial diffusivity—using a logarithmic coordinate transformation—and to compare our numerical steady-state solutions to analytical results. We also build an implicit time solver, form the timestep matrix, and study how boundary conditions, accuracy, and solver choices affect our results. We also use test data for fitting.</a:t>
            </a:r>
          </a:p>
        </p:txBody>
      </p:sp>
      <p:sp>
        <p:nvSpPr>
          <p:cNvPr id="4" name="Plassholder for lysbildenummer 3"/>
          <p:cNvSpPr>
            <a:spLocks noGrp="1"/>
          </p:cNvSpPr>
          <p:nvPr>
            <p:ph type="sldNum" sz="quarter" idx="5"/>
          </p:nvPr>
        </p:nvSpPr>
        <p:spPr/>
        <p:txBody>
          <a:bodyPr/>
          <a:lstStyle/>
          <a:p>
            <a:fld id="{F7A439AA-4617-4627-B5F6-FFD7862B74B0}" type="slidenum">
              <a:rPr lang="en-US" smtClean="0"/>
              <a:t>3</a:t>
            </a:fld>
            <a:endParaRPr lang="en-US"/>
          </a:p>
        </p:txBody>
      </p:sp>
    </p:spTree>
    <p:extLst>
      <p:ext uri="{BB962C8B-B14F-4D97-AF65-F5344CB8AC3E}">
        <p14:creationId xmlns:p14="http://schemas.microsoft.com/office/powerpoint/2010/main" val="3051494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We use the radial diffusivity equation to describe how pressure spreads out from a well. To make the math and calculations easier, we switch from radius </a:t>
                </a:r>
                <a14:m>
                  <m:oMath xmlns:m="http://schemas.openxmlformats.org/officeDocument/2006/math">
                    <m:r>
                      <a:rPr lang="en-US" sz="1200" i="1" kern="1200">
                        <a:solidFill>
                          <a:schemeClr val="tx1"/>
                        </a:solidFill>
                        <a:latin typeface="Cambria Math" panose="02040503050406030204" pitchFamily="18" charset="0"/>
                        <a:ea typeface="+mn-ea"/>
                        <a:cs typeface="+mn-cs"/>
                      </a:rPr>
                      <m:t>𝑟</m:t>
                    </m:r>
                  </m:oMath>
                </a14:m>
                <a:r>
                  <a:rPr lang="en-US" dirty="0"/>
                  <a:t> to a new variable y=ln(r/</a:t>
                </a:r>
                <a:r>
                  <a:rPr lang="en-US" dirty="0" err="1"/>
                  <a:t>r_w</a:t>
                </a:r>
                <a:r>
                  <a:rPr lang="en-US" dirty="0"/>
                  <a:t>). This change turns the equation into a much simpler form, where the main part is just a constant times the second derivative in </a:t>
                </a:r>
                <a14:m>
                  <m:oMath xmlns:m="http://schemas.openxmlformats.org/officeDocument/2006/math">
                    <m:r>
                      <a:rPr lang="en-US" sz="1200" i="1" kern="1200">
                        <a:solidFill>
                          <a:schemeClr val="tx1"/>
                        </a:solidFill>
                        <a:latin typeface="Cambria Math" panose="02040503050406030204" pitchFamily="18" charset="0"/>
                        <a:ea typeface="+mn-ea"/>
                        <a:cs typeface="+mn-cs"/>
                      </a:rPr>
                      <m:t>𝑦</m:t>
                    </m:r>
                  </m:oMath>
                </a14:m>
                <a:r>
                  <a:rPr lang="en-US" dirty="0"/>
                  <a:t>. This makes it easier and more accurate to solve with our numerical methods.</a:t>
                </a:r>
              </a:p>
            </p:txBody>
          </p:sp>
        </mc:Choice>
        <mc:Fallback xmlns="">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We use the radial diffusivity equation to describe how pressure spreads out from a well. To make the math and calculations easier, we switch from radius </a:t>
                </a:r>
                <a:r>
                  <a:rPr lang="en-US" sz="1200" i="0" kern="1200">
                    <a:solidFill>
                      <a:schemeClr val="tx1"/>
                    </a:solidFill>
                    <a:latin typeface="+mn-lt"/>
                    <a:ea typeface="+mn-ea"/>
                    <a:cs typeface="+mn-cs"/>
                  </a:rPr>
                  <a:t>𝑟</a:t>
                </a:r>
                <a:r>
                  <a:rPr lang="en-US" dirty="0"/>
                  <a:t> to a new variable y=ln(r/</a:t>
                </a:r>
                <a:r>
                  <a:rPr lang="en-US" dirty="0" err="1"/>
                  <a:t>r_w</a:t>
                </a:r>
                <a:r>
                  <a:rPr lang="en-US" dirty="0"/>
                  <a:t>). This change turns the equation into a much simpler form, where the main part is just a constant times the second derivative in </a:t>
                </a:r>
                <a:r>
                  <a:rPr lang="en-US" sz="1200" i="0" kern="1200">
                    <a:solidFill>
                      <a:schemeClr val="tx1"/>
                    </a:solidFill>
                    <a:latin typeface="+mn-lt"/>
                    <a:ea typeface="+mn-ea"/>
                    <a:cs typeface="+mn-cs"/>
                  </a:rPr>
                  <a:t>𝑦</a:t>
                </a:r>
                <a:r>
                  <a:rPr lang="en-US" dirty="0"/>
                  <a:t>. This makes it easier and more accurate to solve with our numerical methods.</a:t>
                </a:r>
              </a:p>
            </p:txBody>
          </p:sp>
        </mc:Fallback>
      </mc:AlternateContent>
      <p:sp>
        <p:nvSpPr>
          <p:cNvPr id="4" name="Plassholder for lysbildenummer 3"/>
          <p:cNvSpPr>
            <a:spLocks noGrp="1"/>
          </p:cNvSpPr>
          <p:nvPr>
            <p:ph type="sldNum" sz="quarter" idx="5"/>
          </p:nvPr>
        </p:nvSpPr>
        <p:spPr/>
        <p:txBody>
          <a:bodyPr/>
          <a:lstStyle/>
          <a:p>
            <a:fld id="{F7A439AA-4617-4627-B5F6-FFD7862B74B0}" type="slidenum">
              <a:rPr lang="en-US" smtClean="0"/>
              <a:t>4</a:t>
            </a:fld>
            <a:endParaRPr lang="en-US"/>
          </a:p>
        </p:txBody>
      </p:sp>
    </p:spTree>
    <p:extLst>
      <p:ext uri="{BB962C8B-B14F-4D97-AF65-F5344CB8AC3E}">
        <p14:creationId xmlns:p14="http://schemas.microsoft.com/office/powerpoint/2010/main" val="2380716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To solve the steady-state problem, we discretize the equation using central differences, resulting in a tridiagonal linear system. For boundary conditions, we test two approaches at the outer edge: the ‘lazy’ method, which sets the last pressure node equal to the boundary value—giving first-order accuracy—and the ‘not-so-lazy’ method, which uses ghost node extrapolation for second-order accuracy. At the well, we handle the Neumann boundary with a ghost node as well. This setup simplifies the discretization and improves numerical stability and accuracy.</a:t>
            </a:r>
          </a:p>
        </p:txBody>
      </p:sp>
      <p:sp>
        <p:nvSpPr>
          <p:cNvPr id="4" name="Plassholder for lysbildenummer 3"/>
          <p:cNvSpPr>
            <a:spLocks noGrp="1"/>
          </p:cNvSpPr>
          <p:nvPr>
            <p:ph type="sldNum" sz="quarter" idx="5"/>
          </p:nvPr>
        </p:nvSpPr>
        <p:spPr/>
        <p:txBody>
          <a:bodyPr/>
          <a:lstStyle/>
          <a:p>
            <a:fld id="{F7A439AA-4617-4627-B5F6-FFD7862B74B0}" type="slidenum">
              <a:rPr lang="en-US" smtClean="0"/>
              <a:t>5</a:t>
            </a:fld>
            <a:endParaRPr lang="en-US"/>
          </a:p>
        </p:txBody>
      </p:sp>
    </p:spTree>
    <p:extLst>
      <p:ext uri="{BB962C8B-B14F-4D97-AF65-F5344CB8AC3E}">
        <p14:creationId xmlns:p14="http://schemas.microsoft.com/office/powerpoint/2010/main" val="4030517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We measure both L2 and pointwise error against the analytical solution. The lazy boundary condition shows first-order convergence—the error is proportional to the grid spacing. The not-so-lazy method achieves second-order accuracy in the interior, and for our linear steady solution, the error is near round-off. This confirms that midpoint extrapolation at the boundary is preferred for accuracy</a:t>
            </a:r>
          </a:p>
        </p:txBody>
      </p:sp>
      <p:sp>
        <p:nvSpPr>
          <p:cNvPr id="4" name="Plassholder for lysbildenummer 3"/>
          <p:cNvSpPr>
            <a:spLocks noGrp="1"/>
          </p:cNvSpPr>
          <p:nvPr>
            <p:ph type="sldNum" sz="quarter" idx="5"/>
          </p:nvPr>
        </p:nvSpPr>
        <p:spPr/>
        <p:txBody>
          <a:bodyPr/>
          <a:lstStyle/>
          <a:p>
            <a:fld id="{F7A439AA-4617-4627-B5F6-FFD7862B74B0}" type="slidenum">
              <a:rPr lang="en-US" smtClean="0"/>
              <a:t>6</a:t>
            </a:fld>
            <a:endParaRPr lang="en-US"/>
          </a:p>
        </p:txBody>
      </p:sp>
    </p:spTree>
    <p:extLst>
      <p:ext uri="{BB962C8B-B14F-4D97-AF65-F5344CB8AC3E}">
        <p14:creationId xmlns:p14="http://schemas.microsoft.com/office/powerpoint/2010/main" val="1789163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Moving to Exercise 2, we implement a fully implicit time-stepping scheme for the diffusivity equation. This gives us a tridiagonal system to solve at each timestep</a:t>
            </a:r>
            <a:r>
              <a:rPr lang="en-US"/>
              <a:t>. The </a:t>
            </a:r>
            <a:r>
              <a:rPr lang="en-US" dirty="0"/>
              <a:t>implicit scheme is stable for large timesteps, which is a major advantage. We derive the matrix system, show the actual numerical matrix for given parameters, and implement a general simulator. The solver supports multiple linear solution strategies, and our results show that the matrix matches theoretical coefficients and converges for any timestep due to the implicit scheme. The main limitation is that it’s first order in time, so early time accuracy depends on the timestep choice.</a:t>
            </a:r>
          </a:p>
        </p:txBody>
      </p:sp>
      <p:sp>
        <p:nvSpPr>
          <p:cNvPr id="4" name="Plassholder for lysbildenummer 3"/>
          <p:cNvSpPr>
            <a:spLocks noGrp="1"/>
          </p:cNvSpPr>
          <p:nvPr>
            <p:ph type="sldNum" sz="quarter" idx="5"/>
          </p:nvPr>
        </p:nvSpPr>
        <p:spPr/>
        <p:txBody>
          <a:bodyPr/>
          <a:lstStyle/>
          <a:p>
            <a:fld id="{F7A439AA-4617-4627-B5F6-FFD7862B74B0}" type="slidenum">
              <a:rPr lang="en-US" smtClean="0"/>
              <a:t>7</a:t>
            </a:fld>
            <a:endParaRPr lang="en-US"/>
          </a:p>
        </p:txBody>
      </p:sp>
    </p:spTree>
    <p:extLst>
      <p:ext uri="{BB962C8B-B14F-4D97-AF65-F5344CB8AC3E}">
        <p14:creationId xmlns:p14="http://schemas.microsoft.com/office/powerpoint/2010/main" val="415774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Exercise objective:</a:t>
            </a:r>
          </a:p>
          <a:p>
            <a:pPr marL="628650" lvl="1" indent="-171450">
              <a:buFont typeface="Arial" panose="020B0604020202020204" pitchFamily="34" charset="0"/>
              <a:buChar char="•"/>
            </a:pPr>
            <a:r>
              <a:rPr lang="en-US" dirty="0"/>
              <a:t>Compare numerical solution for different N with line-source analytical solution</a:t>
            </a:r>
          </a:p>
          <a:p>
            <a:pPr marL="628650" lvl="1" indent="-171450">
              <a:buFont typeface="Arial" panose="020B0604020202020204" pitchFamily="34" charset="0"/>
              <a:buChar char="•"/>
            </a:pPr>
            <a:r>
              <a:rPr lang="en-US" dirty="0"/>
              <a:t>Plot drawdown vs time in physical radius coordinates</a:t>
            </a:r>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Theory:</a:t>
            </a:r>
          </a:p>
          <a:p>
            <a:pPr marL="628650" lvl="1" indent="-171450">
              <a:buFont typeface="Arial" panose="020B0604020202020204" pitchFamily="34" charset="0"/>
              <a:buChar char="•"/>
            </a:pPr>
            <a:r>
              <a:rPr lang="en-US" dirty="0"/>
              <a:t>Line-source (Theis) solution</a:t>
            </a:r>
          </a:p>
          <a:p>
            <a:pPr marL="1085850" lvl="2" indent="-171450">
              <a:buFont typeface="Arial" panose="020B0604020202020204" pitchFamily="34" charset="0"/>
              <a:buChar char="•"/>
            </a:pPr>
            <a:r>
              <a:rPr lang="en-US" dirty="0"/>
              <a:t>Valid for early/intermediate time when boundary is not felt</a:t>
            </a:r>
          </a:p>
          <a:p>
            <a:pPr marL="628650" lvl="1" indent="-171450">
              <a:buFont typeface="Arial" panose="020B0604020202020204" pitchFamily="34" charset="0"/>
              <a:buChar char="•"/>
            </a:pPr>
            <a:r>
              <a:rPr lang="en-US" dirty="0" err="1"/>
              <a:t>Beheavior</a:t>
            </a:r>
            <a:endParaRPr lang="en-US" dirty="0"/>
          </a:p>
          <a:p>
            <a:pPr marL="1085850" lvl="2" indent="-171450">
              <a:buFont typeface="Arial" panose="020B0604020202020204" pitchFamily="34" charset="0"/>
              <a:buChar char="•"/>
            </a:pPr>
            <a:r>
              <a:rPr lang="en-US" dirty="0"/>
              <a:t>Early time: Short-term transients</a:t>
            </a:r>
          </a:p>
          <a:p>
            <a:pPr marL="1085850" lvl="2" indent="-171450">
              <a:buFont typeface="Arial" panose="020B0604020202020204" pitchFamily="34" charset="0"/>
              <a:buChar char="•"/>
            </a:pPr>
            <a:r>
              <a:rPr lang="en-US" dirty="0"/>
              <a:t>Intermediate: Logarithmic straight line on </a:t>
            </a:r>
            <a:r>
              <a:rPr lang="en-US" dirty="0" err="1"/>
              <a:t>semilog</a:t>
            </a:r>
            <a:r>
              <a:rPr lang="en-US" dirty="0"/>
              <a:t> plot</a:t>
            </a:r>
          </a:p>
          <a:p>
            <a:pPr marL="1085850" lvl="2" indent="-171450">
              <a:buFont typeface="Arial" panose="020B0604020202020204" pitchFamily="34" charset="0"/>
              <a:buChar char="•"/>
            </a:pPr>
            <a:r>
              <a:rPr lang="en-US" dirty="0"/>
              <a:t>Late time: Boundary dominated</a:t>
            </a:r>
          </a:p>
          <a:p>
            <a:pPr marL="1085850" lvl="2"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Implementation:</a:t>
            </a:r>
          </a:p>
          <a:p>
            <a:pPr marL="628650" lvl="1" indent="-171450">
              <a:buFont typeface="Arial" panose="020B0604020202020204" pitchFamily="34" charset="0"/>
              <a:buChar char="•"/>
            </a:pPr>
            <a:r>
              <a:rPr lang="en-US" dirty="0"/>
              <a:t>Compare numerical drawdown for N=50 and N=200 at two radii</a:t>
            </a:r>
          </a:p>
          <a:p>
            <a:pPr marL="628650" lvl="1" indent="-171450">
              <a:buFont typeface="Arial" panose="020B0604020202020204" pitchFamily="34" charset="0"/>
              <a:buChar char="•"/>
            </a:pPr>
            <a:r>
              <a:rPr lang="en-US" dirty="0"/>
              <a:t>Line-source computed analytically</a:t>
            </a:r>
          </a:p>
          <a:p>
            <a:pPr marL="628650" lvl="1" indent="-171450">
              <a:buFont typeface="Arial" panose="020B0604020202020204" pitchFamily="34" charset="0"/>
              <a:buChar char="•"/>
            </a:pPr>
            <a:r>
              <a:rPr lang="en-US" dirty="0"/>
              <a:t>Intermediate time window </a:t>
            </a:r>
            <a:r>
              <a:rPr lang="en-US" dirty="0" err="1"/>
              <a:t>sahded</a:t>
            </a:r>
            <a:endParaRPr lang="en-US" dirty="0"/>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Results:</a:t>
            </a:r>
          </a:p>
          <a:p>
            <a:pPr marL="628650" lvl="1" indent="-171450">
              <a:buFont typeface="Arial" panose="020B0604020202020204" pitchFamily="34" charset="0"/>
              <a:buChar char="•"/>
            </a:pPr>
            <a:r>
              <a:rPr lang="en-US" dirty="0"/>
              <a:t>Small deviations from </a:t>
            </a:r>
            <a:r>
              <a:rPr lang="en-US" dirty="0" err="1"/>
              <a:t>dicretization</a:t>
            </a:r>
            <a:r>
              <a:rPr lang="en-US" dirty="0"/>
              <a:t>/transients at early time</a:t>
            </a:r>
          </a:p>
          <a:p>
            <a:pPr marL="628650" lvl="1" indent="-171450">
              <a:buFont typeface="Arial" panose="020B0604020202020204" pitchFamily="34" charset="0"/>
              <a:buChar char="•"/>
            </a:pPr>
            <a:r>
              <a:rPr lang="en-US" dirty="0"/>
              <a:t>Numerical and analytical match closely in intermediate region</a:t>
            </a:r>
          </a:p>
          <a:p>
            <a:pPr marL="628650" lvl="1" indent="-171450">
              <a:buFont typeface="Arial" panose="020B0604020202020204" pitchFamily="34" charset="0"/>
              <a:buChar char="•"/>
            </a:pPr>
            <a:r>
              <a:rPr lang="en-US" dirty="0"/>
              <a:t>Numerical deviates due to boundary, analytical does not at late time</a:t>
            </a:r>
          </a:p>
          <a:p>
            <a:pPr marL="1085850" lvl="2" indent="-171450">
              <a:buFont typeface="Arial" panose="020B0604020202020204" pitchFamily="34" charset="0"/>
              <a:buChar char="•"/>
            </a:pPr>
            <a:r>
              <a:rPr lang="en-US" dirty="0"/>
              <a:t>No boundary in line-source</a:t>
            </a:r>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Limitations:</a:t>
            </a:r>
          </a:p>
          <a:p>
            <a:pPr marL="628650" lvl="1" indent="-171450">
              <a:buFont typeface="Arial" panose="020B0604020202020204" pitchFamily="34" charset="0"/>
              <a:buChar char="•"/>
            </a:pPr>
            <a:r>
              <a:rPr lang="en-US" dirty="0"/>
              <a:t>Line source ignores boundary, so late-time differences are expected</a:t>
            </a:r>
          </a:p>
        </p:txBody>
      </p:sp>
      <p:sp>
        <p:nvSpPr>
          <p:cNvPr id="4" name="Plassholder for lysbildenummer 3"/>
          <p:cNvSpPr>
            <a:spLocks noGrp="1"/>
          </p:cNvSpPr>
          <p:nvPr>
            <p:ph type="sldNum" sz="quarter" idx="5"/>
          </p:nvPr>
        </p:nvSpPr>
        <p:spPr/>
        <p:txBody>
          <a:bodyPr/>
          <a:lstStyle/>
          <a:p>
            <a:fld id="{F7A439AA-4617-4627-B5F6-FFD7862B74B0}" type="slidenum">
              <a:rPr lang="en-US" smtClean="0"/>
              <a:t>8</a:t>
            </a:fld>
            <a:endParaRPr lang="en-US"/>
          </a:p>
        </p:txBody>
      </p:sp>
    </p:spTree>
    <p:extLst>
      <p:ext uri="{BB962C8B-B14F-4D97-AF65-F5344CB8AC3E}">
        <p14:creationId xmlns:p14="http://schemas.microsoft.com/office/powerpoint/2010/main" val="627891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Exercise objective:</a:t>
            </a:r>
          </a:p>
          <a:p>
            <a:pPr marL="628650" lvl="1" indent="-171450">
              <a:buFont typeface="Arial" panose="020B0604020202020204" pitchFamily="34" charset="0"/>
              <a:buChar char="•"/>
            </a:pPr>
            <a:r>
              <a:rPr lang="en-US" dirty="0"/>
              <a:t>Benchmark 3 solvers; dense (NumPy), sparse (SciPy) and Thomas algorithm</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Theory:</a:t>
            </a:r>
          </a:p>
          <a:p>
            <a:pPr marL="628650" lvl="1" indent="-171450">
              <a:buFont typeface="Arial" panose="020B0604020202020204" pitchFamily="34" charset="0"/>
              <a:buChar char="•"/>
            </a:pPr>
            <a:r>
              <a:rPr lang="en-US" dirty="0"/>
              <a:t>Dense solver</a:t>
            </a:r>
          </a:p>
          <a:p>
            <a:pPr marL="628650" lvl="1" indent="-171450">
              <a:buFont typeface="Arial" panose="020B0604020202020204" pitchFamily="34" charset="0"/>
              <a:buChar char="•"/>
            </a:pPr>
            <a:r>
              <a:rPr lang="en-US" dirty="0"/>
              <a:t>Sparse solver</a:t>
            </a:r>
          </a:p>
          <a:p>
            <a:pPr marL="628650" lvl="1" indent="-171450">
              <a:buFont typeface="Arial" panose="020B0604020202020204" pitchFamily="34" charset="0"/>
              <a:buChar char="•"/>
            </a:pPr>
            <a:r>
              <a:rPr lang="en-US" dirty="0"/>
              <a:t>Thomas algorithm</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Implementation:</a:t>
            </a:r>
          </a:p>
          <a:p>
            <a:pPr marL="628650" lvl="1" indent="-171450">
              <a:buFont typeface="Arial" panose="020B0604020202020204" pitchFamily="34" charset="0"/>
              <a:buChar char="•"/>
            </a:pPr>
            <a:r>
              <a:rPr lang="en-US" dirty="0"/>
              <a:t>Timing across multiple N and timesteps</a:t>
            </a:r>
          </a:p>
          <a:p>
            <a:pPr marL="628650" lvl="1" indent="-171450">
              <a:buFont typeface="Arial" panose="020B0604020202020204" pitchFamily="34" charset="0"/>
              <a:buChar char="•"/>
            </a:pPr>
            <a:r>
              <a:rPr lang="en-US" dirty="0"/>
              <a:t>Logged average runtime</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Results:</a:t>
            </a:r>
          </a:p>
          <a:p>
            <a:pPr marL="628650" lvl="1" indent="-171450">
              <a:buFont typeface="Arial" panose="020B0604020202020204" pitchFamily="34" charset="0"/>
              <a:buChar char="•"/>
            </a:pPr>
            <a:r>
              <a:rPr lang="en-US" dirty="0"/>
              <a:t>For small N, all methods similar (overhead dominates)</a:t>
            </a:r>
          </a:p>
          <a:p>
            <a:pPr marL="628650" lvl="1" indent="-171450">
              <a:buFont typeface="Arial" panose="020B0604020202020204" pitchFamily="34" charset="0"/>
              <a:buChar char="•"/>
            </a:pPr>
            <a:r>
              <a:rPr lang="en-US" dirty="0"/>
              <a:t>Around N~200, SciPy overtakes NumPy</a:t>
            </a:r>
          </a:p>
          <a:p>
            <a:pPr marL="628650" lvl="1" indent="-171450">
              <a:buFont typeface="Arial" panose="020B0604020202020204" pitchFamily="34" charset="0"/>
              <a:buChar char="•"/>
            </a:pPr>
            <a:r>
              <a:rPr lang="en-US" dirty="0"/>
              <a:t>Around N~200 Thomas is fastest</a:t>
            </a:r>
          </a:p>
          <a:p>
            <a:pPr marL="628650" lvl="1" indent="-171450">
              <a:buFont typeface="Arial" panose="020B0604020202020204" pitchFamily="34" charset="0"/>
              <a:buChar char="•"/>
            </a:pPr>
            <a:r>
              <a:rPr lang="en-US" dirty="0"/>
              <a:t>Consistent with theoretical complexity</a:t>
            </a:r>
          </a:p>
          <a:p>
            <a:pPr marL="1085850" lvl="2" indent="-171450">
              <a:buFont typeface="Arial" panose="020B0604020202020204" pitchFamily="34" charset="0"/>
              <a:buChar char="•"/>
            </a:pPr>
            <a:r>
              <a:rPr lang="en-US" dirty="0"/>
              <a:t>Expected Thomas to be way faster than SciPy for large N</a:t>
            </a:r>
          </a:p>
          <a:p>
            <a:pPr marL="1085850" lvl="2" indent="-171450">
              <a:buFont typeface="Arial" panose="020B0604020202020204" pitchFamily="34" charset="0"/>
              <a:buChar char="•"/>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9</a:t>
            </a:fld>
            <a:endParaRPr lang="en-US"/>
          </a:p>
        </p:txBody>
      </p:sp>
    </p:spTree>
    <p:extLst>
      <p:ext uri="{BB962C8B-B14F-4D97-AF65-F5344CB8AC3E}">
        <p14:creationId xmlns:p14="http://schemas.microsoft.com/office/powerpoint/2010/main" val="2664956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Exercise objective:</a:t>
            </a:r>
          </a:p>
          <a:p>
            <a:pPr marL="628650" lvl="1" indent="-171450">
              <a:buFont typeface="Arial" panose="020B0604020202020204" pitchFamily="34" charset="0"/>
              <a:buChar char="•"/>
            </a:pPr>
            <a:r>
              <a:rPr lang="en-US" dirty="0"/>
              <a:t>Load well test pressure data</a:t>
            </a:r>
          </a:p>
          <a:p>
            <a:pPr marL="628650" lvl="1" indent="-171450">
              <a:buFont typeface="Arial" panose="020B0604020202020204" pitchFamily="34" charset="0"/>
              <a:buChar char="•"/>
            </a:pPr>
            <a:r>
              <a:rPr lang="en-US" dirty="0"/>
              <a:t>Convert units to SI</a:t>
            </a:r>
          </a:p>
          <a:p>
            <a:pPr marL="628650" lvl="1" indent="-171450">
              <a:buFont typeface="Arial" panose="020B0604020202020204" pitchFamily="34" charset="0"/>
              <a:buChar char="•"/>
            </a:pPr>
            <a:r>
              <a:rPr lang="en-US" dirty="0"/>
              <a:t>Scatter plot of well pressure vs time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Derive formula for pw in terms of p0 (well block)</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Theory:</a:t>
            </a:r>
          </a:p>
          <a:p>
            <a:pPr marL="628650" lvl="1" indent="-171450">
              <a:buFont typeface="Arial" panose="020B0604020202020204" pitchFamily="34" charset="0"/>
              <a:buChar char="•"/>
            </a:pPr>
            <a:r>
              <a:rPr lang="en-US" dirty="0"/>
              <a:t>Observed data shows early drawdown</a:t>
            </a:r>
          </a:p>
          <a:p>
            <a:pPr marL="628650" lvl="1" indent="-171450">
              <a:buFont typeface="Arial" panose="020B0604020202020204" pitchFamily="34" charset="0"/>
              <a:buChar char="•"/>
            </a:pPr>
            <a:r>
              <a:rPr lang="en-US" dirty="0"/>
              <a:t>Intermediate linear </a:t>
            </a:r>
            <a:r>
              <a:rPr lang="en-US" dirty="0" err="1"/>
              <a:t>semilog</a:t>
            </a:r>
            <a:r>
              <a:rPr lang="en-US" dirty="0"/>
              <a:t> region</a:t>
            </a:r>
          </a:p>
          <a:p>
            <a:pPr marL="628650" lvl="1" indent="-171450">
              <a:buFont typeface="Arial" panose="020B0604020202020204" pitchFamily="34" charset="0"/>
              <a:buChar char="•"/>
            </a:pPr>
            <a:r>
              <a:rPr lang="en-US" dirty="0"/>
              <a:t>Late time stabilization (boundary-dominated flow)</a:t>
            </a:r>
          </a:p>
          <a:p>
            <a:pPr marL="628650" lvl="1" indent="-171450">
              <a:buFont typeface="Arial" panose="020B0604020202020204" pitchFamily="34" charset="0"/>
              <a:buChar char="•"/>
            </a:pPr>
            <a:r>
              <a:rPr lang="en-US" dirty="0"/>
              <a:t>Neumann BC at well gives </a:t>
            </a:r>
            <a:r>
              <a:rPr lang="en-US" dirty="0" err="1"/>
              <a:t>dp</a:t>
            </a:r>
            <a:r>
              <a:rPr lang="en-US" dirty="0"/>
              <a:t>/</a:t>
            </a:r>
            <a:r>
              <a:rPr lang="en-US" dirty="0" err="1"/>
              <a:t>dy</a:t>
            </a:r>
            <a:r>
              <a:rPr lang="en-US" dirty="0"/>
              <a:t> = </a:t>
            </a:r>
            <a:r>
              <a:rPr lang="el-GR" dirty="0"/>
              <a:t>α</a:t>
            </a:r>
            <a:endParaRPr lang="en-US" dirty="0"/>
          </a:p>
          <a:p>
            <a:pPr marL="628650" lvl="1" indent="-171450">
              <a:buFont typeface="Arial" panose="020B0604020202020204" pitchFamily="34" charset="0"/>
              <a:buChar char="•"/>
            </a:pPr>
            <a:r>
              <a:rPr lang="en-US" dirty="0"/>
              <a:t>Taylor over half-cell gives pw ~p0 – </a:t>
            </a:r>
            <a:r>
              <a:rPr lang="el-GR" dirty="0"/>
              <a:t>Δ</a:t>
            </a:r>
            <a:r>
              <a:rPr lang="en-US" dirty="0"/>
              <a:t>y/2 * </a:t>
            </a:r>
            <a:r>
              <a:rPr lang="el-GR" dirty="0"/>
              <a:t>α</a:t>
            </a:r>
            <a:endParaRPr lang="en-US" dirty="0"/>
          </a:p>
          <a:p>
            <a:pPr marL="628650" lvl="1"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Implementation:</a:t>
            </a:r>
          </a:p>
          <a:p>
            <a:pPr marL="628650" lvl="1" indent="-171450">
              <a:buFont typeface="Arial" panose="020B0604020202020204" pitchFamily="34" charset="0"/>
              <a:buChar char="•"/>
            </a:pPr>
            <a:r>
              <a:rPr lang="en-US" dirty="0"/>
              <a:t>‘pandas’ for reading ‘well_bhp.dat’</a:t>
            </a:r>
          </a:p>
          <a:p>
            <a:pPr marL="628650" lvl="1" indent="-171450">
              <a:buFont typeface="Arial" panose="020B0604020202020204" pitchFamily="34" charset="0"/>
              <a:buChar char="•"/>
            </a:pPr>
            <a:r>
              <a:rPr lang="en-US" dirty="0"/>
              <a:t>Unit conversion psi -&gt; SI</a:t>
            </a:r>
          </a:p>
          <a:p>
            <a:pPr marL="628650" lvl="1" indent="-171450">
              <a:buFont typeface="Arial" panose="020B0604020202020204" pitchFamily="34" charset="0"/>
              <a:buChar char="•"/>
            </a:pPr>
            <a:r>
              <a:rPr lang="en-US" dirty="0"/>
              <a:t>Scatter plot for inspection</a:t>
            </a:r>
          </a:p>
          <a:p>
            <a:pPr marL="628650" lvl="1" indent="-171450">
              <a:buFont typeface="Arial" panose="020B0604020202020204" pitchFamily="34" charset="0"/>
              <a:buChar char="•"/>
            </a:pPr>
            <a:r>
              <a:rPr lang="en-US" dirty="0"/>
              <a:t>‘</a:t>
            </a:r>
            <a:r>
              <a:rPr lang="en-US" dirty="0" err="1"/>
              <a:t>well_pressure_from_block</a:t>
            </a:r>
            <a:r>
              <a:rPr lang="en-US" dirty="0"/>
              <a:t>()’ computes for each timestep</a:t>
            </a:r>
          </a:p>
          <a:p>
            <a:pPr marL="1085850" lvl="2" indent="-171450">
              <a:buFont typeface="Arial" panose="020B0604020202020204" pitchFamily="34" charset="0"/>
              <a:buChar char="•"/>
            </a:pPr>
            <a:r>
              <a:rPr lang="en-US" dirty="0"/>
              <a:t>Used for matching with well test data</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Results:</a:t>
            </a:r>
          </a:p>
          <a:p>
            <a:pPr marL="628650" lvl="1" indent="-171450">
              <a:buFont typeface="Arial" panose="020B0604020202020204" pitchFamily="34" charset="0"/>
              <a:buChar char="•"/>
            </a:pPr>
            <a:r>
              <a:rPr lang="en-US" dirty="0"/>
              <a:t>Data aligns with expected pressure decline curve shape</a:t>
            </a:r>
          </a:p>
          <a:p>
            <a:pPr marL="628650" lvl="1" indent="-171450">
              <a:buFont typeface="Arial" panose="020B0604020202020204" pitchFamily="34" charset="0"/>
              <a:buChar char="•"/>
            </a:pPr>
            <a:r>
              <a:rPr lang="en-US" dirty="0"/>
              <a:t>Late-time plateau indicates boundary reached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Accurate approximation of well pressure for comparison with measurements</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10</a:t>
            </a:fld>
            <a:endParaRPr lang="en-US"/>
          </a:p>
        </p:txBody>
      </p:sp>
    </p:spTree>
    <p:extLst>
      <p:ext uri="{BB962C8B-B14F-4D97-AF65-F5344CB8AC3E}">
        <p14:creationId xmlns:p14="http://schemas.microsoft.com/office/powerpoint/2010/main" val="403667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Exercise objective:</a:t>
            </a:r>
          </a:p>
          <a:p>
            <a:pPr marL="628650" lvl="1" indent="-171450">
              <a:buFont typeface="Arial" panose="020B0604020202020204" pitchFamily="34" charset="0"/>
              <a:buChar char="•"/>
            </a:pPr>
            <a:r>
              <a:rPr lang="en-US" dirty="0"/>
              <a:t>Fit parameters k, pi and re to data</a:t>
            </a:r>
          </a:p>
          <a:p>
            <a:pPr marL="628650" lvl="1" indent="-171450">
              <a:buFont typeface="Arial" panose="020B0604020202020204" pitchFamily="34" charset="0"/>
              <a:buChar char="•"/>
            </a:pPr>
            <a:r>
              <a:rPr lang="en-US" dirty="0"/>
              <a:t>Compare data, numerical solution, and Theis solution on log-time plot</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Theory:</a:t>
            </a:r>
          </a:p>
          <a:p>
            <a:pPr marL="628650" lvl="1" indent="-171450">
              <a:buFont typeface="Arial" panose="020B0604020202020204" pitchFamily="34" charset="0"/>
              <a:buChar char="•"/>
            </a:pPr>
            <a:r>
              <a:rPr lang="en-US" dirty="0"/>
              <a:t>Parameter effects:</a:t>
            </a:r>
          </a:p>
          <a:p>
            <a:pPr marL="1085850" lvl="2" indent="-171450">
              <a:buFont typeface="Arial" panose="020B0604020202020204" pitchFamily="34" charset="0"/>
              <a:buChar char="•"/>
            </a:pPr>
            <a:r>
              <a:rPr lang="en-US" dirty="0"/>
              <a:t>K; slope of </a:t>
            </a:r>
            <a:r>
              <a:rPr lang="en-US" dirty="0" err="1"/>
              <a:t>semilog</a:t>
            </a:r>
            <a:r>
              <a:rPr lang="en-US" dirty="0"/>
              <a:t> line</a:t>
            </a:r>
          </a:p>
          <a:p>
            <a:pPr marL="1085850" lvl="2" indent="-171450">
              <a:buFont typeface="Arial" panose="020B0604020202020204" pitchFamily="34" charset="0"/>
              <a:buChar char="•"/>
            </a:pPr>
            <a:r>
              <a:rPr lang="en-US" dirty="0"/>
              <a:t>Pi; vertical offset</a:t>
            </a:r>
          </a:p>
          <a:p>
            <a:pPr marL="1085850" lvl="2" indent="-171450">
              <a:buFont typeface="Arial" panose="020B0604020202020204" pitchFamily="34" charset="0"/>
              <a:buChar char="•"/>
            </a:pPr>
            <a:r>
              <a:rPr lang="en-US" dirty="0"/>
              <a:t>Re; late-time stabilization onset</a:t>
            </a:r>
          </a:p>
          <a:p>
            <a:pPr marL="628650" lvl="1" indent="-171450">
              <a:buFont typeface="Arial" panose="020B0604020202020204" pitchFamily="34" charset="0"/>
              <a:buChar char="•"/>
            </a:pPr>
            <a:r>
              <a:rPr lang="en-US" dirty="0"/>
              <a:t>Line-source keeps declining; numerical plateaus at boundary</a:t>
            </a:r>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Implementation</a:t>
            </a:r>
          </a:p>
          <a:p>
            <a:pPr marL="628650" lvl="1" indent="-171450">
              <a:buFont typeface="Arial" panose="020B0604020202020204" pitchFamily="34" charset="0"/>
              <a:buChar char="•"/>
            </a:pPr>
            <a:r>
              <a:rPr lang="en-US" dirty="0"/>
              <a:t>‘</a:t>
            </a:r>
            <a:r>
              <a:rPr lang="en-US" dirty="0" err="1"/>
              <a:t>scipy.optimize.curve_fit</a:t>
            </a:r>
            <a:r>
              <a:rPr lang="en-US" dirty="0"/>
              <a:t>’ to find best fit parameters</a:t>
            </a:r>
          </a:p>
          <a:p>
            <a:pPr marL="628650" lvl="1" indent="-171450">
              <a:buFont typeface="Arial" panose="020B0604020202020204" pitchFamily="34" charset="0"/>
              <a:buChar char="•"/>
            </a:pPr>
            <a:r>
              <a:rPr lang="en-US" dirty="0"/>
              <a:t>Simulated well pressure vs measured</a:t>
            </a:r>
          </a:p>
          <a:p>
            <a:pPr marL="628650" lvl="1" indent="-171450">
              <a:buFont typeface="Arial" panose="020B0604020202020204" pitchFamily="34" charset="0"/>
              <a:buChar char="•"/>
            </a:pPr>
            <a:r>
              <a:rPr lang="en-US" dirty="0"/>
              <a:t>Analytical </a:t>
            </a:r>
            <a:r>
              <a:rPr lang="en-US" dirty="0" err="1"/>
              <a:t>theis</a:t>
            </a:r>
            <a:r>
              <a:rPr lang="en-US" dirty="0"/>
              <a:t> computed with fitted parameters</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Results:</a:t>
            </a:r>
          </a:p>
          <a:p>
            <a:pPr marL="628650" lvl="1" indent="-171450">
              <a:buFont typeface="Arial" panose="020B0604020202020204" pitchFamily="34" charset="0"/>
              <a:buChar char="•"/>
            </a:pPr>
            <a:r>
              <a:rPr lang="en-US" dirty="0"/>
              <a:t>Early/intermediate match is good for both line-source and numerical</a:t>
            </a:r>
          </a:p>
          <a:p>
            <a:pPr marL="628650" lvl="1" indent="-171450">
              <a:buFont typeface="Arial" panose="020B0604020202020204" pitchFamily="34" charset="0"/>
              <a:buChar char="•"/>
            </a:pPr>
            <a:r>
              <a:rPr lang="en-US" dirty="0"/>
              <a:t>Numerical curve levels off at late time (boundary felt)</a:t>
            </a:r>
          </a:p>
          <a:p>
            <a:pPr marL="628650" lvl="1" indent="-171450">
              <a:buFont typeface="Arial" panose="020B0604020202020204" pitchFamily="34" charset="0"/>
              <a:buChar char="•"/>
            </a:pPr>
            <a:r>
              <a:rPr lang="en-US" dirty="0"/>
              <a:t>Fitted parameters consistent with expected behavior)</a:t>
            </a:r>
          </a:p>
          <a:p>
            <a:pPr marL="1085850" lvl="2" indent="-171450">
              <a:buFont typeface="Arial" panose="020B0604020202020204" pitchFamily="34" charset="0"/>
              <a:buChar char="•"/>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11</a:t>
            </a:fld>
            <a:endParaRPr lang="en-US"/>
          </a:p>
        </p:txBody>
      </p:sp>
    </p:spTree>
    <p:extLst>
      <p:ext uri="{BB962C8B-B14F-4D97-AF65-F5344CB8AC3E}">
        <p14:creationId xmlns:p14="http://schemas.microsoft.com/office/powerpoint/2010/main" val="3063719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Exercise objective:</a:t>
            </a:r>
          </a:p>
          <a:p>
            <a:pPr marL="628650" lvl="1" indent="-171450">
              <a:buFont typeface="Arial" panose="020B0604020202020204" pitchFamily="34" charset="0"/>
              <a:buChar char="•"/>
            </a:pPr>
            <a:r>
              <a:rPr lang="en-US" dirty="0"/>
              <a:t>Calculate total water volume for fitted re</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Theory:</a:t>
            </a:r>
          </a:p>
          <a:p>
            <a:pPr marL="628650" lvl="1" indent="-171450">
              <a:buFont typeface="Arial" panose="020B0604020202020204" pitchFamily="34" charset="0"/>
              <a:buChar char="•"/>
            </a:pPr>
            <a:r>
              <a:rPr lang="en-US" dirty="0"/>
              <a:t>V = </a:t>
            </a:r>
            <a:r>
              <a:rPr lang="el-GR" dirty="0"/>
              <a:t>ϕπ(</a:t>
            </a:r>
            <a:r>
              <a:rPr lang="en-US" dirty="0"/>
              <a:t>re2​−rw2​)h</a:t>
            </a:r>
          </a:p>
          <a:p>
            <a:pPr marL="1085850" lvl="2" indent="-171450">
              <a:buFont typeface="Arial" panose="020B0604020202020204" pitchFamily="34" charset="0"/>
              <a:buChar char="•"/>
            </a:pPr>
            <a:r>
              <a:rPr lang="en-US" dirty="0"/>
              <a:t>Assuming porosity </a:t>
            </a:r>
            <a:r>
              <a:rPr lang="el-GR" dirty="0"/>
              <a:t>ϕ</a:t>
            </a:r>
            <a:r>
              <a:rPr lang="en-US" dirty="0"/>
              <a:t> (phi) and fully water saturated</a:t>
            </a:r>
          </a:p>
          <a:p>
            <a:pPr marL="1085850" lvl="2"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Implementation:</a:t>
            </a:r>
          </a:p>
          <a:p>
            <a:pPr marL="628650" lvl="1" indent="-171450">
              <a:buFont typeface="Arial" panose="020B0604020202020204" pitchFamily="34" charset="0"/>
              <a:buChar char="•"/>
            </a:pPr>
            <a:r>
              <a:rPr lang="en-US" dirty="0"/>
              <a:t>Simple calculation using fitted re in SI units</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Results:</a:t>
            </a:r>
          </a:p>
          <a:p>
            <a:pPr marL="628650" lvl="1" indent="-171450">
              <a:buFont typeface="Arial" panose="020B0604020202020204" pitchFamily="34" charset="0"/>
              <a:buChar char="•"/>
            </a:pPr>
            <a:r>
              <a:rPr lang="en-US" dirty="0"/>
              <a:t>Reservoir volume derived</a:t>
            </a:r>
          </a:p>
          <a:p>
            <a:pPr marL="628650" lvl="1" indent="-171450">
              <a:buFont typeface="Arial" panose="020B0604020202020204" pitchFamily="34" charset="0"/>
              <a:buChar char="•"/>
            </a:pPr>
            <a:r>
              <a:rPr lang="en-US" dirty="0"/>
              <a:t>Meaningful value consistent with late-time pressure</a:t>
            </a:r>
          </a:p>
          <a:p>
            <a:pPr marL="628650" lvl="1" indent="-171450">
              <a:buFont typeface="Arial" panose="020B0604020202020204" pitchFamily="34" charset="0"/>
              <a:buChar char="•"/>
            </a:pPr>
            <a:r>
              <a:rPr lang="en-US" dirty="0"/>
              <a:t>Assumes full saturation</a:t>
            </a:r>
          </a:p>
          <a:p>
            <a:pPr marL="1085850" lvl="2" indent="-171450">
              <a:buFont typeface="Arial" panose="020B0604020202020204" pitchFamily="34" charset="0"/>
              <a:buChar char="•"/>
            </a:pPr>
            <a:endParaRPr lang="en-US" dirty="0"/>
          </a:p>
          <a:p>
            <a:pPr marL="1085850" lvl="2" indent="-171450">
              <a:buFont typeface="Arial" panose="020B0604020202020204" pitchFamily="34" charset="0"/>
              <a:buChar char="•"/>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12</a:t>
            </a:fld>
            <a:endParaRPr lang="en-US"/>
          </a:p>
        </p:txBody>
      </p:sp>
    </p:spTree>
    <p:extLst>
      <p:ext uri="{BB962C8B-B14F-4D97-AF65-F5344CB8AC3E}">
        <p14:creationId xmlns:p14="http://schemas.microsoft.com/office/powerpoint/2010/main" val="2280638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Tx/>
              <a:buChar char="-"/>
            </a:pPr>
            <a:r>
              <a:rPr lang="en-US" dirty="0"/>
              <a:t>Reservoir does not change over time</a:t>
            </a:r>
          </a:p>
          <a:p>
            <a:pPr marL="171450" indent="-171450">
              <a:buFontTx/>
              <a:buChar char="-"/>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13</a:t>
            </a:fld>
            <a:endParaRPr lang="en-US"/>
          </a:p>
        </p:txBody>
      </p:sp>
    </p:spTree>
    <p:extLst>
      <p:ext uri="{BB962C8B-B14F-4D97-AF65-F5344CB8AC3E}">
        <p14:creationId xmlns:p14="http://schemas.microsoft.com/office/powerpoint/2010/main" val="1187679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Exercise 1:</a:t>
            </a:r>
          </a:p>
          <a:p>
            <a:pPr marL="628650" lvl="1" indent="-171450">
              <a:buFont typeface="Arial" panose="020B0604020202020204" pitchFamily="34" charset="0"/>
              <a:buChar char="•"/>
            </a:pPr>
            <a:r>
              <a:rPr lang="en-US" dirty="0"/>
              <a:t>Analytical steady-state solution derived</a:t>
            </a:r>
          </a:p>
          <a:p>
            <a:pPr marL="1085850" lvl="2" indent="-171450">
              <a:buFont typeface="Arial" panose="020B0604020202020204" pitchFamily="34" charset="0"/>
              <a:buChar char="•"/>
            </a:pPr>
            <a:r>
              <a:rPr lang="en-US" dirty="0"/>
              <a:t>Lazy BC gives first order error</a:t>
            </a:r>
          </a:p>
          <a:p>
            <a:pPr marL="1085850" lvl="2" indent="-171450">
              <a:buFont typeface="Arial" panose="020B0604020202020204" pitchFamily="34" charset="0"/>
              <a:buChar char="•"/>
            </a:pPr>
            <a:r>
              <a:rPr lang="en-US" dirty="0"/>
              <a:t>Not-so-lazy BC gives second order error</a:t>
            </a:r>
          </a:p>
          <a:p>
            <a:pPr marL="1543050" lvl="3" indent="-171450">
              <a:buFont typeface="Arial" panose="020B0604020202020204" pitchFamily="34" charset="0"/>
              <a:buChar char="•"/>
            </a:pPr>
            <a:r>
              <a:rPr lang="en-US" dirty="0"/>
              <a:t>exact match in our project</a:t>
            </a:r>
          </a:p>
          <a:p>
            <a:pPr marL="1085850" lvl="2"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Exercise 2:</a:t>
            </a:r>
          </a:p>
          <a:p>
            <a:pPr marL="628650" lvl="1" indent="-171450">
              <a:buFont typeface="Arial" panose="020B0604020202020204" pitchFamily="34" charset="0"/>
              <a:buChar char="•"/>
            </a:pPr>
            <a:r>
              <a:rPr lang="en-US" dirty="0"/>
              <a:t>Implicit transient solver correctly constructed and validated</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Exercise 3:</a:t>
            </a:r>
          </a:p>
          <a:p>
            <a:pPr marL="628650" lvl="1" indent="-171450">
              <a:buFont typeface="Arial" panose="020B0604020202020204" pitchFamily="34" charset="0"/>
              <a:buChar char="•"/>
            </a:pPr>
            <a:r>
              <a:rPr lang="en-US" dirty="0"/>
              <a:t>Numerical solution matches Theis in intermediate times and correctly deviates at late times when boundary is felt</a:t>
            </a:r>
          </a:p>
          <a:p>
            <a:pPr marL="628650" lvl="1" indent="-171450">
              <a:buFont typeface="Arial" panose="020B0604020202020204" pitchFamily="34" charset="0"/>
              <a:buChar char="•"/>
            </a:pPr>
            <a:r>
              <a:rPr lang="en-US" dirty="0"/>
              <a:t>Thomas algorithm offers best performance at large N</a:t>
            </a:r>
          </a:p>
          <a:p>
            <a:pPr marL="1085850" lvl="2" indent="-171450">
              <a:buFont typeface="Arial" panose="020B0604020202020204" pitchFamily="34" charset="0"/>
              <a:buChar char="•"/>
            </a:pPr>
            <a:r>
              <a:rPr lang="en-US" dirty="0"/>
              <a:t>Although, expected better</a:t>
            </a:r>
          </a:p>
          <a:p>
            <a:pPr marL="171450" lvl="0"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Exercise 4:</a:t>
            </a:r>
          </a:p>
          <a:p>
            <a:pPr marL="628650" lvl="1" indent="-171450">
              <a:buFont typeface="Arial" panose="020B0604020202020204" pitchFamily="34" charset="0"/>
              <a:buChar char="•"/>
            </a:pPr>
            <a:r>
              <a:rPr lang="en-US" dirty="0"/>
              <a:t>Well test data successfully fitted for k, pi and re</a:t>
            </a:r>
          </a:p>
          <a:p>
            <a:pPr marL="628650" lvl="1" indent="-171450">
              <a:buFont typeface="Arial" panose="020B0604020202020204" pitchFamily="34" charset="0"/>
              <a:buChar char="•"/>
            </a:pPr>
            <a:r>
              <a:rPr lang="en-US" dirty="0"/>
              <a:t>Numerical model reproduces real well behavior including boundary effects</a:t>
            </a:r>
          </a:p>
          <a:p>
            <a:pPr marL="628650" lvl="1" indent="-171450">
              <a:buFont typeface="Arial" panose="020B0604020202020204" pitchFamily="34" charset="0"/>
              <a:buChar char="•"/>
            </a:pPr>
            <a:endParaRPr lang="en-US" dirty="0"/>
          </a:p>
          <a:p>
            <a:pPr marL="171450" lvl="0" indent="-171450">
              <a:buFont typeface="Arial" panose="020B0604020202020204" pitchFamily="34" charset="0"/>
              <a:buChar char="•"/>
            </a:pPr>
            <a:r>
              <a:rPr lang="en-US" dirty="0"/>
              <a:t>Overall:</a:t>
            </a:r>
          </a:p>
          <a:p>
            <a:pPr marL="628650" lvl="1" indent="-171450">
              <a:buFont typeface="Arial" panose="020B0604020202020204" pitchFamily="34" charset="0"/>
              <a:buChar char="•"/>
            </a:pPr>
            <a:r>
              <a:rPr lang="en-US" dirty="0"/>
              <a:t>Theory and simulations are consistent</a:t>
            </a:r>
          </a:p>
          <a:p>
            <a:pPr marL="628650" lvl="1" indent="-171450">
              <a:buFont typeface="Arial" panose="020B0604020202020204" pitchFamily="34" charset="0"/>
              <a:buChar char="•"/>
            </a:pPr>
            <a:r>
              <a:rPr lang="en-US" dirty="0"/>
              <a:t>Project demonstrates accuracy and computational efficiency of chosen numerical method.</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14</a:t>
            </a:fld>
            <a:endParaRPr lang="en-US"/>
          </a:p>
        </p:txBody>
      </p:sp>
    </p:spTree>
    <p:extLst>
      <p:ext uri="{BB962C8B-B14F-4D97-AF65-F5344CB8AC3E}">
        <p14:creationId xmlns:p14="http://schemas.microsoft.com/office/powerpoint/2010/main" val="2663495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4B1EFC7-1B3C-4B0F-AFC7-781CD6B4747D}" type="datetime1">
              <a:rPr lang="en-US" smtClean="0"/>
              <a:t>10/23/2025</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35407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BFADE27B-BC99-4A0A-BCFD-ED0A267D9D51}" type="datetime1">
              <a:rPr lang="en-US" smtClean="0"/>
              <a:t>10/23/2025</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567051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77062175-7B16-402E-9E2A-82AFC18A8DE6}" type="datetime1">
              <a:rPr lang="en-US" smtClean="0"/>
              <a:t>10/23/2025</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727776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46B8267C-7252-40EA-A643-356AD4037C13}" type="datetime1">
              <a:rPr lang="en-US" smtClean="0"/>
              <a:t>10/23/2025</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508016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E93C845-5CAB-4C98-B308-7DC64DC94442}" type="datetime1">
              <a:rPr lang="en-US" smtClean="0"/>
              <a:t>10/23/2025</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85423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C27C57F5-CCCF-4169-9887-C85A6A4A9305}" type="datetime1">
              <a:rPr lang="en-US" smtClean="0"/>
              <a:t>10/23/2025</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61968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F8C0A02F-ABD3-4941-934D-1D1C21EA3D08}" type="datetime1">
              <a:rPr lang="en-US" smtClean="0"/>
              <a:t>10/23/2025</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73762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68FC8457-5E11-4F74-9E39-A700DF498CFF}" type="datetime1">
              <a:rPr lang="en-US" smtClean="0"/>
              <a:t>10/23/2025</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05196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22796D06-1C8D-4B9D-9720-486DA66A489C}" type="datetime1">
              <a:rPr lang="en-US" smtClean="0"/>
              <a:t>10/23/2025</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1436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45A36719-8640-4027-924D-33E828541D99}" type="datetime1">
              <a:rPr lang="en-US" smtClean="0"/>
              <a:t>10/23/2025</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434708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BF978F77-05EF-4003-8D2E-60226B47138D}" type="datetime1">
              <a:rPr lang="en-US" smtClean="0"/>
              <a:t>10/23/2025</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8517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B8CF3C04-353E-43C9-BC6F-8427A61ACD27}" type="datetime1">
              <a:rPr lang="en-US" smtClean="0"/>
              <a:t>10/23/2025</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FA2EBA4-5440-9500-7338-23317C8E6D6D}"/>
              </a:ext>
            </a:extLst>
          </p:cNvPr>
          <p:cNvSpPr txBox="1"/>
          <p:nvPr userDrawn="1">
            <p:extLst>
              <p:ext uri="{1162E1C5-73C7-4A58-AE30-91384D911F3F}">
                <p184:classification xmlns:p184="http://schemas.microsoft.com/office/powerpoint/2018/4/main" val="ftr"/>
              </p:ext>
            </p:extLst>
          </p:nvPr>
        </p:nvSpPr>
        <p:spPr>
          <a:xfrm>
            <a:off x="63500" y="6672580"/>
            <a:ext cx="817563" cy="121920"/>
          </a:xfrm>
          <a:prstGeom prst="rect">
            <a:avLst/>
          </a:prstGeom>
        </p:spPr>
        <p:txBody>
          <a:bodyPr horzOverflow="overflow" lIns="0" tIns="0" rIns="0" bIns="0">
            <a:spAutoFit/>
          </a:bodyPr>
          <a:lstStyle/>
          <a:p>
            <a:pPr algn="l"/>
            <a:r>
              <a:rPr lang="nb-NO"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Sensitivity: Internal</a:t>
            </a:r>
          </a:p>
        </p:txBody>
      </p:sp>
    </p:spTree>
    <p:extLst>
      <p:ext uri="{BB962C8B-B14F-4D97-AF65-F5344CB8AC3E}">
        <p14:creationId xmlns:p14="http://schemas.microsoft.com/office/powerpoint/2010/main" val="392161115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hf hdr="0" ftr="0" dt="0"/>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4665F997-7BA8-D1AE-21E3-8A66EB7AC7E3}"/>
              </a:ext>
            </a:extLst>
          </p:cNvPr>
          <p:cNvSpPr>
            <a:spLocks noGrp="1"/>
          </p:cNvSpPr>
          <p:nvPr>
            <p:ph type="ctrTitle"/>
          </p:nvPr>
        </p:nvSpPr>
        <p:spPr>
          <a:xfrm>
            <a:off x="1044516" y="1076635"/>
            <a:ext cx="3930256" cy="3495365"/>
          </a:xfrm>
        </p:spPr>
        <p:txBody>
          <a:bodyPr anchor="t">
            <a:normAutofit/>
          </a:bodyPr>
          <a:lstStyle/>
          <a:p>
            <a:r>
              <a:rPr lang="en-US" sz="4000" dirty="0"/>
              <a:t>Project 2 - Can you hear a reservoir?</a:t>
            </a:r>
          </a:p>
        </p:txBody>
      </p:sp>
      <p:sp>
        <p:nvSpPr>
          <p:cNvPr id="3" name="Undertittel 2">
            <a:extLst>
              <a:ext uri="{FF2B5EF4-FFF2-40B4-BE49-F238E27FC236}">
                <a16:creationId xmlns:a16="http://schemas.microsoft.com/office/drawing/2014/main" id="{60469092-CE1F-BFB3-CC73-F735F18586D4}"/>
              </a:ext>
            </a:extLst>
          </p:cNvPr>
          <p:cNvSpPr>
            <a:spLocks noGrp="1"/>
          </p:cNvSpPr>
          <p:nvPr>
            <p:ph type="subTitle" idx="1"/>
          </p:nvPr>
        </p:nvSpPr>
        <p:spPr>
          <a:xfrm>
            <a:off x="1090940" y="4525682"/>
            <a:ext cx="3638358" cy="1318124"/>
          </a:xfrm>
        </p:spPr>
        <p:txBody>
          <a:bodyPr anchor="b">
            <a:normAutofit/>
          </a:bodyPr>
          <a:lstStyle/>
          <a:p>
            <a:r>
              <a:rPr lang="en-US" dirty="0"/>
              <a:t>Malvin </a:t>
            </a:r>
            <a:r>
              <a:rPr lang="en-US" dirty="0" err="1"/>
              <a:t>Varpe</a:t>
            </a:r>
            <a:r>
              <a:rPr lang="en-US" dirty="0"/>
              <a:t> &amp; </a:t>
            </a:r>
            <a:br>
              <a:rPr lang="en-US" dirty="0"/>
            </a:br>
            <a:r>
              <a:rPr lang="en-US" dirty="0"/>
              <a:t>Torgrim Odde</a:t>
            </a:r>
          </a:p>
        </p:txBody>
      </p:sp>
      <p:cxnSp>
        <p:nvCxnSpPr>
          <p:cNvPr id="16" name="Straight Connector 10">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3" descr="Hvit struktur">
            <a:extLst>
              <a:ext uri="{FF2B5EF4-FFF2-40B4-BE49-F238E27FC236}">
                <a16:creationId xmlns:a16="http://schemas.microsoft.com/office/drawing/2014/main" id="{36F57848-66CA-2942-B675-DFAE15E48D77}"/>
              </a:ext>
            </a:extLst>
          </p:cNvPr>
          <p:cNvPicPr>
            <a:picLocks noChangeAspect="1"/>
          </p:cNvPicPr>
          <p:nvPr/>
        </p:nvPicPr>
        <p:blipFill>
          <a:blip r:embed="rId2"/>
          <a:srcRect l="1071" r="26742"/>
          <a:stretch>
            <a:fillRect/>
          </a:stretch>
        </p:blipFill>
        <p:spPr>
          <a:xfrm>
            <a:off x="5524500" y="1"/>
            <a:ext cx="6667501" cy="6857999"/>
          </a:xfrm>
          <a:prstGeom prst="rect">
            <a:avLst/>
          </a:prstGeom>
        </p:spPr>
      </p:pic>
      <p:sp>
        <p:nvSpPr>
          <p:cNvPr id="5" name="Plassholder for lysbildenummer 4">
            <a:extLst>
              <a:ext uri="{FF2B5EF4-FFF2-40B4-BE49-F238E27FC236}">
                <a16:creationId xmlns:a16="http://schemas.microsoft.com/office/drawing/2014/main" id="{45F2A5A8-881A-55B0-AF64-C67B449D9B96}"/>
              </a:ext>
            </a:extLst>
          </p:cNvPr>
          <p:cNvSpPr>
            <a:spLocks noGrp="1"/>
          </p:cNvSpPr>
          <p:nvPr>
            <p:ph type="sldNum" sz="quarter" idx="12"/>
          </p:nvPr>
        </p:nvSpPr>
        <p:spPr/>
        <p:txBody>
          <a:bodyPr/>
          <a:lstStyle/>
          <a:p>
            <a:fld id="{719D7796-F675-488F-AC46-C88938C80352}" type="slidenum">
              <a:rPr lang="en-US" smtClean="0"/>
              <a:t>1</a:t>
            </a:fld>
            <a:endParaRPr lang="en-US"/>
          </a:p>
        </p:txBody>
      </p:sp>
    </p:spTree>
    <p:extLst>
      <p:ext uri="{BB962C8B-B14F-4D97-AF65-F5344CB8AC3E}">
        <p14:creationId xmlns:p14="http://schemas.microsoft.com/office/powerpoint/2010/main" val="974668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5F2A9C2-EB17-6CB2-A050-C25396B4B716}"/>
              </a:ext>
            </a:extLst>
          </p:cNvPr>
          <p:cNvSpPr>
            <a:spLocks noGrp="1"/>
          </p:cNvSpPr>
          <p:nvPr>
            <p:ph type="title"/>
          </p:nvPr>
        </p:nvSpPr>
        <p:spPr/>
        <p:txBody>
          <a:bodyPr/>
          <a:lstStyle/>
          <a:p>
            <a:r>
              <a:rPr lang="en-US" dirty="0"/>
              <a:t>Agenda</a:t>
            </a:r>
          </a:p>
        </p:txBody>
      </p:sp>
      <p:sp>
        <p:nvSpPr>
          <p:cNvPr id="3" name="Plassholder for innhold 2">
            <a:extLst>
              <a:ext uri="{FF2B5EF4-FFF2-40B4-BE49-F238E27FC236}">
                <a16:creationId xmlns:a16="http://schemas.microsoft.com/office/drawing/2014/main" id="{A011D28F-77F2-55AD-BD61-8E92F7225202}"/>
              </a:ext>
            </a:extLst>
          </p:cNvPr>
          <p:cNvSpPr>
            <a:spLocks noGrp="1"/>
          </p:cNvSpPr>
          <p:nvPr>
            <p:ph idx="1"/>
          </p:nvPr>
        </p:nvSpPr>
        <p:spPr/>
        <p:txBody>
          <a:bodyPr>
            <a:normAutofit fontScale="92500" lnSpcReduction="20000"/>
          </a:bodyPr>
          <a:lstStyle/>
          <a:p>
            <a:r>
              <a:rPr lang="en-US" dirty="0"/>
              <a:t>Numerical and Analytical Pressure Solutions in Radial Flow</a:t>
            </a:r>
          </a:p>
          <a:p>
            <a:r>
              <a:rPr lang="en-US" dirty="0"/>
              <a:t>Governing Equation &amp; Transformation</a:t>
            </a:r>
          </a:p>
          <a:p>
            <a:r>
              <a:rPr lang="en-US" dirty="0"/>
              <a:t>Ex 1: Steady-State Solution</a:t>
            </a:r>
          </a:p>
          <a:p>
            <a:r>
              <a:rPr lang="en-US" dirty="0"/>
              <a:t>Ex 2: Implicit Transient Solver</a:t>
            </a:r>
          </a:p>
          <a:p>
            <a:r>
              <a:rPr lang="en-US" dirty="0"/>
              <a:t>Ex 3: Comparison to Line-Source Solution</a:t>
            </a:r>
          </a:p>
          <a:p>
            <a:r>
              <a:rPr lang="en-US" dirty="0"/>
              <a:t>Solver Performance &amp; Scaling</a:t>
            </a:r>
          </a:p>
          <a:p>
            <a:r>
              <a:rPr lang="en-US" dirty="0"/>
              <a:t>Ex 4: Well test data matching</a:t>
            </a:r>
          </a:p>
          <a:p>
            <a:r>
              <a:rPr lang="en-US" dirty="0"/>
              <a:t>Project limitations &amp; Alternatives</a:t>
            </a:r>
          </a:p>
          <a:p>
            <a:r>
              <a:rPr lang="en-US" dirty="0"/>
              <a:t>Conclusions</a:t>
            </a:r>
          </a:p>
        </p:txBody>
      </p:sp>
      <p:sp>
        <p:nvSpPr>
          <p:cNvPr id="4" name="Plassholder for lysbildenummer 3">
            <a:extLst>
              <a:ext uri="{FF2B5EF4-FFF2-40B4-BE49-F238E27FC236}">
                <a16:creationId xmlns:a16="http://schemas.microsoft.com/office/drawing/2014/main" id="{F465394E-BA1C-5D3F-88D4-91FDBB1AF3A8}"/>
              </a:ext>
            </a:extLst>
          </p:cNvPr>
          <p:cNvSpPr>
            <a:spLocks noGrp="1"/>
          </p:cNvSpPr>
          <p:nvPr>
            <p:ph type="sldNum" sz="quarter" idx="12"/>
          </p:nvPr>
        </p:nvSpPr>
        <p:spPr/>
        <p:txBody>
          <a:bodyPr/>
          <a:lstStyle/>
          <a:p>
            <a:fld id="{719D7796-F675-488F-AC46-C88938C80352}" type="slidenum">
              <a:rPr lang="en-US" smtClean="0"/>
              <a:t>2</a:t>
            </a:fld>
            <a:endParaRPr lang="en-US"/>
          </a:p>
        </p:txBody>
      </p:sp>
    </p:spTree>
    <p:extLst>
      <p:ext uri="{BB962C8B-B14F-4D97-AF65-F5344CB8AC3E}">
        <p14:creationId xmlns:p14="http://schemas.microsoft.com/office/powerpoint/2010/main" val="2028096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49F6C2-264F-12EB-2F52-937D2B91692E}"/>
              </a:ext>
            </a:extLst>
          </p:cNvPr>
          <p:cNvSpPr>
            <a:spLocks noGrp="1"/>
          </p:cNvSpPr>
          <p:nvPr>
            <p:ph type="title"/>
          </p:nvPr>
        </p:nvSpPr>
        <p:spPr/>
        <p:txBody>
          <a:bodyPr/>
          <a:lstStyle/>
          <a:p>
            <a:r>
              <a:rPr lang="en-US" dirty="0"/>
              <a:t>Numerical and Analytical Pressure Solutions in Radial Flow</a:t>
            </a:r>
          </a:p>
        </p:txBody>
      </p:sp>
      <p:sp>
        <p:nvSpPr>
          <p:cNvPr id="3" name="Plassholder for innhold 2">
            <a:extLst>
              <a:ext uri="{FF2B5EF4-FFF2-40B4-BE49-F238E27FC236}">
                <a16:creationId xmlns:a16="http://schemas.microsoft.com/office/drawing/2014/main" id="{6E96E3CE-5785-750E-8EC7-7CCF05697CAE}"/>
              </a:ext>
            </a:extLst>
          </p:cNvPr>
          <p:cNvSpPr>
            <a:spLocks noGrp="1"/>
          </p:cNvSpPr>
          <p:nvPr>
            <p:ph idx="1"/>
          </p:nvPr>
        </p:nvSpPr>
        <p:spPr/>
        <p:txBody>
          <a:bodyPr/>
          <a:lstStyle/>
          <a:p>
            <a:r>
              <a:rPr lang="en-US" dirty="0"/>
              <a:t>Modeling fluid flow around well using numerical and analytical solutions </a:t>
            </a:r>
          </a:p>
          <a:p>
            <a:r>
              <a:rPr lang="en-US" dirty="0"/>
              <a:t>Based on diffusivity equation in cylindrical coordinates</a:t>
            </a:r>
          </a:p>
          <a:p>
            <a:r>
              <a:rPr lang="en-US" dirty="0"/>
              <a:t>Project structured into 4 exercises</a:t>
            </a:r>
          </a:p>
          <a:p>
            <a:pPr lvl="1"/>
            <a:r>
              <a:rPr lang="en-US" dirty="0"/>
              <a:t>Steady state solution</a:t>
            </a:r>
          </a:p>
          <a:p>
            <a:pPr lvl="1"/>
            <a:r>
              <a:rPr lang="en-US" dirty="0"/>
              <a:t>Time dependent solution</a:t>
            </a:r>
          </a:p>
          <a:p>
            <a:pPr lvl="1"/>
            <a:r>
              <a:rPr lang="en-US" dirty="0"/>
              <a:t>Accuracy &amp; performance</a:t>
            </a:r>
          </a:p>
          <a:p>
            <a:pPr lvl="1"/>
            <a:r>
              <a:rPr lang="en-US" dirty="0"/>
              <a:t>Well test data fitting</a:t>
            </a:r>
          </a:p>
        </p:txBody>
      </p:sp>
      <p:sp>
        <p:nvSpPr>
          <p:cNvPr id="4" name="Plassholder for lysbildenummer 3">
            <a:extLst>
              <a:ext uri="{FF2B5EF4-FFF2-40B4-BE49-F238E27FC236}">
                <a16:creationId xmlns:a16="http://schemas.microsoft.com/office/drawing/2014/main" id="{76F07E2A-C619-AFF6-D4CA-B8F4152F7E87}"/>
              </a:ext>
            </a:extLst>
          </p:cNvPr>
          <p:cNvSpPr>
            <a:spLocks noGrp="1"/>
          </p:cNvSpPr>
          <p:nvPr>
            <p:ph type="sldNum" sz="quarter" idx="12"/>
          </p:nvPr>
        </p:nvSpPr>
        <p:spPr/>
        <p:txBody>
          <a:bodyPr/>
          <a:lstStyle/>
          <a:p>
            <a:fld id="{719D7796-F675-488F-AC46-C88938C80352}" type="slidenum">
              <a:rPr lang="en-US" smtClean="0"/>
              <a:t>3</a:t>
            </a:fld>
            <a:endParaRPr lang="en-US"/>
          </a:p>
        </p:txBody>
      </p:sp>
      <p:pic>
        <p:nvPicPr>
          <p:cNvPr id="7" name="Bilde 6">
            <a:extLst>
              <a:ext uri="{FF2B5EF4-FFF2-40B4-BE49-F238E27FC236}">
                <a16:creationId xmlns:a16="http://schemas.microsoft.com/office/drawing/2014/main" id="{82BC1DC9-DB75-5382-4E4C-DD97D2D274F8}"/>
              </a:ext>
            </a:extLst>
          </p:cNvPr>
          <p:cNvPicPr>
            <a:picLocks noChangeAspect="1"/>
          </p:cNvPicPr>
          <p:nvPr/>
        </p:nvPicPr>
        <p:blipFill>
          <a:blip r:embed="rId3"/>
          <a:stretch>
            <a:fillRect/>
          </a:stretch>
        </p:blipFill>
        <p:spPr>
          <a:xfrm>
            <a:off x="8017164" y="3569067"/>
            <a:ext cx="3273400" cy="1531741"/>
          </a:xfrm>
          <a:prstGeom prst="rect">
            <a:avLst/>
          </a:prstGeom>
        </p:spPr>
      </p:pic>
    </p:spTree>
    <p:extLst>
      <p:ext uri="{BB962C8B-B14F-4D97-AF65-F5344CB8AC3E}">
        <p14:creationId xmlns:p14="http://schemas.microsoft.com/office/powerpoint/2010/main" val="973795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4CCF97B-D084-A28E-A7F3-3E5A56E9C639}"/>
              </a:ext>
            </a:extLst>
          </p:cNvPr>
          <p:cNvSpPr>
            <a:spLocks noGrp="1"/>
          </p:cNvSpPr>
          <p:nvPr>
            <p:ph type="title"/>
          </p:nvPr>
        </p:nvSpPr>
        <p:spPr/>
        <p:txBody>
          <a:bodyPr/>
          <a:lstStyle/>
          <a:p>
            <a:r>
              <a:rPr lang="en-US" dirty="0"/>
              <a:t>Governing Equation &amp; Transformation</a:t>
            </a:r>
          </a:p>
        </p:txBody>
      </p:sp>
      <p:sp>
        <p:nvSpPr>
          <p:cNvPr id="3" name="Plassholder for innhold 2">
            <a:extLst>
              <a:ext uri="{FF2B5EF4-FFF2-40B4-BE49-F238E27FC236}">
                <a16:creationId xmlns:a16="http://schemas.microsoft.com/office/drawing/2014/main" id="{79AE571E-3B56-AC3C-BA17-328B7B306339}"/>
              </a:ext>
            </a:extLst>
          </p:cNvPr>
          <p:cNvSpPr>
            <a:spLocks noGrp="1"/>
          </p:cNvSpPr>
          <p:nvPr>
            <p:ph idx="1"/>
          </p:nvPr>
        </p:nvSpPr>
        <p:spPr>
          <a:xfrm>
            <a:off x="1088136" y="2447778"/>
            <a:ext cx="3881028" cy="3838722"/>
          </a:xfrm>
        </p:spPr>
        <p:txBody>
          <a:bodyPr>
            <a:normAutofit/>
          </a:bodyPr>
          <a:lstStyle/>
          <a:p>
            <a:r>
              <a:rPr lang="en-US" dirty="0"/>
              <a:t>Radial diffusivity equation</a:t>
            </a:r>
          </a:p>
          <a:p>
            <a:r>
              <a:rPr lang="en-US" dirty="0"/>
              <a:t>Logarithmic coordinate transform </a:t>
            </a:r>
          </a:p>
          <a:p>
            <a:r>
              <a:rPr lang="en-US" dirty="0"/>
              <a:t>Simplifies operator to a constant-coefficient second derivative in y</a:t>
            </a:r>
          </a:p>
        </p:txBody>
      </p:sp>
      <mc:AlternateContent xmlns:mc="http://schemas.openxmlformats.org/markup-compatibility/2006" xmlns:a14="http://schemas.microsoft.com/office/drawing/2010/main">
        <mc:Choice Requires="a14">
          <p:sp>
            <p:nvSpPr>
              <p:cNvPr id="9" name="TekstSylinder 8">
                <a:extLst>
                  <a:ext uri="{FF2B5EF4-FFF2-40B4-BE49-F238E27FC236}">
                    <a16:creationId xmlns:a16="http://schemas.microsoft.com/office/drawing/2014/main" id="{1E239480-4F14-0718-693C-B87EED430D0D}"/>
                  </a:ext>
                </a:extLst>
              </p:cNvPr>
              <p:cNvSpPr txBox="1"/>
              <p:nvPr/>
            </p:nvSpPr>
            <p:spPr>
              <a:xfrm>
                <a:off x="6049518" y="2384473"/>
                <a:ext cx="4218432" cy="5442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f>
                        <m:fPr>
                          <m:ctrlPr>
                            <a:rPr lang="en-US" b="0" i="1" smtClean="0">
                              <a:latin typeface="Cambria Math" panose="02040503050406030204" pitchFamily="18" charset="0"/>
                            </a:rPr>
                          </m:ctrlPr>
                        </m:fPr>
                        <m:num>
                          <m:r>
                            <m:rPr>
                              <m:sty m:val="p"/>
                            </m:rPr>
                            <a:rPr lang="el-GR" b="0" i="1" smtClean="0">
                              <a:latin typeface="Cambria Math" panose="02040503050406030204" pitchFamily="18" charset="0"/>
                            </a:rPr>
                            <m:t>δ</m:t>
                          </m:r>
                          <m:r>
                            <a:rPr lang="en-US" b="0" i="1" smtClean="0">
                              <a:latin typeface="Cambria Math" panose="02040503050406030204" pitchFamily="18" charset="0"/>
                            </a:rPr>
                            <m:t>𝑝</m:t>
                          </m:r>
                        </m:num>
                        <m:den>
                          <m:r>
                            <m:rPr>
                              <m:sty m:val="p"/>
                            </m:rPr>
                            <a:rPr lang="el-GR" b="0" i="1" smtClean="0">
                              <a:latin typeface="Cambria Math" panose="02040503050406030204" pitchFamily="18" charset="0"/>
                            </a:rPr>
                            <m:t>δ</m:t>
                          </m:r>
                          <m:r>
                            <a:rPr lang="en-US" b="0" i="1" smtClean="0">
                              <a:latin typeface="Cambria Math" panose="02040503050406030204" pitchFamily="18" charset="0"/>
                            </a:rPr>
                            <m:t>𝑡</m:t>
                          </m:r>
                        </m:den>
                      </m:f>
                      <m:r>
                        <a:rPr lang="en-US" b="0" i="1" smtClean="0">
                          <a:latin typeface="Cambria Math" panose="02040503050406030204" pitchFamily="18" charset="0"/>
                        </a:rPr>
                        <m:t>=</m:t>
                      </m:r>
                      <m:r>
                        <m:rPr>
                          <m:sty m:val="p"/>
                        </m:rPr>
                        <a:rPr lang="el-GR" b="0" i="1" smtClean="0">
                          <a:latin typeface="Cambria Math" panose="02040503050406030204" pitchFamily="18" charset="0"/>
                        </a:rPr>
                        <m:t>η</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𝑟</m:t>
                          </m:r>
                        </m:den>
                      </m:f>
                      <m:f>
                        <m:fPr>
                          <m:ctrlPr>
                            <a:rPr lang="en-US" b="0" i="1" smtClean="0">
                              <a:latin typeface="Cambria Math" panose="02040503050406030204" pitchFamily="18" charset="0"/>
                            </a:rPr>
                          </m:ctrlPr>
                        </m:fPr>
                        <m:num>
                          <m:r>
                            <m:rPr>
                              <m:sty m:val="p"/>
                            </m:rPr>
                            <a:rPr lang="el-GR" b="0" i="1" smtClean="0">
                              <a:latin typeface="Cambria Math" panose="02040503050406030204" pitchFamily="18" charset="0"/>
                            </a:rPr>
                            <m:t>δ</m:t>
                          </m:r>
                        </m:num>
                        <m:den>
                          <m:r>
                            <m:rPr>
                              <m:sty m:val="p"/>
                            </m:rPr>
                            <a:rPr lang="el-GR" b="0" i="1" smtClean="0">
                              <a:latin typeface="Cambria Math" panose="02040503050406030204" pitchFamily="18" charset="0"/>
                            </a:rPr>
                            <m:t>δ</m:t>
                          </m:r>
                          <m:r>
                            <a:rPr lang="en-US" b="0" i="1" smtClean="0">
                              <a:latin typeface="Cambria Math" panose="02040503050406030204" pitchFamily="18" charset="0"/>
                            </a:rPr>
                            <m:t>𝑟</m:t>
                          </m:r>
                        </m:den>
                      </m:f>
                      <m:r>
                        <a:rPr lang="en-US" b="0" i="1" smtClean="0">
                          <a:latin typeface="Cambria Math" panose="02040503050406030204" pitchFamily="18" charset="0"/>
                        </a:rPr>
                        <m:t>(</m:t>
                      </m:r>
                      <m:r>
                        <a:rPr lang="en-US" b="0" i="1" smtClean="0">
                          <a:latin typeface="Cambria Math" panose="02040503050406030204" pitchFamily="18" charset="0"/>
                        </a:rPr>
                        <m:t>𝑟</m:t>
                      </m:r>
                      <m:f>
                        <m:fPr>
                          <m:ctrlPr>
                            <a:rPr lang="en-US" b="0" i="1" smtClean="0">
                              <a:latin typeface="Cambria Math" panose="02040503050406030204" pitchFamily="18" charset="0"/>
                            </a:rPr>
                          </m:ctrlPr>
                        </m:fPr>
                        <m:num>
                          <m:r>
                            <m:rPr>
                              <m:sty m:val="p"/>
                            </m:rPr>
                            <a:rPr lang="el-GR" b="0" i="1" smtClean="0">
                              <a:latin typeface="Cambria Math" panose="02040503050406030204" pitchFamily="18" charset="0"/>
                            </a:rPr>
                            <m:t>δ</m:t>
                          </m:r>
                          <m:r>
                            <a:rPr lang="en-US" b="0" i="1" smtClean="0">
                              <a:latin typeface="Cambria Math" panose="02040503050406030204" pitchFamily="18" charset="0"/>
                            </a:rPr>
                            <m:t>𝑝</m:t>
                          </m:r>
                        </m:num>
                        <m:den>
                          <m:r>
                            <m:rPr>
                              <m:sty m:val="p"/>
                            </m:rPr>
                            <a:rPr lang="el-GR" b="0" i="1" smtClean="0">
                              <a:latin typeface="Cambria Math" panose="02040503050406030204" pitchFamily="18" charset="0"/>
                            </a:rPr>
                            <m:t>δ</m:t>
                          </m:r>
                          <m:r>
                            <a:rPr lang="en-US" b="0" i="1" smtClean="0">
                              <a:latin typeface="Cambria Math" panose="02040503050406030204" pitchFamily="18" charset="0"/>
                            </a:rPr>
                            <m:t>𝑟</m:t>
                          </m:r>
                        </m:den>
                      </m:f>
                      <m:r>
                        <a:rPr lang="en-US" b="0" i="1" smtClean="0">
                          <a:latin typeface="Cambria Math" panose="02040503050406030204" pitchFamily="18" charset="0"/>
                        </a:rPr>
                        <m:t>)</m:t>
                      </m:r>
                    </m:oMath>
                  </m:oMathPara>
                </a14:m>
                <a:endParaRPr lang="en-US" dirty="0"/>
              </a:p>
            </p:txBody>
          </p:sp>
        </mc:Choice>
        <mc:Fallback xmlns="">
          <p:sp>
            <p:nvSpPr>
              <p:cNvPr id="9" name="TekstSylinder 8">
                <a:extLst>
                  <a:ext uri="{FF2B5EF4-FFF2-40B4-BE49-F238E27FC236}">
                    <a16:creationId xmlns:a16="http://schemas.microsoft.com/office/drawing/2014/main" id="{1E239480-4F14-0718-693C-B87EED430D0D}"/>
                  </a:ext>
                </a:extLst>
              </p:cNvPr>
              <p:cNvSpPr txBox="1">
                <a:spLocks noRot="1" noChangeAspect="1" noMove="1" noResize="1" noEditPoints="1" noAdjustHandles="1" noChangeArrowheads="1" noChangeShapeType="1" noTextEdit="1"/>
              </p:cNvSpPr>
              <p:nvPr/>
            </p:nvSpPr>
            <p:spPr>
              <a:xfrm>
                <a:off x="6049518" y="2384473"/>
                <a:ext cx="4218432" cy="544252"/>
              </a:xfrm>
              <a:prstGeom prst="rect">
                <a:avLst/>
              </a:prstGeom>
              <a:blipFill>
                <a:blip r:embed="rId3"/>
                <a:stretch>
                  <a:fillRect/>
                </a:stretch>
              </a:blipFill>
            </p:spPr>
            <p:txBody>
              <a:bodyPr/>
              <a:lstStyle/>
              <a:p>
                <a:r>
                  <a:rPr lang="en-US">
                    <a:noFill/>
                  </a:rPr>
                  <a:t> </a:t>
                </a:r>
              </a:p>
            </p:txBody>
          </p:sp>
        </mc:Fallback>
      </mc:AlternateContent>
      <p:sp>
        <p:nvSpPr>
          <p:cNvPr id="10" name="Plassholder for lysbildenummer 9">
            <a:extLst>
              <a:ext uri="{FF2B5EF4-FFF2-40B4-BE49-F238E27FC236}">
                <a16:creationId xmlns:a16="http://schemas.microsoft.com/office/drawing/2014/main" id="{EC0FDC70-1B79-0869-0E63-12D31765B0E5}"/>
              </a:ext>
            </a:extLst>
          </p:cNvPr>
          <p:cNvSpPr>
            <a:spLocks noGrp="1"/>
          </p:cNvSpPr>
          <p:nvPr>
            <p:ph type="sldNum" sz="quarter" idx="12"/>
          </p:nvPr>
        </p:nvSpPr>
        <p:spPr/>
        <p:txBody>
          <a:bodyPr/>
          <a:lstStyle/>
          <a:p>
            <a:fld id="{719D7796-F675-488F-AC46-C88938C80352}" type="slidenum">
              <a:rPr lang="en-US" smtClean="0"/>
              <a:t>4</a:t>
            </a:fld>
            <a:endParaRPr lang="en-US"/>
          </a:p>
        </p:txBody>
      </p:sp>
      <mc:AlternateContent xmlns:mc="http://schemas.openxmlformats.org/markup-compatibility/2006" xmlns:a14="http://schemas.microsoft.com/office/drawing/2010/main">
        <mc:Choice Requires="a14">
          <p:sp>
            <p:nvSpPr>
              <p:cNvPr id="4" name="TekstSylinder 3">
                <a:extLst>
                  <a:ext uri="{FF2B5EF4-FFF2-40B4-BE49-F238E27FC236}">
                    <a16:creationId xmlns:a16="http://schemas.microsoft.com/office/drawing/2014/main" id="{8DD1AC82-6D62-BE1B-C798-5FBF1328FDCC}"/>
                  </a:ext>
                </a:extLst>
              </p:cNvPr>
              <p:cNvSpPr txBox="1"/>
              <p:nvPr/>
            </p:nvSpPr>
            <p:spPr>
              <a:xfrm>
                <a:off x="7272045" y="3056351"/>
                <a:ext cx="1212511"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𝑟</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𝑤</m:t>
                                      </m:r>
                                    </m:sub>
                                  </m:sSub>
                                </m:den>
                              </m:f>
                            </m:e>
                          </m:d>
                        </m:e>
                      </m:func>
                    </m:oMath>
                  </m:oMathPara>
                </a14:m>
                <a:endParaRPr lang="en-US" dirty="0"/>
              </a:p>
            </p:txBody>
          </p:sp>
        </mc:Choice>
        <mc:Fallback xmlns="">
          <p:sp>
            <p:nvSpPr>
              <p:cNvPr id="4" name="TekstSylinder 3">
                <a:extLst>
                  <a:ext uri="{FF2B5EF4-FFF2-40B4-BE49-F238E27FC236}">
                    <a16:creationId xmlns:a16="http://schemas.microsoft.com/office/drawing/2014/main" id="{8DD1AC82-6D62-BE1B-C798-5FBF1328FDCC}"/>
                  </a:ext>
                </a:extLst>
              </p:cNvPr>
              <p:cNvSpPr txBox="1">
                <a:spLocks noRot="1" noChangeAspect="1" noMove="1" noResize="1" noEditPoints="1" noAdjustHandles="1" noChangeArrowheads="1" noChangeShapeType="1" noTextEdit="1"/>
              </p:cNvSpPr>
              <p:nvPr/>
            </p:nvSpPr>
            <p:spPr>
              <a:xfrm>
                <a:off x="7272045" y="3056351"/>
                <a:ext cx="1212511" cy="622350"/>
              </a:xfrm>
              <a:prstGeom prst="rect">
                <a:avLst/>
              </a:prstGeom>
              <a:blipFill>
                <a:blip r:embed="rId4"/>
                <a:stretch>
                  <a:fillRect/>
                </a:stretch>
              </a:blipFill>
            </p:spPr>
            <p:txBody>
              <a:bodyPr/>
              <a:lstStyle/>
              <a:p>
                <a:r>
                  <a:rPr lang="en-US">
                    <a:noFill/>
                  </a:rPr>
                  <a:t> </a:t>
                </a:r>
              </a:p>
            </p:txBody>
          </p:sp>
        </mc:Fallback>
      </mc:AlternateContent>
      <p:pic>
        <p:nvPicPr>
          <p:cNvPr id="13" name="Bilde 12">
            <a:extLst>
              <a:ext uri="{FF2B5EF4-FFF2-40B4-BE49-F238E27FC236}">
                <a16:creationId xmlns:a16="http://schemas.microsoft.com/office/drawing/2014/main" id="{7F52620C-209C-2412-D2B1-B62535EF1A7D}"/>
              </a:ext>
            </a:extLst>
          </p:cNvPr>
          <p:cNvPicPr>
            <a:picLocks noChangeAspect="1"/>
          </p:cNvPicPr>
          <p:nvPr/>
        </p:nvPicPr>
        <p:blipFill>
          <a:blip r:embed="rId5"/>
          <a:stretch>
            <a:fillRect/>
          </a:stretch>
        </p:blipFill>
        <p:spPr>
          <a:xfrm>
            <a:off x="6763026" y="3760421"/>
            <a:ext cx="4220164" cy="2629267"/>
          </a:xfrm>
          <a:prstGeom prst="rect">
            <a:avLst/>
          </a:prstGeom>
        </p:spPr>
      </p:pic>
    </p:spTree>
    <p:extLst>
      <p:ext uri="{BB962C8B-B14F-4D97-AF65-F5344CB8AC3E}">
        <p14:creationId xmlns:p14="http://schemas.microsoft.com/office/powerpoint/2010/main" val="2772619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8E823B58-600A-52A6-6D9C-79AFFB5A778F}"/>
              </a:ext>
            </a:extLst>
          </p:cNvPr>
          <p:cNvSpPr>
            <a:spLocks noGrp="1"/>
          </p:cNvSpPr>
          <p:nvPr>
            <p:ph type="title"/>
          </p:nvPr>
        </p:nvSpPr>
        <p:spPr>
          <a:xfrm>
            <a:off x="1091204" y="1091868"/>
            <a:ext cx="4147804" cy="2042160"/>
          </a:xfrm>
        </p:spPr>
        <p:txBody>
          <a:bodyPr>
            <a:normAutofit/>
          </a:bodyPr>
          <a:lstStyle/>
          <a:p>
            <a:r>
              <a:rPr lang="en-US" sz="4000"/>
              <a:t>Ex 1: Steady State Solution</a:t>
            </a:r>
          </a:p>
        </p:txBody>
      </p:sp>
      <p:cxnSp>
        <p:nvCxnSpPr>
          <p:cNvPr id="1040" name="Straight Connector 1039">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80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Plassholder for innhold 2">
                <a:extLst>
                  <a:ext uri="{FF2B5EF4-FFF2-40B4-BE49-F238E27FC236}">
                    <a16:creationId xmlns:a16="http://schemas.microsoft.com/office/drawing/2014/main" id="{B6A96428-590A-6F52-75F3-84BC332912AE}"/>
                  </a:ext>
                </a:extLst>
              </p:cNvPr>
              <p:cNvSpPr>
                <a:spLocks noGrp="1"/>
              </p:cNvSpPr>
              <p:nvPr>
                <p:ph idx="1"/>
              </p:nvPr>
            </p:nvSpPr>
            <p:spPr>
              <a:xfrm>
                <a:off x="1120232" y="3204755"/>
                <a:ext cx="4147804" cy="2966043"/>
              </a:xfrm>
            </p:spPr>
            <p:txBody>
              <a:bodyPr>
                <a:normAutofit/>
              </a:bodyPr>
              <a:lstStyle/>
              <a:p>
                <a:pPr>
                  <a:lnSpc>
                    <a:spcPct val="120000"/>
                  </a:lnSpc>
                </a:pPr>
                <a:r>
                  <a:rPr lang="en-US" sz="1700"/>
                  <a:t>Steady state </a:t>
                </a:r>
                <a14:m>
                  <m:oMath xmlns:m="http://schemas.openxmlformats.org/officeDocument/2006/math">
                    <m:f>
                      <m:fPr>
                        <m:ctrlPr>
                          <a:rPr lang="en-US" sz="1700" b="0" i="1" smtClean="0">
                            <a:latin typeface="Cambria Math" panose="02040503050406030204" pitchFamily="18" charset="0"/>
                          </a:rPr>
                        </m:ctrlPr>
                      </m:fPr>
                      <m:num>
                        <m:sSubSup>
                          <m:sSubSupPr>
                            <m:ctrlPr>
                              <a:rPr lang="en-US" sz="1700" b="0" i="1" smtClean="0">
                                <a:latin typeface="Cambria Math" panose="02040503050406030204" pitchFamily="18" charset="0"/>
                              </a:rPr>
                            </m:ctrlPr>
                          </m:sSubSupPr>
                          <m:e>
                            <m:r>
                              <a:rPr lang="en-US" sz="1700" b="0" i="1" smtClean="0">
                                <a:latin typeface="Cambria Math" panose="02040503050406030204" pitchFamily="18" charset="0"/>
                              </a:rPr>
                              <m:t>𝑑</m:t>
                            </m:r>
                          </m:e>
                          <m:sub>
                            <m:r>
                              <a:rPr lang="en-US" sz="1700" b="0" i="1" smtClean="0">
                                <a:latin typeface="Cambria Math" panose="02040503050406030204" pitchFamily="18" charset="0"/>
                              </a:rPr>
                              <m:t>𝑝</m:t>
                            </m:r>
                          </m:sub>
                          <m:sup>
                            <m:r>
                              <a:rPr lang="en-US" sz="1700" b="0" i="1" smtClean="0">
                                <a:latin typeface="Cambria Math" panose="02040503050406030204" pitchFamily="18" charset="0"/>
                              </a:rPr>
                              <m:t>2</m:t>
                            </m:r>
                          </m:sup>
                        </m:sSubSup>
                      </m:num>
                      <m:den>
                        <m:sSubSup>
                          <m:sSubSupPr>
                            <m:ctrlPr>
                              <a:rPr lang="en-US" sz="1700" b="0" i="1" smtClean="0">
                                <a:latin typeface="Cambria Math" panose="02040503050406030204" pitchFamily="18" charset="0"/>
                              </a:rPr>
                            </m:ctrlPr>
                          </m:sSubSupPr>
                          <m:e>
                            <m:r>
                              <a:rPr lang="en-US" sz="1700" b="0" i="1" smtClean="0">
                                <a:latin typeface="Cambria Math" panose="02040503050406030204" pitchFamily="18" charset="0"/>
                              </a:rPr>
                              <m:t>𝑑</m:t>
                            </m:r>
                          </m:e>
                          <m:sub>
                            <m:r>
                              <a:rPr lang="en-US" sz="1700" b="0" i="1" smtClean="0">
                                <a:latin typeface="Cambria Math" panose="02040503050406030204" pitchFamily="18" charset="0"/>
                              </a:rPr>
                              <m:t>𝑦</m:t>
                            </m:r>
                          </m:sub>
                          <m:sup>
                            <m:r>
                              <a:rPr lang="en-US" sz="1700" b="0" i="1" smtClean="0">
                                <a:latin typeface="Cambria Math" panose="02040503050406030204" pitchFamily="18" charset="0"/>
                              </a:rPr>
                              <m:t>2</m:t>
                            </m:r>
                          </m:sup>
                        </m:sSubSup>
                      </m:den>
                    </m:f>
                    <m:r>
                      <a:rPr lang="en-US" sz="1700" b="0" i="1" smtClean="0">
                        <a:latin typeface="Cambria Math" panose="02040503050406030204" pitchFamily="18" charset="0"/>
                      </a:rPr>
                      <m:t>=0</m:t>
                    </m:r>
                  </m:oMath>
                </a14:m>
                <a:endParaRPr lang="en-US" sz="1700" b="0"/>
              </a:p>
              <a:p>
                <a:pPr>
                  <a:lnSpc>
                    <a:spcPct val="120000"/>
                  </a:lnSpc>
                </a:pPr>
                <a:r>
                  <a:rPr lang="en-US" sz="1700"/>
                  <a:t>Analytical solution </a:t>
                </a:r>
                <a14:m>
                  <m:oMath xmlns:m="http://schemas.openxmlformats.org/officeDocument/2006/math">
                    <m:r>
                      <a:rPr lang="en-US" sz="1700" b="0" i="1" smtClean="0">
                        <a:latin typeface="Cambria Math" panose="02040503050406030204" pitchFamily="18" charset="0"/>
                      </a:rPr>
                      <m:t>𝑝</m:t>
                    </m:r>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𝑦</m:t>
                        </m:r>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𝑝</m:t>
                        </m:r>
                      </m:e>
                      <m:sub>
                        <m:r>
                          <a:rPr lang="en-US" sz="1700" b="0" i="1" smtClean="0">
                            <a:latin typeface="Cambria Math" panose="02040503050406030204" pitchFamily="18" charset="0"/>
                          </a:rPr>
                          <m:t>𝑖</m:t>
                        </m:r>
                      </m:sub>
                    </m:sSub>
                    <m:r>
                      <a:rPr lang="en-US" sz="1700" b="0" i="1" smtClean="0">
                        <a:latin typeface="Cambria Math" panose="02040503050406030204" pitchFamily="18" charset="0"/>
                      </a:rPr>
                      <m:t>+</m:t>
                    </m:r>
                    <m:r>
                      <m:rPr>
                        <m:nor/>
                      </m:rPr>
                      <a:rPr lang="el-GR" sz="1700"/>
                      <m:t>α</m:t>
                    </m:r>
                    <m:r>
                      <a:rPr lang="en-US" sz="1700" b="0" i="1" smtClean="0">
                        <a:latin typeface="Cambria Math" panose="02040503050406030204" pitchFamily="18" charset="0"/>
                      </a:rPr>
                      <m:t>(</m:t>
                    </m:r>
                    <m:r>
                      <a:rPr lang="en-US" sz="1700" b="0" i="1" smtClean="0">
                        <a:latin typeface="Cambria Math" panose="02040503050406030204" pitchFamily="18" charset="0"/>
                      </a:rPr>
                      <m:t>𝑦</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𝑦</m:t>
                        </m:r>
                      </m:e>
                      <m:sub>
                        <m:r>
                          <a:rPr lang="en-US" sz="1700" b="0" i="1" smtClean="0">
                            <a:latin typeface="Cambria Math" panose="02040503050406030204" pitchFamily="18" charset="0"/>
                          </a:rPr>
                          <m:t>𝑒</m:t>
                        </m:r>
                      </m:sub>
                    </m:sSub>
                    <m:r>
                      <a:rPr lang="en-US" sz="1700" b="0" i="1" smtClean="0">
                        <a:latin typeface="Cambria Math" panose="02040503050406030204" pitchFamily="18" charset="0"/>
                      </a:rPr>
                      <m:t>)</m:t>
                    </m:r>
                  </m:oMath>
                </a14:m>
                <a:endParaRPr lang="en-US" sz="1700"/>
              </a:p>
              <a:p>
                <a:pPr>
                  <a:lnSpc>
                    <a:spcPct val="120000"/>
                  </a:lnSpc>
                </a:pPr>
                <a:r>
                  <a:rPr lang="en-US" sz="1700"/>
                  <a:t>Lazy vs not-so-lazy BC at </a:t>
                </a:r>
                <a14:m>
                  <m:oMath xmlns:m="http://schemas.openxmlformats.org/officeDocument/2006/math">
                    <m:r>
                      <a:rPr lang="en-US" sz="1700" i="1">
                        <a:latin typeface="Cambria Math" panose="02040503050406030204" pitchFamily="18" charset="0"/>
                      </a:rPr>
                      <m:t>𝑦</m:t>
                    </m:r>
                    <m:r>
                      <a:rPr lang="en-US" sz="1700" i="1">
                        <a:latin typeface="Cambria Math" panose="02040503050406030204" pitchFamily="18" charset="0"/>
                      </a:rPr>
                      <m:t>−</m:t>
                    </m:r>
                    <m:sSub>
                      <m:sSubPr>
                        <m:ctrlPr>
                          <a:rPr lang="en-US" sz="1700" i="1">
                            <a:latin typeface="Cambria Math" panose="02040503050406030204" pitchFamily="18" charset="0"/>
                          </a:rPr>
                        </m:ctrlPr>
                      </m:sSubPr>
                      <m:e>
                        <m:r>
                          <a:rPr lang="en-US" sz="1700" i="1">
                            <a:latin typeface="Cambria Math" panose="02040503050406030204" pitchFamily="18" charset="0"/>
                          </a:rPr>
                          <m:t>𝑦</m:t>
                        </m:r>
                      </m:e>
                      <m:sub>
                        <m:r>
                          <a:rPr lang="en-US" sz="1700" i="1">
                            <a:latin typeface="Cambria Math" panose="02040503050406030204" pitchFamily="18" charset="0"/>
                          </a:rPr>
                          <m:t>𝑒</m:t>
                        </m:r>
                      </m:sub>
                    </m:sSub>
                  </m:oMath>
                </a14:m>
                <a:endParaRPr lang="en-US" sz="1700"/>
              </a:p>
              <a:p>
                <a:pPr lvl="1">
                  <a:lnSpc>
                    <a:spcPct val="120000"/>
                  </a:lnSpc>
                </a:pPr>
                <a:r>
                  <a:rPr lang="en-US" sz="1700"/>
                  <a:t>Lazy: 	</a:t>
                </a:r>
                <a14:m>
                  <m:oMath xmlns:m="http://schemas.openxmlformats.org/officeDocument/2006/math">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𝑝</m:t>
                        </m:r>
                      </m:e>
                      <m:sub>
                        <m:r>
                          <a:rPr lang="en-US" sz="1700" b="0" i="1" smtClean="0">
                            <a:latin typeface="Cambria Math" panose="02040503050406030204" pitchFamily="18" charset="0"/>
                          </a:rPr>
                          <m:t>𝑁</m:t>
                        </m:r>
                      </m:sub>
                    </m:sSub>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𝑝</m:t>
                        </m:r>
                      </m:e>
                      <m:sub>
                        <m:r>
                          <a:rPr lang="en-US" sz="1700" b="0" i="1" smtClean="0">
                            <a:latin typeface="Cambria Math" panose="02040503050406030204" pitchFamily="18" charset="0"/>
                          </a:rPr>
                          <m:t>𝑒</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𝑓𝑖𝑟𝑠𝑡</m:t>
                        </m:r>
                        <m:r>
                          <a:rPr lang="en-US" sz="1700" b="0" i="1" smtClean="0">
                            <a:latin typeface="Cambria Math" panose="02040503050406030204" pitchFamily="18" charset="0"/>
                          </a:rPr>
                          <m:t> </m:t>
                        </m:r>
                        <m:r>
                          <a:rPr lang="en-US" sz="1700" b="0" i="1" smtClean="0">
                            <a:latin typeface="Cambria Math" panose="02040503050406030204" pitchFamily="18" charset="0"/>
                          </a:rPr>
                          <m:t>𝑜𝑟𝑑𝑒𝑟</m:t>
                        </m:r>
                      </m:e>
                    </m:d>
                  </m:oMath>
                </a14:m>
                <a:endParaRPr lang="en-US" sz="1700" b="0"/>
              </a:p>
              <a:p>
                <a:pPr lvl="1">
                  <a:lnSpc>
                    <a:spcPct val="120000"/>
                  </a:lnSpc>
                </a:pPr>
                <a:r>
                  <a:rPr lang="en-US" sz="1700"/>
                  <a:t>Not-so-lazy:	Ghost extrapolation (second order)</a:t>
                </a:r>
              </a:p>
            </p:txBody>
          </p:sp>
        </mc:Choice>
        <mc:Fallback xmlns="">
          <p:sp>
            <p:nvSpPr>
              <p:cNvPr id="3" name="Plassholder for innhold 2">
                <a:extLst>
                  <a:ext uri="{FF2B5EF4-FFF2-40B4-BE49-F238E27FC236}">
                    <a16:creationId xmlns:a16="http://schemas.microsoft.com/office/drawing/2014/main" id="{B6A96428-590A-6F52-75F3-84BC332912AE}"/>
                  </a:ext>
                </a:extLst>
              </p:cNvPr>
              <p:cNvSpPr>
                <a:spLocks noGrp="1" noRot="1" noChangeAspect="1" noMove="1" noResize="1" noEditPoints="1" noAdjustHandles="1" noChangeArrowheads="1" noChangeShapeType="1" noTextEdit="1"/>
              </p:cNvSpPr>
              <p:nvPr>
                <p:ph idx="1"/>
              </p:nvPr>
            </p:nvSpPr>
            <p:spPr>
              <a:xfrm>
                <a:off x="1120232" y="3204755"/>
                <a:ext cx="4147804" cy="2966043"/>
              </a:xfrm>
              <a:blipFill>
                <a:blip r:embed="rId3"/>
                <a:stretch>
                  <a:fillRect l="-1029" b="-617"/>
                </a:stretch>
              </a:blipFill>
            </p:spPr>
            <p:txBody>
              <a:bodyPr/>
              <a:lstStyle/>
              <a:p>
                <a:r>
                  <a:rPr lang="en-US">
                    <a:noFill/>
                  </a:rPr>
                  <a:t> </a:t>
                </a:r>
              </a:p>
            </p:txBody>
          </p:sp>
        </mc:Fallback>
      </mc:AlternateContent>
      <p:pic>
        <p:nvPicPr>
          <p:cNvPr id="7" name="Bilde 6">
            <a:extLst>
              <a:ext uri="{FF2B5EF4-FFF2-40B4-BE49-F238E27FC236}">
                <a16:creationId xmlns:a16="http://schemas.microsoft.com/office/drawing/2014/main" id="{31D1BAA5-E4F1-9A2E-E9DF-0918E4C5D621}"/>
              </a:ext>
            </a:extLst>
          </p:cNvPr>
          <p:cNvPicPr>
            <a:picLocks noChangeAspect="1"/>
          </p:cNvPicPr>
          <p:nvPr/>
        </p:nvPicPr>
        <p:blipFill>
          <a:blip r:embed="rId4"/>
          <a:stretch>
            <a:fillRect/>
          </a:stretch>
        </p:blipFill>
        <p:spPr>
          <a:xfrm>
            <a:off x="6096000" y="1143000"/>
            <a:ext cx="5492377" cy="4091820"/>
          </a:xfrm>
          <a:prstGeom prst="rect">
            <a:avLst/>
          </a:prstGeom>
        </p:spPr>
      </p:pic>
      <p:sp>
        <p:nvSpPr>
          <p:cNvPr id="4" name="Plassholder for lysbildenummer 3">
            <a:extLst>
              <a:ext uri="{FF2B5EF4-FFF2-40B4-BE49-F238E27FC236}">
                <a16:creationId xmlns:a16="http://schemas.microsoft.com/office/drawing/2014/main" id="{1DCA0B3C-A22B-7C7B-4153-A50104B4C6DC}"/>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5</a:t>
            </a:fld>
            <a:endParaRPr lang="en-US"/>
          </a:p>
        </p:txBody>
      </p:sp>
    </p:spTree>
    <p:extLst>
      <p:ext uri="{BB962C8B-B14F-4D97-AF65-F5344CB8AC3E}">
        <p14:creationId xmlns:p14="http://schemas.microsoft.com/office/powerpoint/2010/main" val="2212067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749414F2-4320-ADC5-4D38-C4EBCD5D93EB}"/>
              </a:ext>
            </a:extLst>
          </p:cNvPr>
          <p:cNvSpPr>
            <a:spLocks noGrp="1"/>
          </p:cNvSpPr>
          <p:nvPr>
            <p:ph type="title"/>
          </p:nvPr>
        </p:nvSpPr>
        <p:spPr>
          <a:xfrm>
            <a:off x="1091204" y="1091868"/>
            <a:ext cx="4147804" cy="2042160"/>
          </a:xfrm>
        </p:spPr>
        <p:txBody>
          <a:bodyPr>
            <a:normAutofit/>
          </a:bodyPr>
          <a:lstStyle/>
          <a:p>
            <a:r>
              <a:rPr lang="en-US" sz="4000"/>
              <a:t>Steady State Error Behavior</a:t>
            </a:r>
          </a:p>
        </p:txBody>
      </p:sp>
      <p:cxnSp>
        <p:nvCxnSpPr>
          <p:cNvPr id="13" name="Straight Connector 1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80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Plassholder for innhold 2">
                <a:extLst>
                  <a:ext uri="{FF2B5EF4-FFF2-40B4-BE49-F238E27FC236}">
                    <a16:creationId xmlns:a16="http://schemas.microsoft.com/office/drawing/2014/main" id="{31A0FDF6-E251-13F8-C18D-FDDB669F17F7}"/>
                  </a:ext>
                </a:extLst>
              </p:cNvPr>
              <p:cNvSpPr>
                <a:spLocks noGrp="1"/>
              </p:cNvSpPr>
              <p:nvPr>
                <p:ph idx="1"/>
              </p:nvPr>
            </p:nvSpPr>
            <p:spPr>
              <a:xfrm>
                <a:off x="1120232" y="3204755"/>
                <a:ext cx="4147804" cy="2966043"/>
              </a:xfrm>
            </p:spPr>
            <p:txBody>
              <a:bodyPr>
                <a:normAutofit/>
              </a:bodyPr>
              <a:lstStyle/>
              <a:p>
                <a:r>
                  <a:rPr lang="en-US" dirty="0"/>
                  <a:t>Lazy BC -&gt; </a:t>
                </a:r>
                <a14:m>
                  <m:oMath xmlns:m="http://schemas.openxmlformats.org/officeDocument/2006/math">
                    <m:r>
                      <m:rPr>
                        <m:nor/>
                      </m:rPr>
                      <a:rPr lang="en-US"/>
                      <m:t>O</m:t>
                    </m:r>
                    <m:r>
                      <m:rPr>
                        <m:nor/>
                      </m:rPr>
                      <a:rPr lang="en-US"/>
                      <m:t>(</m:t>
                    </m:r>
                    <m:r>
                      <m:rPr>
                        <m:nor/>
                      </m:rPr>
                      <a:rPr lang="el-GR"/>
                      <m:t>Δ</m:t>
                    </m:r>
                    <m:r>
                      <m:rPr>
                        <m:nor/>
                      </m:rPr>
                      <a:rPr lang="en-US"/>
                      <m:t>y</m:t>
                    </m:r>
                    <m:r>
                      <m:rPr>
                        <m:nor/>
                      </m:rPr>
                      <a:rPr lang="en-US"/>
                      <m:t>)</m:t>
                    </m:r>
                  </m:oMath>
                </a14:m>
                <a:endParaRPr lang="en-US" dirty="0"/>
              </a:p>
              <a:p>
                <a:r>
                  <a:rPr lang="en-US" dirty="0"/>
                  <a:t>Not-so-lazy BC -&gt; </a:t>
                </a:r>
                <a14:m>
                  <m:oMath xmlns:m="http://schemas.openxmlformats.org/officeDocument/2006/math">
                    <m:r>
                      <m:rPr>
                        <m:nor/>
                      </m:rPr>
                      <a:rPr lang="en-US"/>
                      <m:t>O</m:t>
                    </m:r>
                    <m:r>
                      <m:rPr>
                        <m:nor/>
                      </m:rPr>
                      <a:rPr lang="en-US"/>
                      <m:t>(</m:t>
                    </m:r>
                    <m:r>
                      <m:rPr>
                        <m:nor/>
                      </m:rPr>
                      <a:rPr lang="el-GR"/>
                      <m:t>Δ</m:t>
                    </m:r>
                    <m:r>
                      <m:rPr>
                        <m:nor/>
                      </m:rPr>
                      <a:rPr lang="en-US"/>
                      <m:t>y</m:t>
                    </m:r>
                    <m:r>
                      <m:rPr>
                        <m:nor/>
                      </m:rPr>
                      <a:rPr lang="en-US" b="0" i="0" smtClean="0"/>
                      <m:t>^2</m:t>
                    </m:r>
                    <m:r>
                      <m:rPr>
                        <m:nor/>
                      </m:rPr>
                      <a:rPr lang="en-US"/>
                      <m:t>)</m:t>
                    </m:r>
                  </m:oMath>
                </a14:m>
                <a:r>
                  <a:rPr lang="en-US" dirty="0"/>
                  <a:t> (and exact for linear solution)</a:t>
                </a:r>
              </a:p>
              <a:p>
                <a:r>
                  <a:rPr lang="en-US" dirty="0"/>
                  <a:t>Convergence verified manually</a:t>
                </a:r>
              </a:p>
            </p:txBody>
          </p:sp>
        </mc:Choice>
        <mc:Fallback xmlns="">
          <p:sp>
            <p:nvSpPr>
              <p:cNvPr id="3" name="Plassholder for innhold 2">
                <a:extLst>
                  <a:ext uri="{FF2B5EF4-FFF2-40B4-BE49-F238E27FC236}">
                    <a16:creationId xmlns:a16="http://schemas.microsoft.com/office/drawing/2014/main" id="{31A0FDF6-E251-13F8-C18D-FDDB669F17F7}"/>
                  </a:ext>
                </a:extLst>
              </p:cNvPr>
              <p:cNvSpPr>
                <a:spLocks noGrp="1" noRot="1" noChangeAspect="1" noMove="1" noResize="1" noEditPoints="1" noAdjustHandles="1" noChangeArrowheads="1" noChangeShapeType="1" noTextEdit="1"/>
              </p:cNvSpPr>
              <p:nvPr>
                <p:ph idx="1"/>
              </p:nvPr>
            </p:nvSpPr>
            <p:spPr>
              <a:xfrm>
                <a:off x="1120232" y="3204755"/>
                <a:ext cx="4147804" cy="2966043"/>
              </a:xfrm>
              <a:blipFill>
                <a:blip r:embed="rId3"/>
                <a:stretch>
                  <a:fillRect l="-1324"/>
                </a:stretch>
              </a:blipFill>
            </p:spPr>
            <p:txBody>
              <a:bodyPr/>
              <a:lstStyle/>
              <a:p>
                <a:r>
                  <a:rPr lang="en-US">
                    <a:noFill/>
                  </a:rPr>
                  <a:t> </a:t>
                </a:r>
              </a:p>
            </p:txBody>
          </p:sp>
        </mc:Fallback>
      </mc:AlternateContent>
      <p:pic>
        <p:nvPicPr>
          <p:cNvPr id="6" name="Bilde 5">
            <a:extLst>
              <a:ext uri="{FF2B5EF4-FFF2-40B4-BE49-F238E27FC236}">
                <a16:creationId xmlns:a16="http://schemas.microsoft.com/office/drawing/2014/main" id="{8D46CF7C-3528-D1AF-18A5-1BE1C76A7723}"/>
              </a:ext>
            </a:extLst>
          </p:cNvPr>
          <p:cNvPicPr>
            <a:picLocks noChangeAspect="1"/>
          </p:cNvPicPr>
          <p:nvPr/>
        </p:nvPicPr>
        <p:blipFill>
          <a:blip r:embed="rId4"/>
          <a:stretch>
            <a:fillRect/>
          </a:stretch>
        </p:blipFill>
        <p:spPr>
          <a:xfrm>
            <a:off x="6096000" y="1143000"/>
            <a:ext cx="5492377" cy="4091820"/>
          </a:xfrm>
          <a:prstGeom prst="rect">
            <a:avLst/>
          </a:prstGeom>
        </p:spPr>
      </p:pic>
      <p:sp>
        <p:nvSpPr>
          <p:cNvPr id="4" name="Plassholder for lysbildenummer 3">
            <a:extLst>
              <a:ext uri="{FF2B5EF4-FFF2-40B4-BE49-F238E27FC236}">
                <a16:creationId xmlns:a16="http://schemas.microsoft.com/office/drawing/2014/main" id="{F166E94C-65B7-A186-842C-A4148A481116}"/>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6</a:t>
            </a:fld>
            <a:endParaRPr lang="en-US"/>
          </a:p>
        </p:txBody>
      </p:sp>
    </p:spTree>
    <p:extLst>
      <p:ext uri="{BB962C8B-B14F-4D97-AF65-F5344CB8AC3E}">
        <p14:creationId xmlns:p14="http://schemas.microsoft.com/office/powerpoint/2010/main" val="1311685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2D29BF9-F861-778F-CCD4-CD4A15E20053}"/>
              </a:ext>
            </a:extLst>
          </p:cNvPr>
          <p:cNvSpPr>
            <a:spLocks noGrp="1"/>
          </p:cNvSpPr>
          <p:nvPr>
            <p:ph type="title"/>
          </p:nvPr>
        </p:nvSpPr>
        <p:spPr/>
        <p:txBody>
          <a:bodyPr/>
          <a:lstStyle/>
          <a:p>
            <a:r>
              <a:rPr lang="en-US"/>
              <a:t>Ex 2: Implicit Transient Solver</a:t>
            </a:r>
            <a:endParaRPr lang="en-US" dirty="0"/>
          </a:p>
        </p:txBody>
      </p:sp>
      <mc:AlternateContent xmlns:mc="http://schemas.openxmlformats.org/markup-compatibility/2006" xmlns:a14="http://schemas.microsoft.com/office/drawing/2010/main">
        <mc:Choice Requires="a14">
          <p:sp>
            <p:nvSpPr>
              <p:cNvPr id="3" name="Plassholder for innhold 2">
                <a:extLst>
                  <a:ext uri="{FF2B5EF4-FFF2-40B4-BE49-F238E27FC236}">
                    <a16:creationId xmlns:a16="http://schemas.microsoft.com/office/drawing/2014/main" id="{EC9CA087-4D37-2090-B196-A4229F8C68E0}"/>
                  </a:ext>
                </a:extLst>
              </p:cNvPr>
              <p:cNvSpPr>
                <a:spLocks noGrp="1"/>
              </p:cNvSpPr>
              <p:nvPr>
                <p:ph idx="1"/>
              </p:nvPr>
            </p:nvSpPr>
            <p:spPr/>
            <p:txBody>
              <a:bodyPr/>
              <a:lstStyle/>
              <a:p>
                <a:r>
                  <a:rPr lang="en-US" dirty="0"/>
                  <a:t>Fully implicit time stepping of diffusivity equation</a:t>
                </a:r>
              </a:p>
              <a:p>
                <a:r>
                  <a:rPr lang="en-US" dirty="0"/>
                  <a:t>Discretization gives tridiagonal system per timestep</a:t>
                </a:r>
              </a:p>
              <a:p>
                <a:r>
                  <a:rPr lang="en-US" dirty="0"/>
                  <a:t>Matrix structure of N = 4</a:t>
                </a:r>
              </a:p>
              <a:p>
                <a:r>
                  <a:rPr lang="en-US" dirty="0"/>
                  <a:t>Advantages: Stable for large </a:t>
                </a:r>
                <a14:m>
                  <m:oMath xmlns:m="http://schemas.openxmlformats.org/officeDocument/2006/math">
                    <m:r>
                      <m:rPr>
                        <m:nor/>
                      </m:rPr>
                      <a:rPr lang="el-GR"/>
                      <m:t>Δ</m:t>
                    </m:r>
                    <m:r>
                      <m:rPr>
                        <m:nor/>
                      </m:rPr>
                      <a:rPr lang="en-US" b="0" i="0" smtClean="0"/>
                      <m:t>t</m:t>
                    </m:r>
                  </m:oMath>
                </a14:m>
                <a:endParaRPr lang="en-US" dirty="0"/>
              </a:p>
            </p:txBody>
          </p:sp>
        </mc:Choice>
        <mc:Fallback xmlns="">
          <p:sp>
            <p:nvSpPr>
              <p:cNvPr id="3" name="Plassholder for innhold 2">
                <a:extLst>
                  <a:ext uri="{FF2B5EF4-FFF2-40B4-BE49-F238E27FC236}">
                    <a16:creationId xmlns:a16="http://schemas.microsoft.com/office/drawing/2014/main" id="{EC9CA087-4D37-2090-B196-A4229F8C68E0}"/>
                  </a:ext>
                </a:extLst>
              </p:cNvPr>
              <p:cNvSpPr>
                <a:spLocks noGrp="1" noRot="1" noChangeAspect="1" noMove="1" noResize="1" noEditPoints="1" noAdjustHandles="1" noChangeArrowheads="1" noChangeShapeType="1" noTextEdit="1"/>
              </p:cNvSpPr>
              <p:nvPr>
                <p:ph idx="1"/>
              </p:nvPr>
            </p:nvSpPr>
            <p:spPr>
              <a:blipFill>
                <a:blip r:embed="rId3"/>
                <a:stretch>
                  <a:fillRect l="-553"/>
                </a:stretch>
              </a:blipFill>
            </p:spPr>
            <p:txBody>
              <a:bodyPr/>
              <a:lstStyle/>
              <a:p>
                <a:r>
                  <a:rPr lang="en-US">
                    <a:noFill/>
                  </a:rPr>
                  <a:t> </a:t>
                </a:r>
              </a:p>
            </p:txBody>
          </p:sp>
        </mc:Fallback>
      </mc:AlternateContent>
      <p:sp>
        <p:nvSpPr>
          <p:cNvPr id="4" name="Plassholder for lysbildenummer 3">
            <a:extLst>
              <a:ext uri="{FF2B5EF4-FFF2-40B4-BE49-F238E27FC236}">
                <a16:creationId xmlns:a16="http://schemas.microsoft.com/office/drawing/2014/main" id="{F4BEEC2E-70DD-0878-C74D-83573BF70A4A}"/>
              </a:ext>
            </a:extLst>
          </p:cNvPr>
          <p:cNvSpPr>
            <a:spLocks noGrp="1"/>
          </p:cNvSpPr>
          <p:nvPr>
            <p:ph type="sldNum" sz="quarter" idx="12"/>
          </p:nvPr>
        </p:nvSpPr>
        <p:spPr/>
        <p:txBody>
          <a:bodyPr/>
          <a:lstStyle/>
          <a:p>
            <a:fld id="{719D7796-F675-488F-AC46-C88938C80352}" type="slidenum">
              <a:rPr lang="en-US" smtClean="0"/>
              <a:t>7</a:t>
            </a:fld>
            <a:endParaRPr lang="en-US"/>
          </a:p>
        </p:txBody>
      </p:sp>
      <p:pic>
        <p:nvPicPr>
          <p:cNvPr id="5" name="Bilde 4">
            <a:extLst>
              <a:ext uri="{FF2B5EF4-FFF2-40B4-BE49-F238E27FC236}">
                <a16:creationId xmlns:a16="http://schemas.microsoft.com/office/drawing/2014/main" id="{C6CDF30B-F562-E802-A174-FFE16772CA26}"/>
              </a:ext>
            </a:extLst>
          </p:cNvPr>
          <p:cNvPicPr>
            <a:picLocks noChangeAspect="1"/>
          </p:cNvPicPr>
          <p:nvPr/>
        </p:nvPicPr>
        <p:blipFill>
          <a:blip r:embed="rId4"/>
          <a:stretch>
            <a:fillRect/>
          </a:stretch>
        </p:blipFill>
        <p:spPr>
          <a:xfrm>
            <a:off x="1088136" y="4803083"/>
            <a:ext cx="2686425" cy="1371791"/>
          </a:xfrm>
          <a:prstGeom prst="rect">
            <a:avLst/>
          </a:prstGeom>
        </p:spPr>
      </p:pic>
    </p:spTree>
    <p:extLst>
      <p:ext uri="{BB962C8B-B14F-4D97-AF65-F5344CB8AC3E}">
        <p14:creationId xmlns:p14="http://schemas.microsoft.com/office/powerpoint/2010/main" val="3600804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0DC026F-444B-46C9-BCBE-329183BF5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1D0EA80A-F881-BD97-D3ED-F8F18BB56FC1}"/>
              </a:ext>
            </a:extLst>
          </p:cNvPr>
          <p:cNvSpPr>
            <a:spLocks noGrp="1"/>
          </p:cNvSpPr>
          <p:nvPr>
            <p:ph type="title"/>
          </p:nvPr>
        </p:nvSpPr>
        <p:spPr>
          <a:xfrm>
            <a:off x="1088136" y="1088136"/>
            <a:ext cx="10270671" cy="1188720"/>
          </a:xfrm>
        </p:spPr>
        <p:txBody>
          <a:bodyPr>
            <a:normAutofit/>
          </a:bodyPr>
          <a:lstStyle/>
          <a:p>
            <a:r>
              <a:rPr lang="en-US" sz="4000"/>
              <a:t>Ex 3: Comparison to Line-Source Solution</a:t>
            </a:r>
          </a:p>
        </p:txBody>
      </p:sp>
      <p:cxnSp>
        <p:nvCxnSpPr>
          <p:cNvPr id="13" name="Straight Connector 1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Plassholder for innhold 2">
            <a:extLst>
              <a:ext uri="{FF2B5EF4-FFF2-40B4-BE49-F238E27FC236}">
                <a16:creationId xmlns:a16="http://schemas.microsoft.com/office/drawing/2014/main" id="{51EED449-8CBD-615D-EECB-A63C71E402B7}"/>
              </a:ext>
            </a:extLst>
          </p:cNvPr>
          <p:cNvSpPr>
            <a:spLocks noGrp="1"/>
          </p:cNvSpPr>
          <p:nvPr>
            <p:ph idx="1"/>
          </p:nvPr>
        </p:nvSpPr>
        <p:spPr>
          <a:xfrm>
            <a:off x="1096684" y="2593181"/>
            <a:ext cx="4868347" cy="3693319"/>
          </a:xfrm>
        </p:spPr>
        <p:txBody>
          <a:bodyPr>
            <a:normAutofit/>
          </a:bodyPr>
          <a:lstStyle/>
          <a:p>
            <a:r>
              <a:rPr lang="en-US" dirty="0"/>
              <a:t>Theis (line-source) solution valid in intermediate time</a:t>
            </a:r>
          </a:p>
          <a:p>
            <a:r>
              <a:rPr lang="en-US" dirty="0"/>
              <a:t>Numerical vs analytical</a:t>
            </a:r>
          </a:p>
          <a:p>
            <a:pPr lvl="1"/>
            <a:r>
              <a:rPr lang="en-US" dirty="0"/>
              <a:t>Discretization effect at early times</a:t>
            </a:r>
          </a:p>
          <a:p>
            <a:pPr lvl="1"/>
            <a:r>
              <a:rPr lang="en-US" dirty="0"/>
              <a:t>Excellent match at intermediate times</a:t>
            </a:r>
          </a:p>
          <a:p>
            <a:pPr lvl="1"/>
            <a:r>
              <a:rPr lang="en-US" dirty="0"/>
              <a:t>Boundary effects at late times</a:t>
            </a:r>
          </a:p>
          <a:p>
            <a:r>
              <a:rPr lang="en-US" dirty="0"/>
              <a:t>Increasing N improves early/intermediate accuracy</a:t>
            </a:r>
          </a:p>
        </p:txBody>
      </p:sp>
      <p:pic>
        <p:nvPicPr>
          <p:cNvPr id="6" name="Bilde 5">
            <a:extLst>
              <a:ext uri="{FF2B5EF4-FFF2-40B4-BE49-F238E27FC236}">
                <a16:creationId xmlns:a16="http://schemas.microsoft.com/office/drawing/2014/main" id="{AFCAA087-FEED-785C-4707-7E324CFC6396}"/>
              </a:ext>
            </a:extLst>
          </p:cNvPr>
          <p:cNvPicPr>
            <a:picLocks noChangeAspect="1"/>
          </p:cNvPicPr>
          <p:nvPr/>
        </p:nvPicPr>
        <p:blipFill>
          <a:blip r:embed="rId3"/>
          <a:srcRect l="82" r="-2" b="-2"/>
          <a:stretch>
            <a:fillRect/>
          </a:stretch>
        </p:blipFill>
        <p:spPr>
          <a:xfrm>
            <a:off x="6705600" y="2657475"/>
            <a:ext cx="5486401" cy="4200526"/>
          </a:xfrm>
          <a:prstGeom prst="rect">
            <a:avLst/>
          </a:prstGeom>
        </p:spPr>
      </p:pic>
      <p:sp>
        <p:nvSpPr>
          <p:cNvPr id="4" name="Plassholder for lysbildenummer 3">
            <a:extLst>
              <a:ext uri="{FF2B5EF4-FFF2-40B4-BE49-F238E27FC236}">
                <a16:creationId xmlns:a16="http://schemas.microsoft.com/office/drawing/2014/main" id="{F955AF24-D136-E3A4-CEBE-8F6C2E1DAB81}"/>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a:solidFill>
                  <a:srgbClr val="FFFFFF"/>
                </a:solidFill>
              </a:rPr>
              <a:pPr>
                <a:spcAft>
                  <a:spcPts val="600"/>
                </a:spcAft>
              </a:pPr>
              <a:t>8</a:t>
            </a:fld>
            <a:endParaRPr lang="en-US">
              <a:solidFill>
                <a:srgbClr val="FFFFFF"/>
              </a:solidFill>
            </a:endParaRPr>
          </a:p>
        </p:txBody>
      </p:sp>
    </p:spTree>
    <p:extLst>
      <p:ext uri="{BB962C8B-B14F-4D97-AF65-F5344CB8AC3E}">
        <p14:creationId xmlns:p14="http://schemas.microsoft.com/office/powerpoint/2010/main" val="1558475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3" name="Rectangle 3085">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33DC3E9E-F546-CA37-11F9-3DF754126349}"/>
              </a:ext>
            </a:extLst>
          </p:cNvPr>
          <p:cNvSpPr>
            <a:spLocks noGrp="1"/>
          </p:cNvSpPr>
          <p:nvPr>
            <p:ph type="title"/>
          </p:nvPr>
        </p:nvSpPr>
        <p:spPr>
          <a:xfrm>
            <a:off x="1091203" y="1091868"/>
            <a:ext cx="5077479" cy="2042160"/>
          </a:xfrm>
        </p:spPr>
        <p:txBody>
          <a:bodyPr>
            <a:normAutofit/>
          </a:bodyPr>
          <a:lstStyle/>
          <a:p>
            <a:r>
              <a:rPr lang="en-US" sz="4000"/>
              <a:t>Solver Performance &amp; Scaling</a:t>
            </a:r>
          </a:p>
        </p:txBody>
      </p:sp>
      <p:cxnSp>
        <p:nvCxnSpPr>
          <p:cNvPr id="3084" name="Straight Connector 3087">
            <a:extLst>
              <a:ext uri="{FF2B5EF4-FFF2-40B4-BE49-F238E27FC236}">
                <a16:creationId xmlns:a16="http://schemas.microsoft.com/office/drawing/2014/main" id="{E55FB8EA-5471-4074-88CA-98AA3AD981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12"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Plassholder for innhold 2">
            <a:extLst>
              <a:ext uri="{FF2B5EF4-FFF2-40B4-BE49-F238E27FC236}">
                <a16:creationId xmlns:a16="http://schemas.microsoft.com/office/drawing/2014/main" id="{0B9E11A0-C1F7-7276-A7AF-811CEB7E9126}"/>
              </a:ext>
            </a:extLst>
          </p:cNvPr>
          <p:cNvSpPr>
            <a:spLocks noGrp="1"/>
          </p:cNvSpPr>
          <p:nvPr>
            <p:ph idx="1"/>
          </p:nvPr>
        </p:nvSpPr>
        <p:spPr>
          <a:xfrm>
            <a:off x="1120232" y="3204755"/>
            <a:ext cx="4975768" cy="3028704"/>
          </a:xfrm>
        </p:spPr>
        <p:txBody>
          <a:bodyPr>
            <a:normAutofit/>
          </a:bodyPr>
          <a:lstStyle/>
          <a:p>
            <a:r>
              <a:rPr lang="en-US" dirty="0"/>
              <a:t>Solvers</a:t>
            </a:r>
          </a:p>
          <a:p>
            <a:pPr lvl="1"/>
            <a:r>
              <a:rPr lang="en-US" dirty="0"/>
              <a:t>Dense (NumPy) -&gt; Cubic scaling</a:t>
            </a:r>
          </a:p>
          <a:p>
            <a:pPr lvl="1"/>
            <a:r>
              <a:rPr lang="en-US" dirty="0"/>
              <a:t>Sparse (SciPy) -&gt; Better at mid range N</a:t>
            </a:r>
          </a:p>
          <a:p>
            <a:pPr lvl="1"/>
            <a:r>
              <a:rPr lang="en-US" dirty="0"/>
              <a:t>Thomas algorithm -&gt; Linear scaling, best overall</a:t>
            </a:r>
          </a:p>
        </p:txBody>
      </p:sp>
      <p:pic>
        <p:nvPicPr>
          <p:cNvPr id="3074" name="Picture 2" descr="Et bilde som inneholder tekst, Plottdiagram, line, diagram&#10;&#10;KI-generert innhold kan være feil.">
            <a:extLst>
              <a:ext uri="{FF2B5EF4-FFF2-40B4-BE49-F238E27FC236}">
                <a16:creationId xmlns:a16="http://schemas.microsoft.com/office/drawing/2014/main" id="{B227A7A2-18E7-57A8-8434-314F48D5A0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 b="6678"/>
          <a:stretch>
            <a:fillRect/>
          </a:stretch>
        </p:blipFill>
        <p:spPr bwMode="auto">
          <a:xfrm>
            <a:off x="7385539" y="1143000"/>
            <a:ext cx="3615765" cy="2286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Et bilde som inneholder line, tekst, Plottdiagram, diagram&#10;&#10;KI-generert innhold kan være feil.">
            <a:extLst>
              <a:ext uri="{FF2B5EF4-FFF2-40B4-BE49-F238E27FC236}">
                <a16:creationId xmlns:a16="http://schemas.microsoft.com/office/drawing/2014/main" id="{09F7510B-29AB-DDC6-6A8D-59B79099DEC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385538" y="3760306"/>
            <a:ext cx="3854547" cy="1011818"/>
          </a:xfrm>
          <a:prstGeom prst="rect">
            <a:avLst/>
          </a:prstGeom>
          <a:noFill/>
          <a:extLst>
            <a:ext uri="{909E8E84-426E-40DD-AFC4-6F175D3DCCD1}">
              <a14:hiddenFill xmlns:a14="http://schemas.microsoft.com/office/drawing/2010/main">
                <a:solidFill>
                  <a:srgbClr val="FFFFFF"/>
                </a:solidFill>
              </a14:hiddenFill>
            </a:ext>
          </a:extLst>
        </p:spPr>
      </p:pic>
      <p:sp>
        <p:nvSpPr>
          <p:cNvPr id="4" name="Plassholder for lysbildenummer 3">
            <a:extLst>
              <a:ext uri="{FF2B5EF4-FFF2-40B4-BE49-F238E27FC236}">
                <a16:creationId xmlns:a16="http://schemas.microsoft.com/office/drawing/2014/main" id="{3D5F19FA-BE47-83C7-236E-05401B7423AB}"/>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a:pPr>
                <a:spcAft>
                  <a:spcPts val="600"/>
                </a:spcAft>
              </a:pPr>
              <a:t>9</a:t>
            </a:fld>
            <a:endParaRPr lang="en-US"/>
          </a:p>
        </p:txBody>
      </p:sp>
    </p:spTree>
    <p:extLst>
      <p:ext uri="{BB962C8B-B14F-4D97-AF65-F5344CB8AC3E}">
        <p14:creationId xmlns:p14="http://schemas.microsoft.com/office/powerpoint/2010/main" val="3022873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4C3A9562-A2F1-8455-CF0D-AB48A2C91B07}"/>
              </a:ext>
            </a:extLst>
          </p:cNvPr>
          <p:cNvSpPr>
            <a:spLocks noGrp="1"/>
          </p:cNvSpPr>
          <p:nvPr>
            <p:ph type="title"/>
          </p:nvPr>
        </p:nvSpPr>
        <p:spPr>
          <a:xfrm>
            <a:off x="1091204" y="1091868"/>
            <a:ext cx="4147804" cy="2042160"/>
          </a:xfrm>
        </p:spPr>
        <p:txBody>
          <a:bodyPr>
            <a:normAutofit/>
          </a:bodyPr>
          <a:lstStyle/>
          <a:p>
            <a:r>
              <a:rPr lang="en-US" sz="4000"/>
              <a:t>Ex 4: Well Test Matching</a:t>
            </a:r>
          </a:p>
        </p:txBody>
      </p:sp>
      <p:cxnSp>
        <p:nvCxnSpPr>
          <p:cNvPr id="22" name="Straight Connector 21">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80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Plassholder for innhold 2">
                <a:extLst>
                  <a:ext uri="{FF2B5EF4-FFF2-40B4-BE49-F238E27FC236}">
                    <a16:creationId xmlns:a16="http://schemas.microsoft.com/office/drawing/2014/main" id="{3820E8BD-A70D-FF97-71EC-E8420CF7B27F}"/>
                  </a:ext>
                </a:extLst>
              </p:cNvPr>
              <p:cNvSpPr>
                <a:spLocks noGrp="1"/>
              </p:cNvSpPr>
              <p:nvPr>
                <p:ph idx="1"/>
              </p:nvPr>
            </p:nvSpPr>
            <p:spPr>
              <a:xfrm>
                <a:off x="1120232" y="3204755"/>
                <a:ext cx="4147804" cy="2966043"/>
              </a:xfrm>
            </p:spPr>
            <p:txBody>
              <a:bodyPr>
                <a:normAutofit/>
              </a:bodyPr>
              <a:lstStyle/>
              <a:p>
                <a:r>
                  <a:rPr lang="en-US" dirty="0"/>
                  <a:t>Observed well pressure data loaded from well_bhp.dat</a:t>
                </a:r>
              </a:p>
              <a:p>
                <a:r>
                  <a:rPr lang="en-US" dirty="0"/>
                  <a:t>Conversion to SI units</a:t>
                </a:r>
              </a:p>
              <a:p>
                <a:r>
                  <a:rPr lang="en-US" dirty="0"/>
                  <a:t>Scatter plot of well pressure vs time</a:t>
                </a:r>
              </a:p>
              <a:p>
                <a:r>
                  <a:rPr lang="en-US" dirty="0"/>
                  <a:t>Deriving a formula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𝑤</m:t>
                        </m:r>
                      </m:sub>
                    </m:sSub>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𝑡𝑒𝑟𝑚𝑠</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oMath>
                </a14:m>
                <a:endParaRPr lang="en-US" dirty="0"/>
              </a:p>
              <a:p>
                <a:endParaRPr lang="en-US" dirty="0"/>
              </a:p>
              <a:p>
                <a:endParaRPr lang="en-US" dirty="0"/>
              </a:p>
            </p:txBody>
          </p:sp>
        </mc:Choice>
        <mc:Fallback xmlns="">
          <p:sp>
            <p:nvSpPr>
              <p:cNvPr id="3" name="Plassholder for innhold 2">
                <a:extLst>
                  <a:ext uri="{FF2B5EF4-FFF2-40B4-BE49-F238E27FC236}">
                    <a16:creationId xmlns:a16="http://schemas.microsoft.com/office/drawing/2014/main" id="{3820E8BD-A70D-FF97-71EC-E8420CF7B27F}"/>
                  </a:ext>
                </a:extLst>
              </p:cNvPr>
              <p:cNvSpPr>
                <a:spLocks noGrp="1" noRot="1" noChangeAspect="1" noMove="1" noResize="1" noEditPoints="1" noAdjustHandles="1" noChangeArrowheads="1" noChangeShapeType="1" noTextEdit="1"/>
              </p:cNvSpPr>
              <p:nvPr>
                <p:ph idx="1"/>
              </p:nvPr>
            </p:nvSpPr>
            <p:spPr>
              <a:xfrm>
                <a:off x="1120232" y="3204755"/>
                <a:ext cx="4147804" cy="2966043"/>
              </a:xfrm>
              <a:blipFill>
                <a:blip r:embed="rId3"/>
                <a:stretch>
                  <a:fillRect l="-1324"/>
                </a:stretch>
              </a:blipFill>
            </p:spPr>
            <p:txBody>
              <a:bodyPr/>
              <a:lstStyle/>
              <a:p>
                <a:r>
                  <a:rPr lang="en-US">
                    <a:noFill/>
                  </a:rPr>
                  <a:t> </a:t>
                </a:r>
              </a:p>
            </p:txBody>
          </p:sp>
        </mc:Fallback>
      </mc:AlternateContent>
      <p:pic>
        <p:nvPicPr>
          <p:cNvPr id="6" name="Bilde 5">
            <a:extLst>
              <a:ext uri="{FF2B5EF4-FFF2-40B4-BE49-F238E27FC236}">
                <a16:creationId xmlns:a16="http://schemas.microsoft.com/office/drawing/2014/main" id="{3A6E0F8B-DCF1-29DE-0E67-E035781885EE}"/>
              </a:ext>
            </a:extLst>
          </p:cNvPr>
          <p:cNvPicPr>
            <a:picLocks noChangeAspect="1"/>
          </p:cNvPicPr>
          <p:nvPr/>
        </p:nvPicPr>
        <p:blipFill>
          <a:blip r:embed="rId4"/>
          <a:stretch>
            <a:fillRect/>
          </a:stretch>
        </p:blipFill>
        <p:spPr>
          <a:xfrm>
            <a:off x="6096000" y="1143000"/>
            <a:ext cx="5492377" cy="3611238"/>
          </a:xfrm>
          <a:prstGeom prst="rect">
            <a:avLst/>
          </a:prstGeom>
        </p:spPr>
      </p:pic>
      <p:sp>
        <p:nvSpPr>
          <p:cNvPr id="4" name="Plassholder for lysbildenummer 3">
            <a:extLst>
              <a:ext uri="{FF2B5EF4-FFF2-40B4-BE49-F238E27FC236}">
                <a16:creationId xmlns:a16="http://schemas.microsoft.com/office/drawing/2014/main" id="{4F787A50-22FD-92B0-D736-943543F8B44B}"/>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10</a:t>
            </a:fld>
            <a:endParaRPr lang="en-US"/>
          </a:p>
        </p:txBody>
      </p:sp>
    </p:spTree>
    <p:extLst>
      <p:ext uri="{BB962C8B-B14F-4D97-AF65-F5344CB8AC3E}">
        <p14:creationId xmlns:p14="http://schemas.microsoft.com/office/powerpoint/2010/main" val="2326131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2">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6E9A423D-C6E8-4AA7-148E-DDE8AD299C0C}"/>
              </a:ext>
            </a:extLst>
          </p:cNvPr>
          <p:cNvSpPr>
            <a:spLocks noGrp="1"/>
          </p:cNvSpPr>
          <p:nvPr>
            <p:ph type="title"/>
          </p:nvPr>
        </p:nvSpPr>
        <p:spPr>
          <a:xfrm>
            <a:off x="1091204" y="1091868"/>
            <a:ext cx="4147804" cy="2042160"/>
          </a:xfrm>
        </p:spPr>
        <p:txBody>
          <a:bodyPr>
            <a:normAutofit/>
          </a:bodyPr>
          <a:lstStyle/>
          <a:p>
            <a:r>
              <a:rPr lang="en-US" sz="3700"/>
              <a:t>Matching Numerical Model to </a:t>
            </a:r>
            <a:br>
              <a:rPr lang="en-US" sz="3700"/>
            </a:br>
            <a:r>
              <a:rPr lang="en-US" sz="3700"/>
              <a:t>Field Data</a:t>
            </a:r>
          </a:p>
        </p:txBody>
      </p:sp>
      <p:cxnSp>
        <p:nvCxnSpPr>
          <p:cNvPr id="24" name="Straight Connector 14">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800" y="1186344"/>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Plassholder for innhold 2">
                <a:extLst>
                  <a:ext uri="{FF2B5EF4-FFF2-40B4-BE49-F238E27FC236}">
                    <a16:creationId xmlns:a16="http://schemas.microsoft.com/office/drawing/2014/main" id="{2A31376E-97D2-9162-19AC-81CD24558366}"/>
                  </a:ext>
                </a:extLst>
              </p:cNvPr>
              <p:cNvSpPr>
                <a:spLocks noGrp="1"/>
              </p:cNvSpPr>
              <p:nvPr>
                <p:ph idx="1"/>
              </p:nvPr>
            </p:nvSpPr>
            <p:spPr>
              <a:xfrm>
                <a:off x="1120232" y="3204755"/>
                <a:ext cx="4147804" cy="2966043"/>
              </a:xfrm>
            </p:spPr>
            <p:txBody>
              <a:bodyPr>
                <a:normAutofit/>
              </a:bodyPr>
              <a:lstStyle/>
              <a:p>
                <a:pPr>
                  <a:lnSpc>
                    <a:spcPct val="120000"/>
                  </a:lnSpc>
                </a:pPr>
                <a:r>
                  <a:rPr lang="en-US" sz="1400"/>
                  <a:t>Parameter fitting </a:t>
                </a:r>
                <a14:m>
                  <m:oMath xmlns:m="http://schemas.openxmlformats.org/officeDocument/2006/math">
                    <m:r>
                      <a:rPr lang="en-US" sz="1400" b="0" i="1" smtClean="0">
                        <a:latin typeface="Cambria Math" panose="02040503050406030204" pitchFamily="18" charset="0"/>
                      </a:rPr>
                      <m:t>𝑘</m:t>
                    </m:r>
                    <m:r>
                      <a:rPr lang="en-US" sz="1400" b="0" i="1" smtClean="0">
                        <a:latin typeface="Cambria Math" panose="02040503050406030204" pitchFamily="18" charset="0"/>
                      </a:rPr>
                      <m:t>, </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 </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𝑟</m:t>
                        </m:r>
                      </m:e>
                      <m:sub>
                        <m:r>
                          <a:rPr lang="en-US" sz="1400" b="0" i="1" smtClean="0">
                            <a:latin typeface="Cambria Math" panose="02040503050406030204" pitchFamily="18" charset="0"/>
                          </a:rPr>
                          <m:t>𝑒</m:t>
                        </m:r>
                      </m:sub>
                    </m:sSub>
                  </m:oMath>
                </a14:m>
                <a:endParaRPr lang="en-US" sz="1400" b="0"/>
              </a:p>
              <a:p>
                <a:pPr>
                  <a:lnSpc>
                    <a:spcPct val="120000"/>
                  </a:lnSpc>
                </a:pPr>
                <a:r>
                  <a:rPr lang="en-US" sz="1400"/>
                  <a:t>Curve fit between measured data, numerical well pressure and Theis solution</a:t>
                </a:r>
              </a:p>
              <a:p>
                <a:pPr>
                  <a:lnSpc>
                    <a:spcPct val="120000"/>
                  </a:lnSpc>
                </a:pPr>
                <a:r>
                  <a:rPr lang="en-US" sz="1400"/>
                  <a:t>Interpretation</a:t>
                </a:r>
              </a:p>
              <a:p>
                <a:pPr lvl="1">
                  <a:lnSpc>
                    <a:spcPct val="120000"/>
                  </a:lnSpc>
                </a:pPr>
                <a:r>
                  <a:rPr lang="en-US" sz="1400"/>
                  <a:t>Early/intermediate match: Infinite acting</a:t>
                </a:r>
              </a:p>
              <a:p>
                <a:pPr lvl="1">
                  <a:lnSpc>
                    <a:spcPct val="120000"/>
                  </a:lnSpc>
                </a:pPr>
                <a:r>
                  <a:rPr lang="en-US" sz="1400"/>
                  <a:t>Late plateau time: Boundary reached</a:t>
                </a:r>
              </a:p>
              <a:p>
                <a:pPr lvl="1">
                  <a:lnSpc>
                    <a:spcPct val="120000"/>
                  </a:lnSpc>
                </a:pPr>
                <a:r>
                  <a:rPr lang="en-US" sz="1400"/>
                  <a:t>Line source keeps declining (no boundary)</a:t>
                </a:r>
              </a:p>
            </p:txBody>
          </p:sp>
        </mc:Choice>
        <mc:Fallback xmlns="">
          <p:sp>
            <p:nvSpPr>
              <p:cNvPr id="3" name="Plassholder for innhold 2">
                <a:extLst>
                  <a:ext uri="{FF2B5EF4-FFF2-40B4-BE49-F238E27FC236}">
                    <a16:creationId xmlns:a16="http://schemas.microsoft.com/office/drawing/2014/main" id="{2A31376E-97D2-9162-19AC-81CD24558366}"/>
                  </a:ext>
                </a:extLst>
              </p:cNvPr>
              <p:cNvSpPr>
                <a:spLocks noGrp="1" noRot="1" noChangeAspect="1" noMove="1" noResize="1" noEditPoints="1" noAdjustHandles="1" noChangeArrowheads="1" noChangeShapeType="1" noTextEdit="1"/>
              </p:cNvSpPr>
              <p:nvPr>
                <p:ph idx="1"/>
              </p:nvPr>
            </p:nvSpPr>
            <p:spPr>
              <a:xfrm>
                <a:off x="1120232" y="3204755"/>
                <a:ext cx="4147804" cy="2966043"/>
              </a:xfrm>
              <a:blipFill>
                <a:blip r:embed="rId3"/>
                <a:stretch>
                  <a:fillRect l="-441"/>
                </a:stretch>
              </a:blipFill>
            </p:spPr>
            <p:txBody>
              <a:bodyPr/>
              <a:lstStyle/>
              <a:p>
                <a:r>
                  <a:rPr lang="en-US">
                    <a:noFill/>
                  </a:rPr>
                  <a:t> </a:t>
                </a:r>
              </a:p>
            </p:txBody>
          </p:sp>
        </mc:Fallback>
      </mc:AlternateContent>
      <p:pic>
        <p:nvPicPr>
          <p:cNvPr id="8" name="Bilde 7">
            <a:extLst>
              <a:ext uri="{FF2B5EF4-FFF2-40B4-BE49-F238E27FC236}">
                <a16:creationId xmlns:a16="http://schemas.microsoft.com/office/drawing/2014/main" id="{29A5AF6C-A065-4E82-07B9-D70384603142}"/>
              </a:ext>
            </a:extLst>
          </p:cNvPr>
          <p:cNvPicPr>
            <a:picLocks noChangeAspect="1"/>
          </p:cNvPicPr>
          <p:nvPr/>
        </p:nvPicPr>
        <p:blipFill>
          <a:blip r:embed="rId4"/>
          <a:stretch>
            <a:fillRect/>
          </a:stretch>
        </p:blipFill>
        <p:spPr>
          <a:xfrm>
            <a:off x="6096000" y="1143000"/>
            <a:ext cx="5492377" cy="3556313"/>
          </a:xfrm>
          <a:prstGeom prst="rect">
            <a:avLst/>
          </a:prstGeom>
        </p:spPr>
      </p:pic>
      <p:sp>
        <p:nvSpPr>
          <p:cNvPr id="4" name="Plassholder for lysbildenummer 3">
            <a:extLst>
              <a:ext uri="{FF2B5EF4-FFF2-40B4-BE49-F238E27FC236}">
                <a16:creationId xmlns:a16="http://schemas.microsoft.com/office/drawing/2014/main" id="{D9D04EAA-8DD9-DFEE-45B7-866C1F669B6C}"/>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11</a:t>
            </a:fld>
            <a:endParaRPr lang="en-US"/>
          </a:p>
        </p:txBody>
      </p:sp>
    </p:spTree>
    <p:extLst>
      <p:ext uri="{BB962C8B-B14F-4D97-AF65-F5344CB8AC3E}">
        <p14:creationId xmlns:p14="http://schemas.microsoft.com/office/powerpoint/2010/main" val="2003498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tel 1">
                <a:extLst>
                  <a:ext uri="{FF2B5EF4-FFF2-40B4-BE49-F238E27FC236}">
                    <a16:creationId xmlns:a16="http://schemas.microsoft.com/office/drawing/2014/main" id="{272153E3-71B5-041E-5918-3521166DC327}"/>
                  </a:ext>
                </a:extLst>
              </p:cNvPr>
              <p:cNvSpPr>
                <a:spLocks noGrp="1"/>
              </p:cNvSpPr>
              <p:nvPr>
                <p:ph type="title"/>
              </p:nvPr>
            </p:nvSpPr>
            <p:spPr/>
            <p:txBody>
              <a:bodyPr/>
              <a:lstStyle/>
              <a:p>
                <a:r>
                  <a:rPr lang="en-US" dirty="0"/>
                  <a:t>Reservoir Volume from Fitted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𝒓</m:t>
                        </m:r>
                      </m:e>
                      <m:sub>
                        <m:r>
                          <a:rPr lang="en-US" b="1" i="1" smtClean="0">
                            <a:latin typeface="Cambria Math" panose="02040503050406030204" pitchFamily="18" charset="0"/>
                          </a:rPr>
                          <m:t>𝒆</m:t>
                        </m:r>
                      </m:sub>
                    </m:sSub>
                  </m:oMath>
                </a14:m>
                <a:endParaRPr lang="en-US" dirty="0"/>
              </a:p>
            </p:txBody>
          </p:sp>
        </mc:Choice>
        <mc:Fallback xmlns="">
          <p:sp>
            <p:nvSpPr>
              <p:cNvPr id="2" name="Tittel 1">
                <a:extLst>
                  <a:ext uri="{FF2B5EF4-FFF2-40B4-BE49-F238E27FC236}">
                    <a16:creationId xmlns:a16="http://schemas.microsoft.com/office/drawing/2014/main" id="{272153E3-71B5-041E-5918-3521166DC327}"/>
                  </a:ext>
                </a:extLst>
              </p:cNvPr>
              <p:cNvSpPr>
                <a:spLocks noGrp="1" noRot="1" noChangeAspect="1" noMove="1" noResize="1" noEditPoints="1" noAdjustHandles="1" noChangeArrowheads="1" noChangeShapeType="1" noTextEdit="1"/>
              </p:cNvSpPr>
              <p:nvPr>
                <p:ph type="title"/>
              </p:nvPr>
            </p:nvSpPr>
            <p:spPr>
              <a:blipFill>
                <a:blip r:embed="rId3"/>
                <a:stretch>
                  <a:fillRect l="-2520" t="-17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Plassholder for innhold 2">
                <a:extLst>
                  <a:ext uri="{FF2B5EF4-FFF2-40B4-BE49-F238E27FC236}">
                    <a16:creationId xmlns:a16="http://schemas.microsoft.com/office/drawing/2014/main" id="{6691E7BA-2774-3953-B20A-662BEBB372B7}"/>
                  </a:ext>
                </a:extLst>
              </p:cNvPr>
              <p:cNvSpPr>
                <a:spLocks noGrp="1"/>
              </p:cNvSpPr>
              <p:nvPr>
                <p:ph idx="1"/>
              </p:nvPr>
            </p:nvSpPr>
            <p:spPr/>
            <p: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𝑤</m:t>
                        </m:r>
                      </m:sub>
                    </m:sSub>
                    <m:r>
                      <a:rPr lang="en-US" b="0" i="1" smtClean="0">
                        <a:latin typeface="Cambria Math" panose="02040503050406030204" pitchFamily="18" charset="0"/>
                      </a:rPr>
                      <m:t>=</m:t>
                    </m:r>
                    <m:r>
                      <m:rPr>
                        <m:nor/>
                      </m:rPr>
                      <a:rPr lang="el-GR"/>
                      <m:t>ϕπ</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𝑒</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𝑤</m:t>
                            </m:r>
                          </m:sub>
                          <m:sup>
                            <m:r>
                              <a:rPr lang="en-US" b="0" i="1" smtClean="0">
                                <a:latin typeface="Cambria Math" panose="02040503050406030204" pitchFamily="18" charset="0"/>
                              </a:rPr>
                              <m:t>2</m:t>
                            </m:r>
                          </m:sup>
                        </m:sSubSup>
                      </m:e>
                    </m:d>
                    <m:r>
                      <a:rPr lang="en-US" b="0" i="1" smtClean="0">
                        <a:latin typeface="Cambria Math" panose="02040503050406030204" pitchFamily="18" charset="0"/>
                      </a:rPr>
                      <m:t>h</m:t>
                    </m:r>
                  </m:oMath>
                </a14:m>
                <a:endParaRPr lang="en-US" dirty="0"/>
              </a:p>
              <a:p>
                <a:r>
                  <a:rPr lang="en-US" dirty="0"/>
                  <a:t>Based fitting 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𝑒</m:t>
                        </m:r>
                      </m:sub>
                    </m:sSub>
                  </m:oMath>
                </a14:m>
                <a:endParaRPr lang="en-US" b="0" dirty="0"/>
              </a:p>
              <a:p>
                <a:r>
                  <a:rPr lang="en-US" dirty="0"/>
                  <a:t>Assumes homogenous porosity and water saturation = 1</a:t>
                </a:r>
              </a:p>
            </p:txBody>
          </p:sp>
        </mc:Choice>
        <mc:Fallback xmlns="">
          <p:sp>
            <p:nvSpPr>
              <p:cNvPr id="3" name="Plassholder for innhold 2">
                <a:extLst>
                  <a:ext uri="{FF2B5EF4-FFF2-40B4-BE49-F238E27FC236}">
                    <a16:creationId xmlns:a16="http://schemas.microsoft.com/office/drawing/2014/main" id="{6691E7BA-2774-3953-B20A-662BEBB372B7}"/>
                  </a:ext>
                </a:extLst>
              </p:cNvPr>
              <p:cNvSpPr>
                <a:spLocks noGrp="1" noRot="1" noChangeAspect="1" noMove="1" noResize="1" noEditPoints="1" noAdjustHandles="1" noChangeArrowheads="1" noChangeShapeType="1" noTextEdit="1"/>
              </p:cNvSpPr>
              <p:nvPr>
                <p:ph idx="1"/>
              </p:nvPr>
            </p:nvSpPr>
            <p:spPr>
              <a:blipFill>
                <a:blip r:embed="rId4"/>
                <a:stretch>
                  <a:fillRect l="-553"/>
                </a:stretch>
              </a:blipFill>
            </p:spPr>
            <p:txBody>
              <a:bodyPr/>
              <a:lstStyle/>
              <a:p>
                <a:r>
                  <a:rPr lang="en-US">
                    <a:noFill/>
                  </a:rPr>
                  <a:t> </a:t>
                </a:r>
              </a:p>
            </p:txBody>
          </p:sp>
        </mc:Fallback>
      </mc:AlternateContent>
      <p:sp>
        <p:nvSpPr>
          <p:cNvPr id="4" name="Plassholder for lysbildenummer 3">
            <a:extLst>
              <a:ext uri="{FF2B5EF4-FFF2-40B4-BE49-F238E27FC236}">
                <a16:creationId xmlns:a16="http://schemas.microsoft.com/office/drawing/2014/main" id="{B8074787-6BFA-FF56-7EE4-71FB88D3EE01}"/>
              </a:ext>
            </a:extLst>
          </p:cNvPr>
          <p:cNvSpPr>
            <a:spLocks noGrp="1"/>
          </p:cNvSpPr>
          <p:nvPr>
            <p:ph type="sldNum" sz="quarter" idx="12"/>
          </p:nvPr>
        </p:nvSpPr>
        <p:spPr/>
        <p:txBody>
          <a:bodyPr/>
          <a:lstStyle/>
          <a:p>
            <a:fld id="{719D7796-F675-488F-AC46-C88938C80352}" type="slidenum">
              <a:rPr lang="en-US" smtClean="0"/>
              <a:t>12</a:t>
            </a:fld>
            <a:endParaRPr lang="en-US"/>
          </a:p>
        </p:txBody>
      </p:sp>
      <p:pic>
        <p:nvPicPr>
          <p:cNvPr id="8" name="Bilde 7" descr="Et bilde som inneholder tekst, Font, skjermbilde, line&#10;&#10;KI-generert innhold kan være feil.">
            <a:extLst>
              <a:ext uri="{FF2B5EF4-FFF2-40B4-BE49-F238E27FC236}">
                <a16:creationId xmlns:a16="http://schemas.microsoft.com/office/drawing/2014/main" id="{61C0DF18-791B-E6E8-630F-96032B5D432C}"/>
              </a:ext>
            </a:extLst>
          </p:cNvPr>
          <p:cNvPicPr>
            <a:picLocks noChangeAspect="1"/>
          </p:cNvPicPr>
          <p:nvPr/>
        </p:nvPicPr>
        <p:blipFill>
          <a:blip r:embed="rId5"/>
          <a:stretch>
            <a:fillRect/>
          </a:stretch>
        </p:blipFill>
        <p:spPr>
          <a:xfrm>
            <a:off x="3862464" y="4805218"/>
            <a:ext cx="4374107" cy="765468"/>
          </a:xfrm>
          <a:prstGeom prst="rect">
            <a:avLst/>
          </a:prstGeom>
        </p:spPr>
      </p:pic>
    </p:spTree>
    <p:extLst>
      <p:ext uri="{BB962C8B-B14F-4D97-AF65-F5344CB8AC3E}">
        <p14:creationId xmlns:p14="http://schemas.microsoft.com/office/powerpoint/2010/main" val="3229146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DF8F0E6-4646-CDD4-5186-B64E2ED63186}"/>
              </a:ext>
            </a:extLst>
          </p:cNvPr>
          <p:cNvSpPr>
            <a:spLocks noGrp="1"/>
          </p:cNvSpPr>
          <p:nvPr>
            <p:ph type="title"/>
          </p:nvPr>
        </p:nvSpPr>
        <p:spPr/>
        <p:txBody>
          <a:bodyPr/>
          <a:lstStyle/>
          <a:p>
            <a:r>
              <a:rPr lang="en-US" dirty="0"/>
              <a:t>Project Limitations and Alternatives</a:t>
            </a:r>
          </a:p>
        </p:txBody>
      </p:sp>
      <p:sp>
        <p:nvSpPr>
          <p:cNvPr id="3" name="Plassholder for innhold 2">
            <a:extLst>
              <a:ext uri="{FF2B5EF4-FFF2-40B4-BE49-F238E27FC236}">
                <a16:creationId xmlns:a16="http://schemas.microsoft.com/office/drawing/2014/main" id="{42FED978-BB31-D90F-C17D-7F9CB370948E}"/>
              </a:ext>
            </a:extLst>
          </p:cNvPr>
          <p:cNvSpPr>
            <a:spLocks noGrp="1"/>
          </p:cNvSpPr>
          <p:nvPr>
            <p:ph idx="1"/>
          </p:nvPr>
        </p:nvSpPr>
        <p:spPr/>
        <p:txBody>
          <a:bodyPr/>
          <a:lstStyle/>
          <a:p>
            <a:r>
              <a:rPr lang="en-US" dirty="0"/>
              <a:t>Assumptions</a:t>
            </a:r>
          </a:p>
          <a:p>
            <a:pPr lvl="1"/>
            <a:r>
              <a:rPr lang="en-US" dirty="0"/>
              <a:t>Homogenous reservoir</a:t>
            </a:r>
          </a:p>
          <a:p>
            <a:pPr lvl="1"/>
            <a:r>
              <a:rPr lang="en-US" dirty="0"/>
              <a:t>No skin or wellbore storage</a:t>
            </a:r>
          </a:p>
          <a:p>
            <a:pPr lvl="1"/>
            <a:r>
              <a:rPr lang="en-US" dirty="0"/>
              <a:t>Fully implicit (1</a:t>
            </a:r>
            <a:r>
              <a:rPr lang="en-US" baseline="30000" dirty="0"/>
              <a:t>st</a:t>
            </a:r>
            <a:r>
              <a:rPr lang="en-US" dirty="0"/>
              <a:t> order time)</a:t>
            </a:r>
          </a:p>
          <a:p>
            <a:pPr lvl="1"/>
            <a:endParaRPr lang="en-US" dirty="0"/>
          </a:p>
          <a:p>
            <a:r>
              <a:rPr lang="en-US" dirty="0"/>
              <a:t>Alternatives</a:t>
            </a:r>
          </a:p>
          <a:p>
            <a:pPr lvl="1"/>
            <a:r>
              <a:rPr lang="en-US" dirty="0"/>
              <a:t>Higher order BC</a:t>
            </a:r>
          </a:p>
          <a:p>
            <a:pPr lvl="1"/>
            <a:r>
              <a:rPr lang="en-US" dirty="0"/>
              <a:t>Pre factored sparse solver</a:t>
            </a:r>
          </a:p>
          <a:p>
            <a:pPr lvl="1"/>
            <a:r>
              <a:rPr lang="en-US" dirty="0"/>
              <a:t>More complex boundary condition</a:t>
            </a:r>
          </a:p>
        </p:txBody>
      </p:sp>
      <p:sp>
        <p:nvSpPr>
          <p:cNvPr id="4" name="Plassholder for lysbildenummer 3">
            <a:extLst>
              <a:ext uri="{FF2B5EF4-FFF2-40B4-BE49-F238E27FC236}">
                <a16:creationId xmlns:a16="http://schemas.microsoft.com/office/drawing/2014/main" id="{BAF6AF99-C47A-99CA-B676-6EE6B77DB212}"/>
              </a:ext>
            </a:extLst>
          </p:cNvPr>
          <p:cNvSpPr>
            <a:spLocks noGrp="1"/>
          </p:cNvSpPr>
          <p:nvPr>
            <p:ph type="sldNum" sz="quarter" idx="12"/>
          </p:nvPr>
        </p:nvSpPr>
        <p:spPr/>
        <p:txBody>
          <a:bodyPr/>
          <a:lstStyle/>
          <a:p>
            <a:fld id="{719D7796-F675-488F-AC46-C88938C80352}" type="slidenum">
              <a:rPr lang="en-US" smtClean="0"/>
              <a:t>13</a:t>
            </a:fld>
            <a:endParaRPr lang="en-US"/>
          </a:p>
        </p:txBody>
      </p:sp>
    </p:spTree>
    <p:extLst>
      <p:ext uri="{BB962C8B-B14F-4D97-AF65-F5344CB8AC3E}">
        <p14:creationId xmlns:p14="http://schemas.microsoft.com/office/powerpoint/2010/main" val="679323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30AC80F-8E82-48C9-A5FA-56D476389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B28E83F2-C52C-A5F5-8EA9-D72671E6B72A}"/>
              </a:ext>
            </a:extLst>
          </p:cNvPr>
          <p:cNvSpPr>
            <a:spLocks noGrp="1"/>
          </p:cNvSpPr>
          <p:nvPr>
            <p:ph type="title"/>
          </p:nvPr>
        </p:nvSpPr>
        <p:spPr>
          <a:xfrm>
            <a:off x="1088136" y="1097280"/>
            <a:ext cx="9285336" cy="1965657"/>
          </a:xfrm>
        </p:spPr>
        <p:txBody>
          <a:bodyPr>
            <a:normAutofit/>
          </a:bodyPr>
          <a:lstStyle/>
          <a:p>
            <a:r>
              <a:rPr lang="en-US" sz="6000"/>
              <a:t>Conclusions</a:t>
            </a:r>
          </a:p>
        </p:txBody>
      </p:sp>
      <p:cxnSp>
        <p:nvCxnSpPr>
          <p:cNvPr id="15" name="Straight Connector 14">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2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Plassholder for innhold 2">
            <a:extLst>
              <a:ext uri="{FF2B5EF4-FFF2-40B4-BE49-F238E27FC236}">
                <a16:creationId xmlns:a16="http://schemas.microsoft.com/office/drawing/2014/main" id="{4BF25084-9013-E796-0C0D-5F6A4AB130BF}"/>
              </a:ext>
            </a:extLst>
          </p:cNvPr>
          <p:cNvSpPr>
            <a:spLocks noGrp="1"/>
          </p:cNvSpPr>
          <p:nvPr>
            <p:ph idx="1"/>
          </p:nvPr>
        </p:nvSpPr>
        <p:spPr>
          <a:xfrm>
            <a:off x="804195" y="2529477"/>
            <a:ext cx="10399095" cy="2985670"/>
          </a:xfrm>
        </p:spPr>
        <p:txBody>
          <a:bodyPr>
            <a:normAutofit/>
          </a:bodyPr>
          <a:lstStyle/>
          <a:p>
            <a:pPr>
              <a:lnSpc>
                <a:spcPct val="120000"/>
              </a:lnSpc>
            </a:pPr>
            <a:r>
              <a:rPr lang="en-US" dirty="0"/>
              <a:t>Analytical solution provides clear benchmark for error analysis</a:t>
            </a:r>
          </a:p>
          <a:p>
            <a:pPr>
              <a:lnSpc>
                <a:spcPct val="120000"/>
              </a:lnSpc>
            </a:pPr>
            <a:r>
              <a:rPr lang="en-US" dirty="0"/>
              <a:t>Not-so-lazy BC achieves second order accuracy </a:t>
            </a:r>
          </a:p>
          <a:p>
            <a:pPr>
              <a:lnSpc>
                <a:spcPct val="120000"/>
              </a:lnSpc>
            </a:pPr>
            <a:r>
              <a:rPr lang="en-US" dirty="0"/>
              <a:t>Thomas algorithm outperforms other solvers</a:t>
            </a:r>
          </a:p>
          <a:p>
            <a:pPr>
              <a:lnSpc>
                <a:spcPct val="120000"/>
              </a:lnSpc>
            </a:pPr>
            <a:r>
              <a:rPr lang="en-US" dirty="0"/>
              <a:t>Numerical solution reproduces Theis behavior at intermediate times, and boundary dominated behavior at late times</a:t>
            </a:r>
          </a:p>
          <a:p>
            <a:pPr>
              <a:lnSpc>
                <a:spcPct val="120000"/>
              </a:lnSpc>
            </a:pPr>
            <a:r>
              <a:rPr lang="en-US" dirty="0"/>
              <a:t>Fitted parameters give physically meaningful reservoir size</a:t>
            </a:r>
          </a:p>
        </p:txBody>
      </p:sp>
      <p:sp>
        <p:nvSpPr>
          <p:cNvPr id="4" name="Plassholder for lysbildenummer 3">
            <a:extLst>
              <a:ext uri="{FF2B5EF4-FFF2-40B4-BE49-F238E27FC236}">
                <a16:creationId xmlns:a16="http://schemas.microsoft.com/office/drawing/2014/main" id="{C3781DD3-4A58-F989-9EAB-E6D79FFFF3D7}"/>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14</a:t>
            </a:fld>
            <a:endParaRPr lang="en-US"/>
          </a:p>
        </p:txBody>
      </p:sp>
    </p:spTree>
    <p:extLst>
      <p:ext uri="{BB962C8B-B14F-4D97-AF65-F5344CB8AC3E}">
        <p14:creationId xmlns:p14="http://schemas.microsoft.com/office/powerpoint/2010/main" val="113568037"/>
      </p:ext>
    </p:extLst>
  </p:cSld>
  <p:clrMapOvr>
    <a:masterClrMapping/>
  </p:clrMapOvr>
</p:sld>
</file>

<file path=ppt/theme/theme1.xml><?xml version="1.0" encoding="utf-8"?>
<a:theme xmlns:a="http://schemas.openxmlformats.org/drawingml/2006/main" name="BjornVTI">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8a213d2-8f6c-400d-9e74-4e8b475316c6}" enabled="0" method="" siteId="{f8a213d2-8f6c-400d-9e74-4e8b475316c6}" removed="1"/>
</clbl:labelList>
</file>

<file path=docProps/app.xml><?xml version="1.0" encoding="utf-8"?>
<Properties xmlns="http://schemas.openxmlformats.org/officeDocument/2006/extended-properties" xmlns:vt="http://schemas.openxmlformats.org/officeDocument/2006/docPropsVTypes">
  <TotalTime>189</TotalTime>
  <Words>1585</Words>
  <Application>Microsoft Office PowerPoint</Application>
  <PresentationFormat>Widescreen</PresentationFormat>
  <Paragraphs>244</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Cambria Math</vt:lpstr>
      <vt:lpstr>Neue Haas Grotesk Text Pro</vt:lpstr>
      <vt:lpstr>BjornVTI</vt:lpstr>
      <vt:lpstr>Project 2 - Can you hear a reservoir?</vt:lpstr>
      <vt:lpstr>Agenda</vt:lpstr>
      <vt:lpstr>Numerical and Analytical Pressure Solutions in Radial Flow</vt:lpstr>
      <vt:lpstr>Governing Equation &amp; Transformation</vt:lpstr>
      <vt:lpstr>Ex 1: Steady State Solution</vt:lpstr>
      <vt:lpstr>Steady State Error Behavior</vt:lpstr>
      <vt:lpstr>Ex 2: Implicit Transient Solver</vt:lpstr>
      <vt:lpstr>Ex 3: Comparison to Line-Source Solution</vt:lpstr>
      <vt:lpstr>Solver Performance &amp; Scaling</vt:lpstr>
      <vt:lpstr>Ex 4: Well Test Matching</vt:lpstr>
      <vt:lpstr>Matching Numerical Model to  Field Data</vt:lpstr>
      <vt:lpstr>Reservoir Volume from Fitted r_e</vt:lpstr>
      <vt:lpstr>Project Limitations and Alternatives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Torgrim Odde</dc:creator>
  <cp:lastModifiedBy>Malvin Varpe</cp:lastModifiedBy>
  <cp:revision>3</cp:revision>
  <dcterms:created xsi:type="dcterms:W3CDTF">2025-10-12T13:08:04Z</dcterms:created>
  <dcterms:modified xsi:type="dcterms:W3CDTF">2025-10-23T05:06:42Z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575afd7-7428-4d0b-a18c-f972d457efaf_Enabled">
    <vt:lpwstr>true</vt:lpwstr>
  </property>
  <property fmtid="{D5CDD505-2E9C-101B-9397-08002B2CF9AE}" pid="3" name="MSIP_Label_e575afd7-7428-4d0b-a18c-f972d457efaf_SetDate">
    <vt:lpwstr>2025-10-22T12:34:34Z</vt:lpwstr>
  </property>
  <property fmtid="{D5CDD505-2E9C-101B-9397-08002B2CF9AE}" pid="4" name="MSIP_Label_e575afd7-7428-4d0b-a18c-f972d457efaf_Method">
    <vt:lpwstr>Standard</vt:lpwstr>
  </property>
  <property fmtid="{D5CDD505-2E9C-101B-9397-08002B2CF9AE}" pid="5" name="MSIP_Label_e575afd7-7428-4d0b-a18c-f972d457efaf_Name">
    <vt:lpwstr>e575afd7-7428-4d0b-a18c-f972d457efaf</vt:lpwstr>
  </property>
  <property fmtid="{D5CDD505-2E9C-101B-9397-08002B2CF9AE}" pid="6" name="MSIP_Label_e575afd7-7428-4d0b-a18c-f972d457efaf_SiteId">
    <vt:lpwstr>306bb27f-a230-403b-a436-2e5cd45b8ec0</vt:lpwstr>
  </property>
  <property fmtid="{D5CDD505-2E9C-101B-9397-08002B2CF9AE}" pid="7" name="MSIP_Label_e575afd7-7428-4d0b-a18c-f972d457efaf_ActionId">
    <vt:lpwstr>ef52278f-a3db-4c94-9fa0-f495398dd28d</vt:lpwstr>
  </property>
  <property fmtid="{D5CDD505-2E9C-101B-9397-08002B2CF9AE}" pid="8" name="MSIP_Label_e575afd7-7428-4d0b-a18c-f972d457efaf_ContentBits">
    <vt:lpwstr>2</vt:lpwstr>
  </property>
  <property fmtid="{D5CDD505-2E9C-101B-9397-08002B2CF9AE}" pid="9" name="MSIP_Label_e575afd7-7428-4d0b-a18c-f972d457efaf_Tag">
    <vt:lpwstr>10, 3, 0, 1</vt:lpwstr>
  </property>
  <property fmtid="{D5CDD505-2E9C-101B-9397-08002B2CF9AE}" pid="10" name="ClassificationContentMarkingFooterLocations">
    <vt:lpwstr>BjornVTI:8</vt:lpwstr>
  </property>
  <property fmtid="{D5CDD505-2E9C-101B-9397-08002B2CF9AE}" pid="11" name="ClassificationContentMarkingFooterText">
    <vt:lpwstr>Sensitivity: Internal</vt:lpwstr>
  </property>
</Properties>
</file>
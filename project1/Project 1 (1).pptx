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2" r:id="rId5"/>
    <p:sldId id="359" r:id="rId6"/>
    <p:sldId id="374" r:id="rId7"/>
    <p:sldId id="382" r:id="rId8"/>
    <p:sldId id="386" r:id="rId9"/>
    <p:sldId id="389" r:id="rId10"/>
    <p:sldId id="392" r:id="rId11"/>
    <p:sldId id="393" r:id="rId12"/>
    <p:sldId id="387" r:id="rId13"/>
    <p:sldId id="390" r:id="rId14"/>
    <p:sldId id="3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290" autoAdjust="0"/>
  </p:normalViewPr>
  <p:slideViewPr>
    <p:cSldViewPr snapToGrid="0" snapToObjects="1" showGuides="1">
      <p:cViewPr varScale="1">
        <p:scale>
          <a:sx n="37" d="100"/>
          <a:sy n="37" d="100"/>
        </p:scale>
        <p:origin x="1788" y="2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428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Motivation: Explore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Floating point arithmetic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Numerical differentiation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Dual numbers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Goal: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Understand computational precision and automatic differentiation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Why: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Fundamentals to machine computing and machine learning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5BF0-0BE0-ED43-8486-82427AC8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144F6-7850-4F8E-A232-92BFDAE3B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39752-80B7-21F5-0742-22434D467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IEEE 754 double precision can not exactly represent some decimals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System limits: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Largest representable number (</a:t>
            </a:r>
            <a:r>
              <a:rPr lang="en-US" dirty="0" err="1"/>
              <a:t>sys.float_info.max</a:t>
            </a:r>
            <a:r>
              <a:rPr lang="en-US" dirty="0"/>
              <a:t>)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Smallest representable number (</a:t>
            </a:r>
            <a:r>
              <a:rPr lang="en-US" dirty="0" err="1"/>
              <a:t>sys.float_info.min</a:t>
            </a:r>
            <a:r>
              <a:rPr lang="en-US" dirty="0"/>
              <a:t>)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Machine epsilon (</a:t>
            </a:r>
            <a:r>
              <a:rPr lang="en-US" dirty="0" err="1"/>
              <a:t>sys.float_info.epsilon</a:t>
            </a:r>
            <a:r>
              <a:rPr lang="en-US" dirty="0"/>
              <a:t>)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Manual calculations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Mantissa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Exponential formulas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Key lessons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Decimal fractions (</a:t>
            </a:r>
            <a:r>
              <a:rPr lang="en-US" dirty="0" err="1"/>
              <a:t>eg</a:t>
            </a:r>
            <a:r>
              <a:rPr lang="en-US" dirty="0"/>
              <a:t> 0.1) cannot be exactly represented in binary -&gt; 0.1 + 0.2 != 0.3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BEB09-2A05-99C6-F00E-E6F367CA9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269C-01A6-DFD3-FC02-97E5E0A2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98596-50E3-6207-B0CC-5DA35506C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AA59E-1903-6EE2-C47B-CF61C0780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Python lists are fine for small simple sequences</a:t>
            </a:r>
          </a:p>
          <a:p>
            <a:pPr marL="171450" indent="-171450">
              <a:buFontTx/>
              <a:buChar char="-"/>
            </a:pPr>
            <a:r>
              <a:rPr lang="en-US" dirty="0"/>
              <a:t>NumPy for large scale and vectorized numerical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92B59-CD29-D244-BF84-4CDD00270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62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C08E-595A-38E8-30EE-08A0DB1F6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1AF96-66BA-65E8-51C7-2657DA77A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11CAD-D220-2A9F-54A7-5FBDC7797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the problem we received a Boolean operations question regarding the difference between &amp; and </a:t>
            </a:r>
            <a:r>
              <a:rPr lang="en-US" dirty="0" err="1"/>
              <a:t>and</a:t>
            </a:r>
            <a:r>
              <a:rPr lang="en-US" dirty="0"/>
              <a:t> function in python. With the ‘and’ operator it only takes a single value, while the ‘&amp;’ works with </a:t>
            </a:r>
            <a:r>
              <a:rPr lang="en-US" dirty="0" err="1"/>
              <a:t>numpy</a:t>
            </a:r>
            <a:r>
              <a:rPr lang="en-US" dirty="0"/>
              <a:t> arrays and will check for all the individual values.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1F5F-5E87-0721-3972-38EFFC766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54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94D7E-29B3-DD94-D9DE-6BCF5702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A98B-B6FE-F45E-2E0C-A164D2BCB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F739D-D181-0E66-E214-A1C057823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Estiamtion</a:t>
            </a:r>
            <a:r>
              <a:rPr lang="en-US" dirty="0"/>
              <a:t> of the derivative is possible in finite precision systems by approximation. Two examples of this are the forward </a:t>
            </a:r>
            <a:r>
              <a:rPr lang="en-US" dirty="0" err="1"/>
              <a:t>dffference</a:t>
            </a:r>
            <a:r>
              <a:rPr lang="en-US" dirty="0"/>
              <a:t> and central difference method, in which we can see how we implemented in python the </a:t>
            </a:r>
            <a:r>
              <a:rPr lang="en-US" dirty="0" err="1"/>
              <a:t>powerpoint</a:t>
            </a:r>
            <a:r>
              <a:rPr lang="en-US" dirty="0"/>
              <a:t>. These can be derived from the Taylors formula, which is a way to express functions through sums.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CD76B-B66C-9A63-4E42-F7277C270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88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1150C-3AB2-D37E-8AA6-BB5A7934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7B789-60DB-0490-5257-839EA902F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21126-F13F-6529-00CA-83D4030C3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Forward vs central difference errors comparison</a:t>
            </a:r>
          </a:p>
          <a:p>
            <a:pPr marL="171450" indent="-171450">
              <a:buFontTx/>
              <a:buChar char="-"/>
            </a:pPr>
            <a:r>
              <a:rPr lang="en-US" dirty="0"/>
              <a:t>Shows: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Best accuracy at intermediate 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Round off dominates for low 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Central difference curve stays lower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F9210-91AD-0688-3385-AE4A4A60A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31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A5AD-AE10-48C0-B6D5-B797CF93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30516-885B-AD00-C602-DCA8C20AC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3F8DE-CD76-5D48-6B4C-BC1B5A799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Encapsulates a wave packet (f(x) = … ) in a Python class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to compute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Forward and central finite-difference derivatives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Exact analytical derivative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Error plots across step sizes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Demonstrates flexibility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Classes can handle several parameters, sets and visualizations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Classes can easily be re-used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BC6AB-C686-907B-7615-EAAB93847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82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1E7E-292F-0E40-BA11-CAF4B29D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737E9-0AA3-B75F-31A1-5CB2DD7E0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93A59-D4B6-6D02-B7AC-C1C44B326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Duple class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Def __mu1__ illustrates dual-number rule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e-coefficient carries derivative info = foundation of automatic differentiation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x=duple(1,2) #= 3 + 1*e</a:t>
            </a:r>
          </a:p>
          <a:p>
            <a:pPr marL="1085850" lvl="2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Definition requirement of overloaded arithmetic operators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Insight: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Dual numbers return both function value and derivative automatically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Fundamental for automatic differentiation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B5C05-9136-9B3B-25E5-04B969AAF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147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9F18-25AD-9F44-F634-DB42FA82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763DA-0951-7DFF-E263-8ABEA5F67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F6998-99BB-A164-3597-A29A6928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Machine precision matters: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NumPy enables efficient vectorized work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Even simple operations (0.1 + 0.2) show floating-point limitations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Choice of numerical method: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Central difference provides higher accuracy than forward difference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Error behavior: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Too small step size causes round-off errors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Object-oriented design: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Encapsulating math operation in classes improve clarity and make “complex” methods reusable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Automatic differentiation: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Dual numbers provide a mathematical foundation for derivative computations in machine learning 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FD6AF-2378-7191-A939-6C8EDF9DC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1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e tittel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nb-NO"/>
              <a:t>Klikk ikonet for å legge til en tabell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nb-NO"/>
              <a:t>Klikk ikonet for å legge til en tabell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6A91F5-4BDE-35F2-ED88-BF491ECAE0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175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b-NO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Mod510: project 1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Automatic for the people</a:t>
            </a:r>
          </a:p>
          <a:p>
            <a:endParaRPr lang="en-US" dirty="0"/>
          </a:p>
          <a:p>
            <a:r>
              <a:rPr lang="en-US" sz="1400" dirty="0"/>
              <a:t>By </a:t>
            </a:r>
            <a:r>
              <a:rPr lang="en-US" sz="1400" dirty="0" err="1"/>
              <a:t>malvin</a:t>
            </a:r>
            <a:r>
              <a:rPr lang="en-US" sz="1400" dirty="0"/>
              <a:t> </a:t>
            </a:r>
            <a:r>
              <a:rPr lang="en-US" sz="1400" dirty="0" err="1"/>
              <a:t>varpe</a:t>
            </a:r>
            <a:r>
              <a:rPr lang="en-US" sz="1400" dirty="0"/>
              <a:t> &amp; Torgrim </a:t>
            </a:r>
            <a:r>
              <a:rPr lang="en-US" sz="1400" dirty="0" err="1"/>
              <a:t>odde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pPr>
              <a:lnSpc>
                <a:spcPct val="100000"/>
              </a:lnSpc>
            </a:pPr>
            <a:r>
              <a:rPr lang="en-US" sz="1600" dirty="0"/>
              <a:t>Introduction &amp; motivation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Floating point &amp; machine precision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Python lists vs NumPy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Boolean operations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Numerical differentiation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Classes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Automatic differentiation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Key takeaways &amp;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2387865"/>
          </a:xfrm>
        </p:spPr>
        <p:txBody>
          <a:bodyPr/>
          <a:lstStyle/>
          <a:p>
            <a:r>
              <a:rPr lang="en-US" dirty="0"/>
              <a:t>Purpose</a:t>
            </a:r>
          </a:p>
          <a:p>
            <a:pPr marL="457200" indent="-457200">
              <a:buFontTx/>
              <a:buChar char="-"/>
            </a:pPr>
            <a:r>
              <a:rPr lang="en-US" sz="1400" dirty="0"/>
              <a:t>Floating point arithmetic</a:t>
            </a:r>
          </a:p>
          <a:p>
            <a:pPr marL="457200" indent="-457200">
              <a:buFontTx/>
              <a:buChar char="-"/>
            </a:pPr>
            <a:r>
              <a:rPr lang="en-US" sz="1400" dirty="0"/>
              <a:t>Numerical differentiation</a:t>
            </a:r>
          </a:p>
          <a:p>
            <a:pPr marL="457200" indent="-457200">
              <a:buFontTx/>
              <a:buChar char="-"/>
            </a:pPr>
            <a:r>
              <a:rPr lang="en-US" sz="1400" dirty="0"/>
              <a:t>Dual numbers</a:t>
            </a:r>
          </a:p>
          <a:p>
            <a:endParaRPr lang="en-US" dirty="0"/>
          </a:p>
          <a:p>
            <a:r>
              <a:rPr lang="en-US" dirty="0"/>
              <a:t>Why it matters</a:t>
            </a:r>
          </a:p>
          <a:p>
            <a:pPr marL="457200" indent="-457200">
              <a:buFontTx/>
              <a:buChar char="-"/>
            </a:pPr>
            <a:r>
              <a:rPr lang="en-US" sz="1400" dirty="0"/>
              <a:t>Numerical methods and machine precision</a:t>
            </a:r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6258-3833-4177-5A9A-6CD39A27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AE6628-BF1D-95D0-8C58-89ABDAF90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41" y="36945"/>
            <a:ext cx="4960830" cy="891703"/>
          </a:xfrm>
        </p:spPr>
        <p:txBody>
          <a:bodyPr/>
          <a:lstStyle/>
          <a:p>
            <a:r>
              <a:rPr lang="en-US" dirty="0"/>
              <a:t>Floating point &amp; </a:t>
            </a:r>
            <a:br>
              <a:rPr lang="en-US" dirty="0"/>
            </a:br>
            <a:r>
              <a:rPr lang="en-US" dirty="0"/>
              <a:t>machine precision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2D67F84-7E54-C1D8-9E94-FC39DA89B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090" y="933662"/>
            <a:ext cx="4958081" cy="162481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 err="1"/>
              <a:t>Ieee</a:t>
            </a:r>
            <a:r>
              <a:rPr lang="en-US" sz="1400" dirty="0"/>
              <a:t> 754 double-precision format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System limits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Manual calculation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Key lessons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8D0A854C-3BB6-FDDF-649D-CBF03F203D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0FF5D-ABBF-1374-1DD7-0C8E420B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7DFC38BA-A9C2-EE09-71DE-C45C10FF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28266"/>
            <a:ext cx="12192000" cy="299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8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A110-B877-DC47-15D1-19C3BF56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56888-20D9-5C68-F7EB-EC84A83B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Python lists vs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12ACD47-25EC-F8CF-3989-5A0BEE0F1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380616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/>
              <a:t>When is python good enough?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When should we use </a:t>
            </a:r>
            <a:r>
              <a:rPr lang="en-US" sz="1400" dirty="0" err="1"/>
              <a:t>numpy</a:t>
            </a:r>
            <a:r>
              <a:rPr lang="en-US" sz="1400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FF11C6ED-FCC0-03C1-3200-EBCA09558E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CC5E8-148F-17F0-0D25-B101B96F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1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5EFD-A91B-83E2-34E2-7308A05F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31F384-F76A-1DBA-8704-90BF5784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Boolean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ABAEBF3-7A62-C911-4FA6-495ABE823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380616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/>
              <a:t>And vs &amp;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BB05AD41-D760-9B32-011E-B40B840BC4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2AEC5-861A-DD34-6ED3-C9AA51AF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6D83B34C-2883-4682-CC2A-65E610F12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5006828"/>
            <a:ext cx="1161259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2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B588-2EEB-ADEC-87B6-5A6962FF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42445C-33CA-1FF8-13C1-25DE10668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Numerical differentiation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16929A7-3461-293A-1EF0-9354E098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380616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/>
              <a:t>Forward difference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Central difference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accent3">
                    <a:lumMod val="75000"/>
                    <a:alpha val="50000"/>
                  </a:schemeClr>
                </a:solidFill>
              </a:rPr>
              <a:t>Approximations vs analytical derivatives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accent3">
                    <a:lumMod val="75000"/>
                    <a:alpha val="50000"/>
                  </a:schemeClr>
                </a:solidFill>
              </a:rPr>
              <a:t>Absolute error and step size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accent3">
                    <a:lumMod val="75000"/>
                    <a:alpha val="50000"/>
                  </a:schemeClr>
                </a:solidFill>
              </a:rPr>
              <a:t>Key lessons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0FDFBE52-26FB-B16A-0B2E-B9B7B01691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95B8B-E680-F307-B4BA-A2095B25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B10220AF-2364-4B7A-438F-4DBC48981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3042"/>
            <a:ext cx="6096000" cy="266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2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53BB-9C30-119C-0D74-42FACB2A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B8D025-8ABB-8033-2357-2C7A9CE1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Numerical differentiation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7C11318-7B6F-110D-CEC9-30140AF62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380616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accent3">
                    <a:lumMod val="75000"/>
                    <a:alpha val="50000"/>
                  </a:schemeClr>
                </a:solidFill>
              </a:rPr>
              <a:t>Forward difference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accent3">
                    <a:lumMod val="75000"/>
                    <a:alpha val="50000"/>
                  </a:schemeClr>
                </a:solidFill>
              </a:rPr>
              <a:t>Central difference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Approximations vs analytical derivatives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Absolute error and step size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Key lessons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2CB1-D2FB-E852-497F-0AE98416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493C36DD-FF5F-F457-6019-74977F068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6" y="6165838"/>
            <a:ext cx="12031754" cy="485843"/>
          </a:xfrm>
          <a:prstGeom prst="rect">
            <a:avLst/>
          </a:prstGeom>
        </p:spPr>
      </p:pic>
      <p:pic>
        <p:nvPicPr>
          <p:cNvPr id="13" name="Bilde 12" descr="Et bilde som inneholder tekst, line, Plottdiagram, diagram&#10;&#10;KI-generert innhold kan være feil.">
            <a:extLst>
              <a:ext uri="{FF2B5EF4-FFF2-40B4-BE49-F238E27FC236}">
                <a16:creationId xmlns:a16="http://schemas.microsoft.com/office/drawing/2014/main" id="{C7A94AA7-508A-5980-D3E5-4B3811D53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899" y="613204"/>
            <a:ext cx="6419101" cy="54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7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BC47-2F4A-B67D-8C41-6668AA8A3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7DF0AD-0F5C-0D52-80EB-340B13B9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180AF1B-0B3A-C2F8-6032-CB01A4601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380616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/>
              <a:t>Encapsulation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flexibility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AE41CD5-C96B-AA49-A7CA-F171EE40955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130F3-1C10-F036-A58A-7D55C5A0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A2E7A994-7EAA-EB28-A4CC-48F42C36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865" y="3213781"/>
            <a:ext cx="8049135" cy="1963431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3B6E6FD7-C476-76E4-63C5-79F68A93F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865" y="5177212"/>
            <a:ext cx="8045514" cy="153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5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B83E-A377-0472-76BA-2451EF6A8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5AE08E-2176-4DA3-00A9-7D8CF0AC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33580"/>
            <a:ext cx="4960830" cy="1069092"/>
          </a:xfrm>
        </p:spPr>
        <p:txBody>
          <a:bodyPr/>
          <a:lstStyle/>
          <a:p>
            <a:r>
              <a:rPr lang="en-US" dirty="0"/>
              <a:t>Automatic differentiation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BD5E3A-5FC2-67A9-F6AB-7F97FD13A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891" y="1864957"/>
            <a:ext cx="4958081" cy="106909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/>
              <a:t>Duple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Overloaded arithmetic operations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insight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9F0E4BB9-FEEA-9A9F-1893-A08606CC73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D8F63-27F5-9A08-315A-ADDB6612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A3B563CB-FEB4-34F8-EF84-4D7F2B7BC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03" y="3923952"/>
            <a:ext cx="10174120" cy="1505160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F6F7CA07-24EB-159D-DA8D-7CDEA393D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03" y="5376279"/>
            <a:ext cx="10174120" cy="1457528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5C867BEB-BA1E-1250-6C5E-D65F7FB55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03" y="3409530"/>
            <a:ext cx="2191056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6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BF84-71C2-A862-F5D9-0B533E4A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1FA4B0-5D83-B2B9-08DA-602E2502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0"/>
            <a:ext cx="4960830" cy="2785158"/>
          </a:xfrm>
        </p:spPr>
        <p:txBody>
          <a:bodyPr/>
          <a:lstStyle/>
          <a:p>
            <a:r>
              <a:rPr lang="en-US" dirty="0"/>
              <a:t>Key lessons &amp; takeaways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B5CA4D7-EB7A-8115-856F-E9610036B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2785158"/>
            <a:ext cx="4958081" cy="380616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400" dirty="0"/>
              <a:t>Why Machine precision matters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Choice of numerical method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Error behavior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Object oriented design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Automatic differentiation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AAE44A8E-D61C-ED76-C002-03F997333D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F7F6-9F88-2692-C23C-B4C0663B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3717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{38622AE9-545A-4CA2-99FE-CF60F2290AFB}TFe8699e8e-689b-4d7e-abcf-e888fd749829db3118dc_win32-d573b439b56f</Template>
  <TotalTime>104</TotalTime>
  <Words>598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Nova</vt:lpstr>
      <vt:lpstr>Biome</vt:lpstr>
      <vt:lpstr>Calibri</vt:lpstr>
      <vt:lpstr>Custom</vt:lpstr>
      <vt:lpstr>Mod510: project 1</vt:lpstr>
      <vt:lpstr>Agenda</vt:lpstr>
      <vt:lpstr>introduction </vt:lpstr>
      <vt:lpstr>Floating point &amp;  machine precision </vt:lpstr>
      <vt:lpstr>Python lists vs Numpy</vt:lpstr>
      <vt:lpstr>Boolean operations</vt:lpstr>
      <vt:lpstr>Numerical differentiation</vt:lpstr>
      <vt:lpstr>Numerical differentiation</vt:lpstr>
      <vt:lpstr>classes</vt:lpstr>
      <vt:lpstr>Automatic differentiation</vt:lpstr>
      <vt:lpstr>Key lessons &amp;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Torgrim Odde</dc:creator>
  <cp:lastModifiedBy>Malvin Varpe</cp:lastModifiedBy>
  <cp:revision>9</cp:revision>
  <dcterms:created xsi:type="dcterms:W3CDTF">2025-09-22T08:36:35Z</dcterms:created>
  <dcterms:modified xsi:type="dcterms:W3CDTF">2025-09-23T08:11:59Z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e575afd7-7428-4d0b-a18c-f972d457efaf_Enabled">
    <vt:lpwstr>true</vt:lpwstr>
  </property>
  <property fmtid="{D5CDD505-2E9C-101B-9397-08002B2CF9AE}" pid="4" name="MSIP_Label_e575afd7-7428-4d0b-a18c-f972d457efaf_SetDate">
    <vt:lpwstr>2025-09-23T08:11:59Z</vt:lpwstr>
  </property>
  <property fmtid="{D5CDD505-2E9C-101B-9397-08002B2CF9AE}" pid="5" name="MSIP_Label_e575afd7-7428-4d0b-a18c-f972d457efaf_Method">
    <vt:lpwstr>Standard</vt:lpwstr>
  </property>
  <property fmtid="{D5CDD505-2E9C-101B-9397-08002B2CF9AE}" pid="6" name="MSIP_Label_e575afd7-7428-4d0b-a18c-f972d457efaf_Name">
    <vt:lpwstr>e575afd7-7428-4d0b-a18c-f972d457efaf</vt:lpwstr>
  </property>
  <property fmtid="{D5CDD505-2E9C-101B-9397-08002B2CF9AE}" pid="7" name="MSIP_Label_e575afd7-7428-4d0b-a18c-f972d457efaf_SiteId">
    <vt:lpwstr>306bb27f-a230-403b-a436-2e5cd45b8ec0</vt:lpwstr>
  </property>
  <property fmtid="{D5CDD505-2E9C-101B-9397-08002B2CF9AE}" pid="8" name="MSIP_Label_e575afd7-7428-4d0b-a18c-f972d457efaf_ActionId">
    <vt:lpwstr>65818acd-1fef-417e-ad48-a7804ffb266a</vt:lpwstr>
  </property>
  <property fmtid="{D5CDD505-2E9C-101B-9397-08002B2CF9AE}" pid="9" name="MSIP_Label_e575afd7-7428-4d0b-a18c-f972d457efaf_ContentBits">
    <vt:lpwstr>2</vt:lpwstr>
  </property>
  <property fmtid="{D5CDD505-2E9C-101B-9397-08002B2CF9AE}" pid="10" name="MSIP_Label_e575afd7-7428-4d0b-a18c-f972d457efaf_Tag">
    <vt:lpwstr>10, 3, 0, 1</vt:lpwstr>
  </property>
  <property fmtid="{D5CDD505-2E9C-101B-9397-08002B2CF9AE}" pid="11" name="ClassificationContentMarkingFooterLocations">
    <vt:lpwstr>Custom:8</vt:lpwstr>
  </property>
  <property fmtid="{D5CDD505-2E9C-101B-9397-08002B2CF9AE}" pid="12" name="ClassificationContentMarkingFooterText">
    <vt:lpwstr>Sensitivity: Internal</vt:lpwstr>
  </property>
</Properties>
</file>
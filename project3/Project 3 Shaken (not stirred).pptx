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4"/>
  </p:sldMasterIdLst>
  <p:notesMasterIdLst>
    <p:notesMasterId r:id="rId20"/>
  </p:notesMasterIdLst>
  <p:sldIdLst>
    <p:sldId id="256" r:id="rId5"/>
    <p:sldId id="257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EAC3B4-1E6D-4248-B7AC-C601060D620A}" v="126" dt="2025-11-11T20:10:48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36253" autoAdjust="0"/>
  </p:normalViewPr>
  <p:slideViewPr>
    <p:cSldViewPr snapToGrid="0">
      <p:cViewPr varScale="1">
        <p:scale>
          <a:sx n="26" d="100"/>
          <a:sy n="26" d="100"/>
        </p:scale>
        <p:origin x="221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rgrim Odde" userId="263d2d9e-d662-4ecd-84e3-6377197a8522" providerId="ADAL" clId="{F19F3179-E777-480F-BD2C-D9A8F24E3506}"/>
    <pc:docChg chg="undo custSel addSld modSld">
      <pc:chgData name="Torgrim Odde" userId="263d2d9e-d662-4ecd-84e3-6377197a8522" providerId="ADAL" clId="{F19F3179-E777-480F-BD2C-D9A8F24E3506}" dt="2025-11-11T20:24:13.800" v="4273" actId="20577"/>
      <pc:docMkLst>
        <pc:docMk/>
      </pc:docMkLst>
      <pc:sldChg chg="modNotesTx">
        <pc:chgData name="Torgrim Odde" userId="263d2d9e-d662-4ecd-84e3-6377197a8522" providerId="ADAL" clId="{F19F3179-E777-480F-BD2C-D9A8F24E3506}" dt="2025-11-11T20:15:18.773" v="3899" actId="20577"/>
        <pc:sldMkLst>
          <pc:docMk/>
          <pc:sldMk cId="974668571" sldId="256"/>
        </pc:sldMkLst>
      </pc:sldChg>
      <pc:sldChg chg="modNotesTx">
        <pc:chgData name="Torgrim Odde" userId="263d2d9e-d662-4ecd-84e3-6377197a8522" providerId="ADAL" clId="{F19F3179-E777-480F-BD2C-D9A8F24E3506}" dt="2025-11-11T20:15:25.672" v="3903" actId="20577"/>
        <pc:sldMkLst>
          <pc:docMk/>
          <pc:sldMk cId="2028096766" sldId="257"/>
        </pc:sldMkLst>
      </pc:sldChg>
      <pc:sldChg chg="modNotesTx">
        <pc:chgData name="Torgrim Odde" userId="263d2d9e-d662-4ecd-84e3-6377197a8522" providerId="ADAL" clId="{F19F3179-E777-480F-BD2C-D9A8F24E3506}" dt="2025-11-11T19:50:12.324" v="1086" actId="20577"/>
        <pc:sldMkLst>
          <pc:docMk/>
          <pc:sldMk cId="973795824" sldId="264"/>
        </pc:sldMkLst>
      </pc:sldChg>
      <pc:sldChg chg="modNotesTx">
        <pc:chgData name="Torgrim Odde" userId="263d2d9e-d662-4ecd-84e3-6377197a8522" providerId="ADAL" clId="{F19F3179-E777-480F-BD2C-D9A8F24E3506}" dt="2025-11-11T20:17:31.055" v="3966" actId="20577"/>
        <pc:sldMkLst>
          <pc:docMk/>
          <pc:sldMk cId="726462619" sldId="265"/>
        </pc:sldMkLst>
      </pc:sldChg>
      <pc:sldChg chg="modNotesTx">
        <pc:chgData name="Torgrim Odde" userId="263d2d9e-d662-4ecd-84e3-6377197a8522" providerId="ADAL" clId="{F19F3179-E777-480F-BD2C-D9A8F24E3506}" dt="2025-11-11T19:56:15.113" v="1637" actId="20577"/>
        <pc:sldMkLst>
          <pc:docMk/>
          <pc:sldMk cId="1533562257" sldId="266"/>
        </pc:sldMkLst>
      </pc:sldChg>
      <pc:sldChg chg="modNotesTx">
        <pc:chgData name="Torgrim Odde" userId="263d2d9e-d662-4ecd-84e3-6377197a8522" providerId="ADAL" clId="{F19F3179-E777-480F-BD2C-D9A8F24E3506}" dt="2025-11-11T20:18:41.373" v="3968" actId="15"/>
        <pc:sldMkLst>
          <pc:docMk/>
          <pc:sldMk cId="233139722" sldId="267"/>
        </pc:sldMkLst>
      </pc:sldChg>
      <pc:sldChg chg="modNotesTx">
        <pc:chgData name="Torgrim Odde" userId="263d2d9e-d662-4ecd-84e3-6377197a8522" providerId="ADAL" clId="{F19F3179-E777-480F-BD2C-D9A8F24E3506}" dt="2025-11-11T20:18:50.571" v="3970" actId="20577"/>
        <pc:sldMkLst>
          <pc:docMk/>
          <pc:sldMk cId="2567844217" sldId="268"/>
        </pc:sldMkLst>
      </pc:sldChg>
      <pc:sldChg chg="addSp delSp modSp mod modNotesTx">
        <pc:chgData name="Torgrim Odde" userId="263d2d9e-d662-4ecd-84e3-6377197a8522" providerId="ADAL" clId="{F19F3179-E777-480F-BD2C-D9A8F24E3506}" dt="2025-11-11T20:24:13.800" v="4273" actId="20577"/>
        <pc:sldMkLst>
          <pc:docMk/>
          <pc:sldMk cId="2927373108" sldId="273"/>
        </pc:sldMkLst>
        <pc:spChg chg="mod">
          <ac:chgData name="Torgrim Odde" userId="263d2d9e-d662-4ecd-84e3-6377197a8522" providerId="ADAL" clId="{F19F3179-E777-480F-BD2C-D9A8F24E3506}" dt="2025-11-11T20:03:09.094" v="2517" actId="20577"/>
          <ac:spMkLst>
            <pc:docMk/>
            <pc:sldMk cId="2927373108" sldId="273"/>
            <ac:spMk id="3" creationId="{104DB93C-AEC4-1BDC-1891-9B27B0C46693}"/>
          </ac:spMkLst>
        </pc:spChg>
        <pc:picChg chg="del">
          <ac:chgData name="Torgrim Odde" userId="263d2d9e-d662-4ecd-84e3-6377197a8522" providerId="ADAL" clId="{F19F3179-E777-480F-BD2C-D9A8F24E3506}" dt="2025-11-11T19:39:37.768" v="130" actId="478"/>
          <ac:picMkLst>
            <pc:docMk/>
            <pc:sldMk cId="2927373108" sldId="273"/>
            <ac:picMk id="6" creationId="{A91EB38F-5970-1BDC-7C07-CE0F9BBB038F}"/>
          </ac:picMkLst>
        </pc:picChg>
        <pc:picChg chg="add del mod">
          <ac:chgData name="Torgrim Odde" userId="263d2d9e-d662-4ecd-84e3-6377197a8522" providerId="ADAL" clId="{F19F3179-E777-480F-BD2C-D9A8F24E3506}" dt="2025-11-11T20:04:12.125" v="2612" actId="1076"/>
          <ac:picMkLst>
            <pc:docMk/>
            <pc:sldMk cId="2927373108" sldId="273"/>
            <ac:picMk id="8" creationId="{A3BC2834-7929-B9D3-24FA-C675755E70FC}"/>
          </ac:picMkLst>
        </pc:picChg>
        <pc:picChg chg="add del mod">
          <ac:chgData name="Torgrim Odde" userId="263d2d9e-d662-4ecd-84e3-6377197a8522" providerId="ADAL" clId="{F19F3179-E777-480F-BD2C-D9A8F24E3506}" dt="2025-11-11T20:04:07.199" v="2609" actId="22"/>
          <ac:picMkLst>
            <pc:docMk/>
            <pc:sldMk cId="2927373108" sldId="273"/>
            <ac:picMk id="10" creationId="{F7503E6C-9DE1-5735-D241-5D30D4D33349}"/>
          </ac:picMkLst>
        </pc:picChg>
        <pc:picChg chg="add mod">
          <ac:chgData name="Torgrim Odde" userId="263d2d9e-d662-4ecd-84e3-6377197a8522" providerId="ADAL" clId="{F19F3179-E777-480F-BD2C-D9A8F24E3506}" dt="2025-11-11T20:04:15.889" v="2614" actId="1076"/>
          <ac:picMkLst>
            <pc:docMk/>
            <pc:sldMk cId="2927373108" sldId="273"/>
            <ac:picMk id="14" creationId="{0245B91A-9ED5-0C7A-03DE-AC2E2DAA6D44}"/>
          </ac:picMkLst>
        </pc:picChg>
      </pc:sldChg>
      <pc:sldChg chg="modNotesTx">
        <pc:chgData name="Torgrim Odde" userId="263d2d9e-d662-4ecd-84e3-6377197a8522" providerId="ADAL" clId="{F19F3179-E777-480F-BD2C-D9A8F24E3506}" dt="2025-11-11T20:21:13.755" v="4019" actId="20577"/>
        <pc:sldMkLst>
          <pc:docMk/>
          <pc:sldMk cId="554394612" sldId="274"/>
        </pc:sldMkLst>
      </pc:sldChg>
      <pc:sldChg chg="modSp mod modNotesTx">
        <pc:chgData name="Torgrim Odde" userId="263d2d9e-d662-4ecd-84e3-6377197a8522" providerId="ADAL" clId="{F19F3179-E777-480F-BD2C-D9A8F24E3506}" dt="2025-11-11T20:23:19.391" v="4201" actId="20577"/>
        <pc:sldMkLst>
          <pc:docMk/>
          <pc:sldMk cId="3419326053" sldId="275"/>
        </pc:sldMkLst>
        <pc:spChg chg="mod">
          <ac:chgData name="Torgrim Odde" userId="263d2d9e-d662-4ecd-84e3-6377197a8522" providerId="ADAL" clId="{F19F3179-E777-480F-BD2C-D9A8F24E3506}" dt="2025-11-11T19:26:06.510" v="4"/>
          <ac:spMkLst>
            <pc:docMk/>
            <pc:sldMk cId="3419326053" sldId="275"/>
            <ac:spMk id="2" creationId="{6FCDD8BC-983E-EA4D-D277-B14FE06E32C4}"/>
          </ac:spMkLst>
        </pc:spChg>
      </pc:sldChg>
      <pc:sldChg chg="modSp new mod modNotesTx">
        <pc:chgData name="Torgrim Odde" userId="263d2d9e-d662-4ecd-84e3-6377197a8522" providerId="ADAL" clId="{F19F3179-E777-480F-BD2C-D9A8F24E3506}" dt="2025-11-11T20:11:41.761" v="3791" actId="20577"/>
        <pc:sldMkLst>
          <pc:docMk/>
          <pc:sldMk cId="1505925696" sldId="276"/>
        </pc:sldMkLst>
        <pc:spChg chg="mod">
          <ac:chgData name="Torgrim Odde" userId="263d2d9e-d662-4ecd-84e3-6377197a8522" providerId="ADAL" clId="{F19F3179-E777-480F-BD2C-D9A8F24E3506}" dt="2025-11-11T19:26:12.004" v="17" actId="20577"/>
          <ac:spMkLst>
            <pc:docMk/>
            <pc:sldMk cId="1505925696" sldId="276"/>
            <ac:spMk id="2" creationId="{5F3BA311-DAD9-D87A-EAA7-D830F328AE45}"/>
          </ac:spMkLst>
        </pc:spChg>
        <pc:spChg chg="mod">
          <ac:chgData name="Torgrim Odde" userId="263d2d9e-d662-4ecd-84e3-6377197a8522" providerId="ADAL" clId="{F19F3179-E777-480F-BD2C-D9A8F24E3506}" dt="2025-11-11T19:27:18.300" v="129" actId="20577"/>
          <ac:spMkLst>
            <pc:docMk/>
            <pc:sldMk cId="1505925696" sldId="276"/>
            <ac:spMk id="3" creationId="{8588ED80-8581-A66A-910A-8B2452464AC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7ED373-BAD1-4F47-AB59-36CCC457D4C9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A439AA-4617-4627-B5F6-FFD7862B7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898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start, Malvin will cover the mid-section and I will wrap it up at the end.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22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project focuses on modeling traced transport through the aortic arch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want to see if we can replace a full 3D CFD (Computational Fluid Dynamics)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Which is accurate, but computational heavy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With a much simpler system of ODE (ordinary differential equations)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The agenda shows our talking points for today. The PowerPoint follows the project build-up, where the exercises build on each other.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24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Let’s look at the Computational Fluid Dynamics: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CFD method can simulate blood flow in incredible detail, but is computationally expensive (alas, it can be very slow)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Core idea of this project is: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Can we describe the transport of a tracer through the aortic arch using simple ODE models rather than complex 3D CFD simulations?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Tracer method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By injecting a known tracer concentration and observing the outlet, we can estimate parameters like effective volume, mixing characteristic and residence time of the blood in the arch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Instead of tracking millions of fluid elements, we solve a handful of ODEs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But how close can this simple model come to the CFD?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4949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Each tank represents a small perfectly mixed volume of blood.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tracer moves sequentially through these tanks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Increasing the number of tanks “n” makes the system behave more like plug flow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Plug flow: No back-mixing, constant velocity across the cross-section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Decreasing number of tanks “n” makes the system more mixed and diffusive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Key parameters are number of tanks “n” and total residence time “tau”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084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To simulate this system, we implemented our own numerical ODE solvers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Euler, RK2 and RK4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Each method estimates how the tracer concentration evolves through the tanks over time, using different levels of accuracy and computational cost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 code snippet shows how the solver is called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dirty="0" err="1"/>
              <a:t>ODESolver</a:t>
            </a:r>
            <a:r>
              <a:rPr lang="en-US" dirty="0"/>
              <a:t> class handles all three methods by specifying method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want stable, accurate integrations before comparing our results to the CFD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95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Before using our solvers on real data, we validated the solvers against known analytical solutions for n=1,2 and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plots show the analytical solution in black, and the numerical in color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What we expect to see (for the analytical solution)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n=1 we see an exponential decay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n=2 and n = 3we see a peak before decline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For the numerical solutions we see that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Euler show some diffusion, RK2 improves it ant RK4 almost perfectly overlaps with the analytical curve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We used a low step size “h” to more clearly show solver differences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This confirms that our solver implementation is works and RK4 is indeed the most accurate</a:t>
            </a:r>
          </a:p>
          <a:p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6395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then ran a convergence test to verify theoretical order of accuracy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log-log plot shows how the absolute error decreases with smaller steps (h)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As expected,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Euler converges linearly (1</a:t>
            </a:r>
            <a:r>
              <a:rPr lang="en-US" baseline="30000" dirty="0"/>
              <a:t>st</a:t>
            </a:r>
            <a:r>
              <a:rPr lang="en-US" dirty="0"/>
              <a:t> order)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RK2 converges quadratically (2</a:t>
            </a:r>
            <a:r>
              <a:rPr lang="en-US" baseline="30000" dirty="0"/>
              <a:t>nd</a:t>
            </a:r>
            <a:r>
              <a:rPr lang="en-US" dirty="0"/>
              <a:t> order)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RK4 converges with 4</a:t>
            </a:r>
            <a:r>
              <a:rPr lang="en-US" baseline="30000" dirty="0"/>
              <a:t>th</a:t>
            </a:r>
            <a:r>
              <a:rPr lang="en-US" dirty="0"/>
              <a:t> order accuracy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This confirms theoretical scaling and that the solvers are implemented correctly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 table of observed errors showed us the effect of step size h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This is just an extract. We tested for h =0.1 -&gt; 0.001. Numerical errors scale as expected and we see that: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Euler: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By halving h, error is halved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RK2: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By halving h, error is reduced 4x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RK4: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By halving h, error is reduced by 16x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3416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talking points (?)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use CFD as our “experimental lab”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From the known inlet tracer mass and outlet concentration curve, we estimate the cardiac output using Stewart-Hamilton principle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For the healthy aorta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Physiologically realistic value of 5L/min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5888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talking points (?)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defined several tracer injection profiles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Rectangular, ramp and biphasic pulses to test how the model generalizes to different input signals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3280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talking points (?)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optimize n and tau to minimize the SSR (sum of squared residuals)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Best fit was found at n = 49, tau = 2.3, meaning the flow behaves nearly like plug flow (no back-mixing, constant velocity)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As expected with a healthy aorta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model reproduces the CFD outlet concentration with very good accuracy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4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talking points (?)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aneurysm case, we found fewer compartments and a slightly longer residence time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This reflects the increased mixing and flow dispersion caused by the bulged geometry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higher SSR indicates that the simple CSTR chain struggles to capture the complex recirculation zones of the aneurysm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9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To improve the fit further, we extend the model by adding a side reservoir to represent the aneurysm pocket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new equation describes exchange between the main flow and the side volume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We optimized parameters and found D = 0.8 (exchange rate constant) and VA = 5.0 (reservoir volume) giving a better SSR of 0.18, and improvement factor of about 1.85 compared to aneurysm case without side reservoir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Physically, this means that the aneurysm acts as a large, slow exchanging reservoir near the outlet rather than just a part of the main flow path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This captures the delayed washout in the CFD data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54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 main strength of the n-CSTR approach are its simplicity and speed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It turns CDF-scale complexity into two easy parameters (n and tau), directly reflecting the flows mixing and residence characteristics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However, its not perfect.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Each tank assumes perfect mixing (so we lose spatial detail)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Since parameters are fitted rather than measured, the model can’t capture local flow patterns or backflow accurately in complex geometries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Overall, it’s a great reduced-order model for interpreting flow systems efficiently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But not a CFD replacement when geometry-specific information is required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8310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To summarize, the n-CSTR model successfully reproduced the CFD outlet with high accuracy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Through the project we have showed that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 simple reduced order n-CSTR model can capture the essential transport behavior of blood flow in an aortic arch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That the healthy aorta exhibits plug-like-flow transport with parameters n=49 and tau = 2.36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That the aneurysm aorta cause stronger dispersion and slower washout with parameters n= 21 and tau = 2.45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By extending the model with a side aneurysm volume we improve accuracy further and confirm the presence of slow recirculation zones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project shows that simple ODE-based models can describe complex flow behavior when properly calibrated 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704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96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1EFC7-1B3C-4B0F-AFC7-781CD6B4747D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07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DE27B-BC99-4A0A-BCFD-ED0A267D9D51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8007D-9B1D-4E2C-B38F-29C6820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9127"/>
            <a:ext cx="9272260" cy="3472874"/>
          </a:xfrm>
        </p:spPr>
        <p:txBody>
          <a:bodyPr anchor="t">
            <a:normAutofit/>
          </a:bodyPr>
          <a:lstStyle>
            <a:lvl1pPr>
              <a:defRPr sz="4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0C51B-B525-4032-9D08-2978D7367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939" y="4572000"/>
            <a:ext cx="9272262" cy="1320801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62175-7B16-402E-9E2A-82AFC18A8DE6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77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9890066" cy="129422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8267C-7252-40EA-A643-356AD4037C13}" type="datetime1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016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84333"/>
            <a:ext cx="9949455" cy="838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3C845-5CAB-4C98-B308-7DC64DC94442}" type="datetime1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34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C57F5-CCCF-4169-9887-C85A6A4A9305}" type="datetime1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68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8B02B-A32A-4383-BBC7-0C383390A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C0A02F-ABD3-4941-934D-1D1C21EA3D08}" type="datetime1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FF7E77-47E0-4F9E-9148-8D0C59C0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005A2-ECF0-4759-A17B-FDECE8068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DD4B-5676-477E-8C52-4C1CF160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4448"/>
            <a:ext cx="3785860" cy="1554362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A3E63-EB15-4D82-BF2B-36BB030C4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0" y="922689"/>
            <a:ext cx="548600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E994E-BAB7-43DC-A0E4-C779CF2A33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701254"/>
            <a:ext cx="3785860" cy="31677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EFAAA-1B70-42AA-ADCC-F49B58132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8457-5E11-4F74-9E39-A700DF498CFF}" type="datetime1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C7B6CC-1C13-4F34-AC86-CCD442C8C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F1B638-9061-41AD-AF47-73A4AF8B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960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F3C43-1676-4A29-83F9-D788ED2E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7280"/>
            <a:ext cx="3785860" cy="1559740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4A903-97C7-4349-B8CE-1BBED1942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4500" y="1143000"/>
            <a:ext cx="5486400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0A9F58-4AEB-4286-98F7-3C77AA91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697480"/>
            <a:ext cx="3785860" cy="309342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55A58-F085-4500-AF61-045B12C8F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96D06-1C8D-4B9D-9720-486DA66A489C}" type="datetime1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36470-561D-49AE-AC84-B79D483FD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F2BE2-DF21-4683-9D5F-849A525F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62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C900-05BC-4021-B69F-2DAF974B7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6E227-253A-44A0-9404-1CFD8CE41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36719-8640-4027-924D-33E828541D99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0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2CF945-D70F-49C1-8CE5-5758C11660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82100" y="1091381"/>
            <a:ext cx="2171700" cy="495336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DB721-04AA-4330-8045-3F2D9BB4B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091381"/>
            <a:ext cx="8265340" cy="495336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18C15-991C-4C71-8DCD-DB3B38888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8F77-05EF-4003-8D2E-60226B47138D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728CC3-5830-4EFA-B28E-1648904DE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A91B6-E419-4483-9B66-3C758788B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E447C6A-78C3-4687-9A71-A05DBF6700DE}"/>
              </a:ext>
            </a:extLst>
          </p:cNvPr>
          <p:cNvCxnSpPr>
            <a:cxnSpLocks/>
          </p:cNvCxnSpPr>
          <p:nvPr/>
        </p:nvCxnSpPr>
        <p:spPr>
          <a:xfrm>
            <a:off x="11387805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8517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12942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447778"/>
            <a:ext cx="9922764" cy="38387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15200" y="6389688"/>
            <a:ext cx="3695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8CF3C04-353E-43C9-BC6F-8427A61ACD27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0940" y="6389688"/>
            <a:ext cx="44335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83190" y="6389688"/>
            <a:ext cx="940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8689CE0-64D2-447C-9C1F-872D111D8AC3}"/>
              </a:ext>
            </a:extLst>
          </p:cNvPr>
          <p:cNvCxnSpPr>
            <a:cxnSpLocks/>
          </p:cNvCxnSpPr>
          <p:nvPr/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611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28" r:id="rId6"/>
    <p:sldLayoutId id="2147483724" r:id="rId7"/>
    <p:sldLayoutId id="2147483725" r:id="rId8"/>
    <p:sldLayoutId id="2147483726" r:id="rId9"/>
    <p:sldLayoutId id="2147483727" r:id="rId10"/>
    <p:sldLayoutId id="214748372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11C99DC-C3C5-4EBE-91DD-345109C3D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665F997-7BA8-D1AE-21E3-8A66EB7AC7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4515" y="1076635"/>
            <a:ext cx="4155281" cy="3495365"/>
          </a:xfrm>
        </p:spPr>
        <p:txBody>
          <a:bodyPr anchor="t">
            <a:normAutofit/>
          </a:bodyPr>
          <a:lstStyle/>
          <a:p>
            <a:r>
              <a:rPr lang="en-US" sz="4000" dirty="0"/>
              <a:t>Project 3 – Stirred </a:t>
            </a:r>
            <a:br>
              <a:rPr lang="en-US" sz="4000" dirty="0"/>
            </a:br>
            <a:r>
              <a:rPr lang="en-US" sz="4000" dirty="0"/>
              <a:t>(NOT shaken)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60469092-CE1F-BFB3-CC73-F735F18586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0940" y="4525682"/>
            <a:ext cx="3638358" cy="1318124"/>
          </a:xfrm>
        </p:spPr>
        <p:txBody>
          <a:bodyPr anchor="b">
            <a:normAutofit/>
          </a:bodyPr>
          <a:lstStyle/>
          <a:p>
            <a:r>
              <a:rPr lang="en-US" dirty="0"/>
              <a:t>Malvin </a:t>
            </a:r>
            <a:r>
              <a:rPr lang="en-US" dirty="0" err="1"/>
              <a:t>Varpe</a:t>
            </a:r>
            <a:r>
              <a:rPr lang="en-US" dirty="0"/>
              <a:t> &amp; </a:t>
            </a:r>
            <a:br>
              <a:rPr lang="en-US" dirty="0"/>
            </a:br>
            <a:r>
              <a:rPr lang="en-US" dirty="0"/>
              <a:t>Torgrim Odde</a:t>
            </a:r>
          </a:p>
        </p:txBody>
      </p:sp>
      <p:cxnSp>
        <p:nvCxnSpPr>
          <p:cNvPr id="16" name="Straight Connector 10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7684" y="1186792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3" descr="Hvit struktur">
            <a:extLst>
              <a:ext uri="{FF2B5EF4-FFF2-40B4-BE49-F238E27FC236}">
                <a16:creationId xmlns:a16="http://schemas.microsoft.com/office/drawing/2014/main" id="{36F57848-66CA-2942-B675-DFAE15E48D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1" r="26742"/>
          <a:stretch>
            <a:fillRect/>
          </a:stretch>
        </p:blipFill>
        <p:spPr>
          <a:xfrm>
            <a:off x="5524500" y="1"/>
            <a:ext cx="6667501" cy="6857999"/>
          </a:xfrm>
          <a:prstGeom prst="rect">
            <a:avLst/>
          </a:prstGeom>
        </p:spPr>
      </p:pic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45F2A5A8-881A-55B0-AF64-C67B449D9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68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5F2A9C2-EB17-6CB2-A050-C25396B4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A011D28F-77F2-55AD-BD61-8E92F7225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Governing Theory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Numerical Implementation (Ex 1)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CFD Data and Cardiac Output (Ex 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Injection Protocols &amp; Model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Fitting the Healthy Aorta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Aneurysm Case (Ex 3)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Extended Model (Ex 4)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Reflection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Conclusions &amp; Learning Outcomes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F465394E-BA1C-5D3F-88D4-91FDBB1AF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2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EC889971-AD4D-A930-277B-A84E8C02F3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397"/>
          <a:stretch>
            <a:fillRect/>
          </a:stretch>
        </p:blipFill>
        <p:spPr>
          <a:xfrm>
            <a:off x="6547866" y="821291"/>
            <a:ext cx="4725184" cy="546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096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2149F6C2-264F-12EB-2F52-937D2B916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4000"/>
              <a:t>Introduction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E96E3CE-5785-750E-8EC7-7CCF05697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147804" cy="296604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Challenges with CFD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Goal: Build a reduced-order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Tracer injection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76F07E2A-C619-AFF6-D4CA-B8F4152F7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7ED6EB3F-772F-D25C-8D1F-8F0B78163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817" y="1091868"/>
            <a:ext cx="6048132" cy="4948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795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72BDB57-FB51-8640-721A-6444E6758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Governing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6351EDC9-091A-8EE2-4485-820DA81E86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n-CSTR model</a:t>
                </a:r>
              </a:p>
              <a:p>
                <a:pPr lvl="1"/>
                <a:r>
                  <a:rPr lang="en-US" dirty="0"/>
                  <a:t>n = number of compartments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𝑡𝑎𝑢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𝑡𝑜𝑡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q = flow rate</a:t>
                </a:r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6351EDC9-091A-8EE2-4485-820DA81E86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DC32064-9840-2795-A1EC-E008CCFF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4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C3E03462-2A9D-629E-9F77-CF587E20FF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414"/>
          <a:stretch>
            <a:fillRect/>
          </a:stretch>
        </p:blipFill>
        <p:spPr>
          <a:xfrm>
            <a:off x="6445576" y="2865769"/>
            <a:ext cx="5242842" cy="150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62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62DCBCD-B047-5504-40D1-09724A117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Implementation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9842B55-0ECA-A0B3-A50C-3FCF5E63D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ODE form 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Euler, RK2, RK4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2147250D-0CB0-4CEB-711B-7565860B2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5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3B0D876B-1384-1E65-8EA2-E9CBF02F4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236" y="2270431"/>
            <a:ext cx="1524792" cy="754847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5F0023BD-495A-00BC-92F4-BEF8CF145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590" y="5686301"/>
            <a:ext cx="6239747" cy="885949"/>
          </a:xfrm>
          <a:prstGeom prst="rect">
            <a:avLst/>
          </a:prstGeom>
        </p:spPr>
      </p:pic>
      <p:pic>
        <p:nvPicPr>
          <p:cNvPr id="16" name="Bilde 15">
            <a:extLst>
              <a:ext uri="{FF2B5EF4-FFF2-40B4-BE49-F238E27FC236}">
                <a16:creationId xmlns:a16="http://schemas.microsoft.com/office/drawing/2014/main" id="{77CB00A1-E5DC-0CDB-5FB8-FF8679BBE8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3592" y="2017066"/>
            <a:ext cx="6239746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62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689CE0-64D2-447C-9C1F-872D111D8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02D1A37-7C2A-4258-95A8-919D781C69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E17C7872-4FB0-594C-ED9B-C10850224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646" y="1092848"/>
            <a:ext cx="9958753" cy="6801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Numerical Implementation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6626" y="1185999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lassholder for innhold 9">
            <a:extLst>
              <a:ext uri="{FF2B5EF4-FFF2-40B4-BE49-F238E27FC236}">
                <a16:creationId xmlns:a16="http://schemas.microsoft.com/office/drawing/2014/main" id="{B1218900-40FA-E78D-E0F4-3823403A27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81100" y="3101788"/>
            <a:ext cx="2975426" cy="2343148"/>
          </a:xfrm>
          <a:prstGeom prst="rect">
            <a:avLst/>
          </a:prstGeom>
        </p:spPr>
      </p:pic>
      <p:pic>
        <p:nvPicPr>
          <p:cNvPr id="12" name="Bilde 11">
            <a:extLst>
              <a:ext uri="{FF2B5EF4-FFF2-40B4-BE49-F238E27FC236}">
                <a16:creationId xmlns:a16="http://schemas.microsoft.com/office/drawing/2014/main" id="{3E79B280-9D9E-B8D7-84F5-3068D9F6A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7029" y="3088616"/>
            <a:ext cx="2979280" cy="2331286"/>
          </a:xfrm>
          <a:prstGeom prst="rect">
            <a:avLst/>
          </a:prstGeom>
        </p:spPr>
      </p:pic>
      <p:pic>
        <p:nvPicPr>
          <p:cNvPr id="14" name="Bilde 13">
            <a:extLst>
              <a:ext uri="{FF2B5EF4-FFF2-40B4-BE49-F238E27FC236}">
                <a16:creationId xmlns:a16="http://schemas.microsoft.com/office/drawing/2014/main" id="{95DBD130-5415-8E5C-BA2C-98CA03FC87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1620" y="3101788"/>
            <a:ext cx="2979280" cy="2323838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2474EEAB-AEA9-7CD7-050E-AFF90A4E6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6" name="TekstSylinder 5">
            <a:extLst>
              <a:ext uri="{FF2B5EF4-FFF2-40B4-BE49-F238E27FC236}">
                <a16:creationId xmlns:a16="http://schemas.microsoft.com/office/drawing/2014/main" id="{17A30D4C-C8BE-383E-F4DB-EA3C2A7837E0}"/>
              </a:ext>
            </a:extLst>
          </p:cNvPr>
          <p:cNvSpPr txBox="1"/>
          <p:nvPr/>
        </p:nvSpPr>
        <p:spPr>
          <a:xfrm>
            <a:off x="1181100" y="2239552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Analytical vs Numerical Solution</a:t>
            </a:r>
          </a:p>
        </p:txBody>
      </p:sp>
    </p:spTree>
    <p:extLst>
      <p:ext uri="{BB962C8B-B14F-4D97-AF65-F5344CB8AC3E}">
        <p14:creationId xmlns:p14="http://schemas.microsoft.com/office/powerpoint/2010/main" val="233139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49A72C6-8397-7E77-B5B4-89C1B59A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Convergence study</a:t>
            </a:r>
            <a:endParaRPr lang="en-US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9EE47DE-0D99-7AAD-F810-AE5F055CB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Log-log error plot for t = 1 (n=3)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Table of observed errors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E2B57FFE-F656-28C3-068B-63D856CD7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7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AFD0711-7CB4-E0B5-38AB-1A8216AF0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1930" y="1646653"/>
            <a:ext cx="4456123" cy="3362075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FDCC05B9-E328-BCA9-A4E2-C7F200297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0089" y="5088032"/>
            <a:ext cx="4497964" cy="862392"/>
          </a:xfrm>
          <a:prstGeom prst="rect">
            <a:avLst/>
          </a:prstGeom>
        </p:spPr>
      </p:pic>
      <p:pic>
        <p:nvPicPr>
          <p:cNvPr id="12" name="Bilde 11">
            <a:extLst>
              <a:ext uri="{FF2B5EF4-FFF2-40B4-BE49-F238E27FC236}">
                <a16:creationId xmlns:a16="http://schemas.microsoft.com/office/drawing/2014/main" id="{3892F131-67C2-A72D-0A42-37734B515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947" y="3971562"/>
            <a:ext cx="5372850" cy="260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844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B5B83F6-BB68-6305-89A3-5740A8E55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CFD Data and Cardiac Output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9DB2D51-5E42-2B26-A0B4-5D0893C17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Stewart-Hamilton equation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Result: q = 5L/min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Short plot: Concentration over time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2B45E123-1A35-1F3F-4B20-1B8530DF8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8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FCC13CB8-A7DB-91F9-1077-39A420694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6870" y="2344590"/>
            <a:ext cx="3253240" cy="1174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450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04603EF-45EA-360B-6884-2C41393F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Injection Protocols &amp; Model Setup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1B2272CB-8123-9FB0-1B23-CCB603871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9</a:t>
            </a:fld>
            <a:endParaRPr lang="en-US"/>
          </a:p>
        </p:txBody>
      </p:sp>
      <p:pic>
        <p:nvPicPr>
          <p:cNvPr id="10" name="Plassholder for innhold 9">
            <a:extLst>
              <a:ext uri="{FF2B5EF4-FFF2-40B4-BE49-F238E27FC236}">
                <a16:creationId xmlns:a16="http://schemas.microsoft.com/office/drawing/2014/main" id="{77F9C39D-226B-2492-32E8-3A76E5FBE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857374" y="2193946"/>
            <a:ext cx="4286848" cy="381053"/>
          </a:xfrm>
          <a:prstGeom prst="rect">
            <a:avLst/>
          </a:prstGeom>
        </p:spPr>
      </p:pic>
      <p:pic>
        <p:nvPicPr>
          <p:cNvPr id="12" name="Bilde 11">
            <a:extLst>
              <a:ext uri="{FF2B5EF4-FFF2-40B4-BE49-F238E27FC236}">
                <a16:creationId xmlns:a16="http://schemas.microsoft.com/office/drawing/2014/main" id="{95317DF8-A5DB-0A63-E26F-DD34EEFB3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208" y="2592078"/>
            <a:ext cx="5134692" cy="33818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kstSylinder 12">
                <a:extLst>
                  <a:ext uri="{FF2B5EF4-FFF2-40B4-BE49-F238E27FC236}">
                    <a16:creationId xmlns:a16="http://schemas.microsoft.com/office/drawing/2014/main" id="{B2CFAAAE-77E8-54B0-1581-08771ABD33CD}"/>
                  </a:ext>
                </a:extLst>
              </p:cNvPr>
              <p:cNvSpPr txBox="1"/>
              <p:nvPr/>
            </p:nvSpPr>
            <p:spPr>
              <a:xfrm>
                <a:off x="1088136" y="2193946"/>
                <a:ext cx="455729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Examples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shapes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Rectangular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Ramp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Biphasic</a:t>
                </a:r>
              </a:p>
            </p:txBody>
          </p:sp>
        </mc:Choice>
        <mc:Fallback>
          <p:sp>
            <p:nvSpPr>
              <p:cNvPr id="13" name="TekstSylinder 12">
                <a:extLst>
                  <a:ext uri="{FF2B5EF4-FFF2-40B4-BE49-F238E27FC236}">
                    <a16:creationId xmlns:a16="http://schemas.microsoft.com/office/drawing/2014/main" id="{B2CFAAAE-77E8-54B0-1581-08771ABD3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2193946"/>
                <a:ext cx="4557290" cy="1200329"/>
              </a:xfrm>
              <a:prstGeom prst="rect">
                <a:avLst/>
              </a:prstGeom>
              <a:blipFill>
                <a:blip r:embed="rId5"/>
                <a:stretch>
                  <a:fillRect l="-937" t="-3046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7412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2131E615-7FE0-D95E-D1FF-7926E9D20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3" y="1091868"/>
            <a:ext cx="5077479" cy="2042160"/>
          </a:xfrm>
        </p:spPr>
        <p:txBody>
          <a:bodyPr>
            <a:normAutofit/>
          </a:bodyPr>
          <a:lstStyle/>
          <a:p>
            <a:r>
              <a:rPr lang="en-US" sz="4000"/>
              <a:t>Fitting the Healthy Aorta Data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55FB8EA-5471-4074-88CA-98AA3AD98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2112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7CF1FBB-AD76-7C09-EE70-1EF915BC3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975768" cy="3028704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Objective: Minimize SSR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Optimization via Scant Method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n = 49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Tau = 2.36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SSR = 0.032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Plot: Model vs CFD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C4CED04D-5C6B-E830-0AAB-9A28077B1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5539" y="1143000"/>
            <a:ext cx="3411940" cy="2286000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75CF1305-FA0A-3DEF-98DA-A5D9312F9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538" y="3760306"/>
            <a:ext cx="3476805" cy="2286000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2221742-AA8A-8B5D-CC02-2D5040A1C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53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608C15EB-6A90-EF91-E8B4-33B27146D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3" y="1091868"/>
            <a:ext cx="5077479" cy="2042160"/>
          </a:xfrm>
        </p:spPr>
        <p:txBody>
          <a:bodyPr>
            <a:normAutofit/>
          </a:bodyPr>
          <a:lstStyle/>
          <a:p>
            <a:r>
              <a:rPr lang="en-US" sz="4000"/>
              <a:t>Aneurysm Case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55FB8EA-5471-4074-88CA-98AA3AD98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2112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9723981-C01C-0625-6182-FE6419286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975768" cy="3028704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n = 21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Tau = 2.45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SSR = 0.34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Plot: CFD vs Model</a:t>
            </a:r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70424A11-F940-0AE7-77DD-69B963B9F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5539" y="1143000"/>
            <a:ext cx="3374170" cy="2286000"/>
          </a:xfrm>
          <a:prstGeom prst="rect">
            <a:avLst/>
          </a:prstGeom>
        </p:spPr>
      </p:pic>
      <p:pic>
        <p:nvPicPr>
          <p:cNvPr id="6" name="Bilde 5">
            <a:extLst>
              <a:ext uri="{FF2B5EF4-FFF2-40B4-BE49-F238E27FC236}">
                <a16:creationId xmlns:a16="http://schemas.microsoft.com/office/drawing/2014/main" id="{96AF3DAE-F7AB-3A3B-7E33-90DA2E59D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538" y="3760306"/>
            <a:ext cx="3544186" cy="2286000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245499CF-4A96-97CA-061B-DDD7B1F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21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DC4F0D24-3141-DAA3-AB59-2424A7622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4000"/>
              <a:t>Extended Model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104DB93C-AEC4-1BDC-1891-9B27B0C466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Added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endParaRPr lang="en-US" sz="1400" dirty="0"/>
              </a:p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Results</a:t>
                </a:r>
              </a:p>
              <a:p>
                <a:pPr lvl="1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 = 0.9</a:t>
                </a:r>
              </a:p>
              <a:p>
                <a:pPr lvl="1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400" dirty="0"/>
                  <a:t>VA = 5.0</a:t>
                </a:r>
              </a:p>
              <a:p>
                <a:pPr lvl="1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SSR improvement: 0.34 -&gt; 0.18</a:t>
                </a:r>
              </a:p>
              <a:p>
                <a:pPr lvl="1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endParaRPr lang="en-US" sz="1400" dirty="0"/>
              </a:p>
              <a:p>
                <a:pPr lvl="1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Diagram: Main flow + side aneurysm pocket</a:t>
                </a:r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104DB93C-AEC4-1BDC-1891-9B27B0C466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  <a:blipFill>
                <a:blip r:embed="rId3"/>
                <a:stretch>
                  <a:fillRect l="-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B6FFEB46-48C7-B2F0-B1F9-BA1548E6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A3BC2834-7929-B9D3-24FA-C675755E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507" y="2430968"/>
            <a:ext cx="3650636" cy="4141282"/>
          </a:xfrm>
          <a:prstGeom prst="rect">
            <a:avLst/>
          </a:prstGeom>
        </p:spPr>
      </p:pic>
      <p:pic>
        <p:nvPicPr>
          <p:cNvPr id="14" name="Bilde 13">
            <a:extLst>
              <a:ext uri="{FF2B5EF4-FFF2-40B4-BE49-F238E27FC236}">
                <a16:creationId xmlns:a16="http://schemas.microsoft.com/office/drawing/2014/main" id="{0245B91A-9ED5-0C7A-03DE-AC2E2DAA6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8067" y="451262"/>
            <a:ext cx="5525271" cy="182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73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54BCC20-4BCC-BD78-948B-6D6F547BB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AD15EE6B-B675-C760-FD8E-9AC6F7798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Strengths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&amp; fast, ideal for diagnostics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Physically interpretable 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Good generalization to new inputs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Weaknesses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Loses spatial detail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Empirical data fitting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Limited accuracy for complex 3D flow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D43C876D-64FB-CAA5-1722-CCB087B53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94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FCDD8BC-983E-EA4D-D277-B14FE06E3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Learning Outcomes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23DA360-9EF5-49BA-5ED0-0C69B09F2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Key 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Healthy n = 49, tau = 2.36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Aneurysm n = 21, tau = 2.45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Extended model, SSR reduced by factor 1.85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Summary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Solvers validated (Euler, RK2 and RK4)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CFD matched with simple ODE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Reduced-order model captures physiology at low cost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8B3B6CA-3013-2BFF-8B40-1E3821C9A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3260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F3BA311-DAD9-D87A-EAA7-D830F328A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Learning Outcomes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8588ED80-8581-A66A-910A-8B2452464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Learning objectives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Implement an ODE solver using the Euler, Runge-</a:t>
            </a:r>
            <a:r>
              <a:rPr lang="en-US" dirty="0" err="1"/>
              <a:t>Kutta</a:t>
            </a:r>
            <a:r>
              <a:rPr lang="en-US" dirty="0"/>
              <a:t> (second and fourth order) algorithm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 mixing tank models to model how the shape of a medical tracer changes after traveling in an aorta arch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Compare the ODE model to CFD simulation results and extract information about the cardiac output (flooding rate) and volume of the aortic arch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Investigate if one can use the tracer signal to identify if there is a an aneurysm in the aorta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8F24E8A9-DE17-45D3-33BE-0A8A92A83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925696"/>
      </p:ext>
    </p:extLst>
  </p:cSld>
  <p:clrMapOvr>
    <a:masterClrMapping/>
  </p:clrMapOvr>
</p:sld>
</file>

<file path=ppt/theme/theme1.xml><?xml version="1.0" encoding="utf-8"?>
<a:theme xmlns:a="http://schemas.openxmlformats.org/drawingml/2006/main" name="BjornVTI">
  <a:themeElements>
    <a:clrScheme name="Bjorn">
      <a:dk1>
        <a:sysClr val="windowText" lastClr="000000"/>
      </a:dk1>
      <a:lt1>
        <a:sysClr val="window" lastClr="FFFFFF"/>
      </a:lt1>
      <a:dk2>
        <a:srgbClr val="252747"/>
      </a:dk2>
      <a:lt2>
        <a:srgbClr val="ECE4E9"/>
      </a:lt2>
      <a:accent1>
        <a:srgbClr val="736EB6"/>
      </a:accent1>
      <a:accent2>
        <a:srgbClr val="AB5991"/>
      </a:accent2>
      <a:accent3>
        <a:srgbClr val="AC9F39"/>
      </a:accent3>
      <a:accent4>
        <a:srgbClr val="756029"/>
      </a:accent4>
      <a:accent5>
        <a:srgbClr val="E87850"/>
      </a:accent5>
      <a:accent6>
        <a:srgbClr val="C6922A"/>
      </a:accent6>
      <a:hlink>
        <a:srgbClr val="736EB6"/>
      </a:hlink>
      <a:folHlink>
        <a:srgbClr val="AB5991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VTI" id="{D01443FD-65CF-4AEF-9B9D-4466C96F9785}" vid="{36EF4262-385E-40E6-B073-FB18FD98BF4C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4BBD6C06A0DE48ACBAB514EB50DDDC" ma:contentTypeVersion="15" ma:contentTypeDescription="Create a new document." ma:contentTypeScope="" ma:versionID="e411f08a2840eb4c2c659d48e130b1c1">
  <xsd:schema xmlns:xsd="http://www.w3.org/2001/XMLSchema" xmlns:xs="http://www.w3.org/2001/XMLSchema" xmlns:p="http://schemas.microsoft.com/office/2006/metadata/properties" xmlns:ns3="f32230bf-e247-430b-8132-dda84b672e09" xmlns:ns4="63dba08a-eb68-4688-8594-69aeae0aec6b" targetNamespace="http://schemas.microsoft.com/office/2006/metadata/properties" ma:root="true" ma:fieldsID="c0124a76df93d5d422ba5e331c68b4b9" ns3:_="" ns4:_="">
    <xsd:import namespace="f32230bf-e247-430b-8132-dda84b672e09"/>
    <xsd:import namespace="63dba08a-eb68-4688-8594-69aeae0aec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32230bf-e247-430b-8132-dda84b672e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dba08a-eb68-4688-8594-69aeae0aec6b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32230bf-e247-430b-8132-dda84b672e09" xsi:nil="true"/>
  </documentManagement>
</p:properties>
</file>

<file path=customXml/itemProps1.xml><?xml version="1.0" encoding="utf-8"?>
<ds:datastoreItem xmlns:ds="http://schemas.openxmlformats.org/officeDocument/2006/customXml" ds:itemID="{0DC6942C-5FA6-44C0-95FC-C76C51F471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32230bf-e247-430b-8132-dda84b672e09"/>
    <ds:schemaRef ds:uri="63dba08a-eb68-4688-8594-69aeae0aec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F9B8160-C1C6-4E12-902A-6A06E8B78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13A51D2-7BD9-468E-B9FF-0AF273694999}">
  <ds:schemaRefs>
    <ds:schemaRef ds:uri="http://schemas.microsoft.com/office/infopath/2007/PartnerControls"/>
    <ds:schemaRef ds:uri="63dba08a-eb68-4688-8594-69aeae0aec6b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http://schemas.openxmlformats.org/package/2006/metadata/core-properties"/>
    <ds:schemaRef ds:uri="f32230bf-e247-430b-8132-dda84b672e09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2787</TotalTime>
  <Words>1548</Words>
  <Application>Microsoft Office PowerPoint</Application>
  <PresentationFormat>Widescreen</PresentationFormat>
  <Paragraphs>225</Paragraphs>
  <Slides>15</Slides>
  <Notes>15</Notes>
  <HiddenSlides>0</HiddenSlides>
  <MMClips>0</MMClips>
  <ScaleCrop>false</ScaleCrop>
  <HeadingPairs>
    <vt:vector size="6" baseType="variant">
      <vt:variant>
        <vt:lpstr>Brukte skrifter</vt:lpstr>
      </vt:variant>
      <vt:variant>
        <vt:i4>4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15</vt:i4>
      </vt:variant>
    </vt:vector>
  </HeadingPairs>
  <TitlesOfParts>
    <vt:vector size="20" baseType="lpstr">
      <vt:lpstr>Aptos</vt:lpstr>
      <vt:lpstr>Arial</vt:lpstr>
      <vt:lpstr>Cambria Math</vt:lpstr>
      <vt:lpstr>Neue Haas Grotesk Text Pro</vt:lpstr>
      <vt:lpstr>BjornVTI</vt:lpstr>
      <vt:lpstr>Project 3 – Stirred  (NOT shaken)</vt:lpstr>
      <vt:lpstr>Agenda</vt:lpstr>
      <vt:lpstr>Introduction</vt:lpstr>
      <vt:lpstr>Governing Theory</vt:lpstr>
      <vt:lpstr>Numerical Implementation</vt:lpstr>
      <vt:lpstr>Numerical Implementation</vt:lpstr>
      <vt:lpstr>Convergence study</vt:lpstr>
      <vt:lpstr>CFD Data and Cardiac Output</vt:lpstr>
      <vt:lpstr>Injection Protocols &amp; Model Setup</vt:lpstr>
      <vt:lpstr>Fitting the Healthy Aorta Data</vt:lpstr>
      <vt:lpstr>Aneurysm Case</vt:lpstr>
      <vt:lpstr>Extended Model</vt:lpstr>
      <vt:lpstr>Discussion</vt:lpstr>
      <vt:lpstr>Conclusion &amp; Learning Outcomes</vt:lpstr>
      <vt:lpstr>Conclusion &amp; Learning Outcomes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Torgrim Odde</dc:creator>
  <cp:lastModifiedBy>Torgrim Odde</cp:lastModifiedBy>
  <cp:revision>2</cp:revision>
  <dcterms:created xsi:type="dcterms:W3CDTF">2025-10-12T13:08:04Z</dcterms:created>
  <dcterms:modified xsi:type="dcterms:W3CDTF">2025-11-11T20:24:15Z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0x010100344BBD6C06A0DE48ACBAB514EB50DDDC</vt:lpwstr>
  </property>
</Properties>
</file>
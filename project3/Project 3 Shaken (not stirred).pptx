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Lst>
  <p:notesMasterIdLst>
    <p:notesMasterId r:id="rId24"/>
  </p:notesMasterIdLst>
  <p:sldIdLst>
    <p:sldId id="256" r:id="rId5"/>
    <p:sldId id="257" r:id="rId6"/>
    <p:sldId id="264" r:id="rId7"/>
    <p:sldId id="279" r:id="rId8"/>
    <p:sldId id="265" r:id="rId9"/>
    <p:sldId id="266" r:id="rId10"/>
    <p:sldId id="267" r:id="rId11"/>
    <p:sldId id="268" r:id="rId12"/>
    <p:sldId id="269" r:id="rId13"/>
    <p:sldId id="270" r:id="rId14"/>
    <p:sldId id="278" r:id="rId15"/>
    <p:sldId id="271" r:id="rId16"/>
    <p:sldId id="277" r:id="rId17"/>
    <p:sldId id="272" r:id="rId18"/>
    <p:sldId id="280"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EAC3B4-1E6D-4248-B7AC-C601060D620A}" v="126" dt="2025-11-11T20:10:48.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8406" autoAdjust="0"/>
  </p:normalViewPr>
  <p:slideViewPr>
    <p:cSldViewPr snapToGrid="0">
      <p:cViewPr varScale="1">
        <p:scale>
          <a:sx n="78" d="100"/>
          <a:sy n="78" d="100"/>
        </p:scale>
        <p:origin x="1872" y="29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7ED373-BAD1-4F47-AB59-36CCC457D4C9}" type="datetimeFigureOut">
              <a:rPr lang="en-US" smtClean="0"/>
              <a:t>11/12/2025</a:t>
            </a:fld>
            <a:endParaRPr lang="en-US"/>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439AA-4617-4627-B5F6-FFD7862B74B0}" type="slidenum">
              <a:rPr lang="en-US" smtClean="0"/>
              <a:t>‹#›</a:t>
            </a:fld>
            <a:endParaRPr lang="en-US"/>
          </a:p>
        </p:txBody>
      </p:sp>
    </p:spTree>
    <p:extLst>
      <p:ext uri="{BB962C8B-B14F-4D97-AF65-F5344CB8AC3E}">
        <p14:creationId xmlns:p14="http://schemas.microsoft.com/office/powerpoint/2010/main" val="466898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dirty="0"/>
              <a:t>I will start, Malvin will cover the mid-section and I will wrap it up at the end.</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a:t>
            </a:fld>
            <a:endParaRPr lang="en-US"/>
          </a:p>
        </p:txBody>
      </p:sp>
    </p:spTree>
    <p:extLst>
      <p:ext uri="{BB962C8B-B14F-4D97-AF65-F5344CB8AC3E}">
        <p14:creationId xmlns:p14="http://schemas.microsoft.com/office/powerpoint/2010/main" val="373722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The project focuses on modeling traced transport through the aortic arch</a:t>
            </a:r>
          </a:p>
          <a:p>
            <a:pPr marL="171450" indent="-171450">
              <a:buFont typeface="Arial" panose="020B0604020202020204" pitchFamily="34" charset="0"/>
              <a:buChar char="•"/>
            </a:pPr>
            <a:r>
              <a:rPr lang="en-US" dirty="0"/>
              <a:t>We want to see if we can replace a full 3D CFD (Computational Fluid Dynamics)</a:t>
            </a:r>
          </a:p>
          <a:p>
            <a:pPr marL="628650" lvl="1" indent="-171450">
              <a:buFont typeface="Arial" panose="020B0604020202020204" pitchFamily="34" charset="0"/>
              <a:buChar char="•"/>
            </a:pPr>
            <a:r>
              <a:rPr lang="en-US" dirty="0"/>
              <a:t>Which is accurate, but computational heavy</a:t>
            </a:r>
          </a:p>
          <a:p>
            <a:pPr marL="171450" lvl="0" indent="-171450">
              <a:buFont typeface="Arial" panose="020B0604020202020204" pitchFamily="34" charset="0"/>
              <a:buChar char="•"/>
            </a:pPr>
            <a:r>
              <a:rPr lang="en-US" dirty="0"/>
              <a:t>With a much simpler system of ODE (ordinary differential equations)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agenda shows our talking points for today. The PowerPoint follows the project build-up, where the exercises build on each other.</a:t>
            </a:r>
          </a:p>
          <a:p>
            <a:pPr marL="0" lvl="0" indent="0">
              <a:buFont typeface="Arial" panose="020B0604020202020204" pitchFamily="34" charset="0"/>
              <a:buNone/>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2</a:t>
            </a:fld>
            <a:endParaRPr lang="en-US"/>
          </a:p>
        </p:txBody>
      </p:sp>
    </p:spTree>
    <p:extLst>
      <p:ext uri="{BB962C8B-B14F-4D97-AF65-F5344CB8AC3E}">
        <p14:creationId xmlns:p14="http://schemas.microsoft.com/office/powerpoint/2010/main" val="4078324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Let’s look at the Computational Fluid Dynamics:</a:t>
            </a:r>
          </a:p>
          <a:p>
            <a:pPr marL="628650" lvl="1" indent="-171450">
              <a:buFont typeface="Arial" panose="020B0604020202020204" pitchFamily="34" charset="0"/>
              <a:buChar char="•"/>
            </a:pPr>
            <a:r>
              <a:rPr lang="en-US" dirty="0"/>
              <a:t>The CFD method can simulate blood flow in incredible detail, but is computationally expensive (alas, it can be very slow)</a:t>
            </a:r>
          </a:p>
          <a:p>
            <a:pPr marL="628650" lvl="1"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Core idea of this project is: </a:t>
            </a:r>
          </a:p>
          <a:p>
            <a:pPr marL="628650" lvl="1" indent="-171450">
              <a:buFont typeface="Arial" panose="020B0604020202020204" pitchFamily="34" charset="0"/>
              <a:buChar char="•"/>
            </a:pPr>
            <a:r>
              <a:rPr lang="en-US" dirty="0"/>
              <a:t>Can we describe the transport of a tracer through the aortic arch using simple ODE models rather than complex 3D CFD simulations?</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Tracer method</a:t>
            </a:r>
          </a:p>
          <a:p>
            <a:pPr marL="628650" lvl="1" indent="-171450">
              <a:buFont typeface="Arial" panose="020B0604020202020204" pitchFamily="34" charset="0"/>
              <a:buChar char="•"/>
            </a:pPr>
            <a:r>
              <a:rPr lang="en-US" dirty="0"/>
              <a:t>By injecting a known tracer concentration and observing the outlet, we can estimate parameters like effective volume, mixing characteristic and residence time of the blood in the arch</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Instead of tracking millions of fluid elements, we solve a handful of ODEs</a:t>
            </a:r>
          </a:p>
          <a:p>
            <a:pPr marL="628650" lvl="1" indent="-171450">
              <a:buFont typeface="Arial" panose="020B0604020202020204" pitchFamily="34" charset="0"/>
              <a:buChar char="•"/>
            </a:pPr>
            <a:r>
              <a:rPr lang="en-US" dirty="0"/>
              <a:t>But how close can this simple model come to the CFD?</a:t>
            </a:r>
          </a:p>
        </p:txBody>
      </p:sp>
      <p:sp>
        <p:nvSpPr>
          <p:cNvPr id="4" name="Plassholder for lysbildenummer 3"/>
          <p:cNvSpPr>
            <a:spLocks noGrp="1"/>
          </p:cNvSpPr>
          <p:nvPr>
            <p:ph type="sldNum" sz="quarter" idx="5"/>
          </p:nvPr>
        </p:nvSpPr>
        <p:spPr/>
        <p:txBody>
          <a:bodyPr/>
          <a:lstStyle/>
          <a:p>
            <a:fld id="{F7A439AA-4617-4627-B5F6-FFD7862B74B0}" type="slidenum">
              <a:rPr lang="en-US" smtClean="0"/>
              <a:t>3</a:t>
            </a:fld>
            <a:endParaRPr lang="en-US"/>
          </a:p>
        </p:txBody>
      </p:sp>
    </p:spTree>
    <p:extLst>
      <p:ext uri="{BB962C8B-B14F-4D97-AF65-F5344CB8AC3E}">
        <p14:creationId xmlns:p14="http://schemas.microsoft.com/office/powerpoint/2010/main" val="3051494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Each tank represents a small perfectly mixed volume of blood.</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tracer moves sequentially through these tanks</a:t>
            </a:r>
          </a:p>
          <a:p>
            <a:pPr marL="628650" lvl="1" indent="-171450">
              <a:buFont typeface="Arial" panose="020B0604020202020204" pitchFamily="34" charset="0"/>
              <a:buChar char="•"/>
            </a:pPr>
            <a:r>
              <a:rPr lang="en-US" dirty="0"/>
              <a:t>Increasing the number of tanks “n” makes the system behave more like plug flow </a:t>
            </a:r>
          </a:p>
          <a:p>
            <a:pPr marL="1085850" lvl="2" indent="-171450">
              <a:buFont typeface="Arial" panose="020B0604020202020204" pitchFamily="34" charset="0"/>
              <a:buChar char="•"/>
            </a:pPr>
            <a:r>
              <a:rPr lang="en-US" dirty="0"/>
              <a:t>Plug flow: No back-mixing, constant velocity across the cross-section</a:t>
            </a:r>
          </a:p>
          <a:p>
            <a:pPr marL="628650" lvl="1" indent="-171450">
              <a:buFont typeface="Arial" panose="020B0604020202020204" pitchFamily="34" charset="0"/>
              <a:buChar char="•"/>
            </a:pPr>
            <a:r>
              <a:rPr lang="en-US" dirty="0"/>
              <a:t>Decreasing number of tanks “n” makes the system more mixed and diffusive</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Key parameters are number of tanks “n” and total residence time “tau”</a:t>
            </a:r>
          </a:p>
        </p:txBody>
      </p:sp>
      <p:sp>
        <p:nvSpPr>
          <p:cNvPr id="4" name="Plassholder for lysbildenummer 3"/>
          <p:cNvSpPr>
            <a:spLocks noGrp="1"/>
          </p:cNvSpPr>
          <p:nvPr>
            <p:ph type="sldNum" sz="quarter" idx="5"/>
          </p:nvPr>
        </p:nvSpPr>
        <p:spPr/>
        <p:txBody>
          <a:bodyPr/>
          <a:lstStyle/>
          <a:p>
            <a:fld id="{F7A439AA-4617-4627-B5F6-FFD7862B74B0}" type="slidenum">
              <a:rPr lang="en-US" smtClean="0"/>
              <a:t>5</a:t>
            </a:fld>
            <a:endParaRPr lang="en-US"/>
          </a:p>
        </p:txBody>
      </p:sp>
    </p:spTree>
    <p:extLst>
      <p:ext uri="{BB962C8B-B14F-4D97-AF65-F5344CB8AC3E}">
        <p14:creationId xmlns:p14="http://schemas.microsoft.com/office/powerpoint/2010/main" val="4042084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To simulate this system, we implemented our own numerical ODE solvers</a:t>
            </a:r>
          </a:p>
          <a:p>
            <a:pPr marL="628650" lvl="1" indent="-171450">
              <a:buFont typeface="Arial" panose="020B0604020202020204" pitchFamily="34" charset="0"/>
              <a:buChar char="•"/>
            </a:pPr>
            <a:r>
              <a:rPr lang="en-US" dirty="0"/>
              <a:t>Euler, RK2 and RK4</a:t>
            </a:r>
          </a:p>
          <a:p>
            <a:pPr marL="171450" lvl="0" indent="-171450">
              <a:buFont typeface="Arial" panose="020B0604020202020204" pitchFamily="34" charset="0"/>
              <a:buChar char="•"/>
            </a:pPr>
            <a:r>
              <a:rPr lang="en-US" dirty="0"/>
              <a:t>Each method estimates how the tracer concentration evolves through the tanks over time, using different levels of accuracy and computational cost</a:t>
            </a:r>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The code snippet shows how the solver is called</a:t>
            </a:r>
          </a:p>
          <a:p>
            <a:pPr marL="628650" lvl="1" indent="-171450">
              <a:buFont typeface="Arial" panose="020B0604020202020204" pitchFamily="34" charset="0"/>
              <a:buChar char="•"/>
            </a:pPr>
            <a:r>
              <a:rPr lang="en-US" dirty="0"/>
              <a:t>The </a:t>
            </a:r>
            <a:r>
              <a:rPr lang="en-US" dirty="0" err="1"/>
              <a:t>ODESolver</a:t>
            </a:r>
            <a:r>
              <a:rPr lang="en-US" dirty="0"/>
              <a:t> class handles all three methods by specifying method</a:t>
            </a:r>
          </a:p>
          <a:p>
            <a:pPr marL="628650" lvl="1" indent="-171450">
              <a:buFont typeface="Arial" panose="020B0604020202020204" pitchFamily="34" charset="0"/>
              <a:buChar char="•"/>
            </a:pPr>
            <a:r>
              <a:rPr lang="en-US" dirty="0"/>
              <a:t>We want stable, accurate integrations before comparing our results to the CFD</a:t>
            </a:r>
          </a:p>
          <a:p>
            <a:pPr marL="1085850" lvl="2"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6</a:t>
            </a:fld>
            <a:endParaRPr lang="en-US"/>
          </a:p>
        </p:txBody>
      </p:sp>
    </p:spTree>
    <p:extLst>
      <p:ext uri="{BB962C8B-B14F-4D97-AF65-F5344CB8AC3E}">
        <p14:creationId xmlns:p14="http://schemas.microsoft.com/office/powerpoint/2010/main" val="3131595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Before using our solvers on real data, we validated the solvers against known analytical solutions for n=1,2 and 3</a:t>
            </a:r>
          </a:p>
          <a:p>
            <a:pPr marL="628650" lvl="1" indent="-171450">
              <a:buFont typeface="Arial" panose="020B0604020202020204" pitchFamily="34" charset="0"/>
              <a:buChar char="•"/>
            </a:pPr>
            <a:r>
              <a:rPr lang="en-US" dirty="0"/>
              <a:t>The plots show the analytical solution in black, and the numerical in color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What we expect to see (for the analytical solution)</a:t>
            </a:r>
          </a:p>
          <a:p>
            <a:pPr marL="628650" lvl="1" indent="-171450">
              <a:buFont typeface="Arial" panose="020B0604020202020204" pitchFamily="34" charset="0"/>
              <a:buChar char="•"/>
            </a:pPr>
            <a:r>
              <a:rPr lang="en-US" dirty="0"/>
              <a:t>For n=1 we see an exponential decay</a:t>
            </a:r>
          </a:p>
          <a:p>
            <a:pPr marL="628650" lvl="1" indent="-171450">
              <a:buFont typeface="Arial" panose="020B0604020202020204" pitchFamily="34" charset="0"/>
              <a:buChar char="•"/>
            </a:pPr>
            <a:r>
              <a:rPr lang="en-US" dirty="0"/>
              <a:t>For n=2 and n = 3we see a peak before decline</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For the numerical solutions we see that</a:t>
            </a:r>
          </a:p>
          <a:p>
            <a:pPr marL="628650" lvl="1" indent="-171450">
              <a:buFont typeface="Arial" panose="020B0604020202020204" pitchFamily="34" charset="0"/>
              <a:buChar char="•"/>
            </a:pPr>
            <a:r>
              <a:rPr lang="en-US" dirty="0"/>
              <a:t>Euler show some diffusion, RK2 improves it ant RK4 almost perfectly overlaps with the analytical curve</a:t>
            </a:r>
          </a:p>
          <a:p>
            <a:pPr marL="1085850" lvl="2" indent="-171450">
              <a:buFont typeface="Arial" panose="020B0604020202020204" pitchFamily="34" charset="0"/>
              <a:buChar char="•"/>
            </a:pPr>
            <a:r>
              <a:rPr lang="en-US" dirty="0"/>
              <a:t>We used a low step size “h” to more clearly show solver differences</a:t>
            </a:r>
          </a:p>
          <a:p>
            <a:pPr marL="1085850" lvl="2"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This confirms that our solver implementation is works and RK4 is indeed the most accurate</a:t>
            </a:r>
          </a:p>
          <a:p>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7</a:t>
            </a:fld>
            <a:endParaRPr lang="en-US"/>
          </a:p>
        </p:txBody>
      </p:sp>
    </p:spTree>
    <p:extLst>
      <p:ext uri="{BB962C8B-B14F-4D97-AF65-F5344CB8AC3E}">
        <p14:creationId xmlns:p14="http://schemas.microsoft.com/office/powerpoint/2010/main" val="1739639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We then ran a convergence test to verify theoretical order of accuracy</a:t>
            </a:r>
          </a:p>
          <a:p>
            <a:pPr marL="628650" lvl="1" indent="-171450">
              <a:buFont typeface="Arial" panose="020B0604020202020204" pitchFamily="34" charset="0"/>
              <a:buChar char="•"/>
            </a:pPr>
            <a:r>
              <a:rPr lang="en-US" dirty="0"/>
              <a:t>The log-log plot shows how the absolute error decreases with smaller steps (h)</a:t>
            </a:r>
          </a:p>
          <a:p>
            <a:pPr marL="628650" lvl="1"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As expected,</a:t>
            </a:r>
          </a:p>
          <a:p>
            <a:pPr marL="628650" lvl="1" indent="-171450">
              <a:buFont typeface="Arial" panose="020B0604020202020204" pitchFamily="34" charset="0"/>
              <a:buChar char="•"/>
            </a:pPr>
            <a:r>
              <a:rPr lang="en-US" dirty="0"/>
              <a:t>Euler converges linearly (1</a:t>
            </a:r>
            <a:r>
              <a:rPr lang="en-US" baseline="30000" dirty="0"/>
              <a:t>st</a:t>
            </a:r>
            <a:r>
              <a:rPr lang="en-US" dirty="0"/>
              <a:t> order)</a:t>
            </a:r>
          </a:p>
          <a:p>
            <a:pPr marL="628650" lvl="1" indent="-171450">
              <a:buFont typeface="Arial" panose="020B0604020202020204" pitchFamily="34" charset="0"/>
              <a:buChar char="•"/>
            </a:pPr>
            <a:r>
              <a:rPr lang="en-US" dirty="0"/>
              <a:t>RK2 converges quadratically (2</a:t>
            </a:r>
            <a:r>
              <a:rPr lang="en-US" baseline="30000" dirty="0"/>
              <a:t>nd</a:t>
            </a:r>
            <a:r>
              <a:rPr lang="en-US" dirty="0"/>
              <a:t> order)</a:t>
            </a:r>
          </a:p>
          <a:p>
            <a:pPr marL="628650" lvl="1" indent="-171450">
              <a:buFont typeface="Arial" panose="020B0604020202020204" pitchFamily="34" charset="0"/>
              <a:buChar char="•"/>
            </a:pPr>
            <a:r>
              <a:rPr lang="en-US" dirty="0"/>
              <a:t>RK4 converges with 4</a:t>
            </a:r>
            <a:r>
              <a:rPr lang="en-US" baseline="30000" dirty="0"/>
              <a:t>th</a:t>
            </a:r>
            <a:r>
              <a:rPr lang="en-US" dirty="0"/>
              <a:t> order accuracy</a:t>
            </a:r>
          </a:p>
          <a:p>
            <a:pPr marL="171450" lvl="0" indent="-171450">
              <a:buFont typeface="Arial" panose="020B0604020202020204" pitchFamily="34" charset="0"/>
              <a:buChar char="•"/>
            </a:pPr>
            <a:r>
              <a:rPr lang="en-US" dirty="0"/>
              <a:t>This confirms theoretical scaling and that the solvers are implemented correctly</a:t>
            </a:r>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The table of observed errors showed us the effect of step size h</a:t>
            </a:r>
          </a:p>
          <a:p>
            <a:pPr marL="628650" lvl="1" indent="-171450">
              <a:buFont typeface="Arial" panose="020B0604020202020204" pitchFamily="34" charset="0"/>
              <a:buChar char="•"/>
            </a:pPr>
            <a:r>
              <a:rPr lang="en-US" dirty="0"/>
              <a:t>This is just an extract. We tested for h =0.1 -&gt; 0.001. Numerical errors scale as expected and we see that:</a:t>
            </a:r>
          </a:p>
          <a:p>
            <a:pPr marL="628650" lvl="1" indent="-171450">
              <a:buFont typeface="Arial" panose="020B0604020202020204" pitchFamily="34" charset="0"/>
              <a:buChar char="•"/>
            </a:pPr>
            <a:r>
              <a:rPr lang="en-US" dirty="0"/>
              <a:t>For Euler: </a:t>
            </a:r>
          </a:p>
          <a:p>
            <a:pPr marL="1085850" lvl="2" indent="-171450">
              <a:buFont typeface="Arial" panose="020B0604020202020204" pitchFamily="34" charset="0"/>
              <a:buChar char="•"/>
            </a:pPr>
            <a:r>
              <a:rPr lang="en-US" dirty="0"/>
              <a:t>By halving h, error is halved</a:t>
            </a:r>
          </a:p>
          <a:p>
            <a:pPr marL="628650" lvl="1" indent="-171450">
              <a:buFont typeface="Arial" panose="020B0604020202020204" pitchFamily="34" charset="0"/>
              <a:buChar char="•"/>
            </a:pPr>
            <a:r>
              <a:rPr lang="en-US" dirty="0"/>
              <a:t>For RK2: </a:t>
            </a:r>
          </a:p>
          <a:p>
            <a:pPr marL="1085850" lvl="2" indent="-171450">
              <a:buFont typeface="Arial" panose="020B0604020202020204" pitchFamily="34" charset="0"/>
              <a:buChar char="•"/>
            </a:pPr>
            <a:r>
              <a:rPr lang="en-US" dirty="0"/>
              <a:t>By halving h, error is reduced 4x</a:t>
            </a:r>
          </a:p>
          <a:p>
            <a:pPr marL="628650" lvl="1" indent="-171450">
              <a:buFont typeface="Arial" panose="020B0604020202020204" pitchFamily="34" charset="0"/>
              <a:buChar char="•"/>
            </a:pPr>
            <a:r>
              <a:rPr lang="en-US" dirty="0"/>
              <a:t>For RK4: </a:t>
            </a:r>
          </a:p>
          <a:p>
            <a:pPr marL="1085850" lvl="2" indent="-171450">
              <a:buFont typeface="Arial" panose="020B0604020202020204" pitchFamily="34" charset="0"/>
              <a:buChar char="•"/>
            </a:pPr>
            <a:r>
              <a:rPr lang="en-US" dirty="0"/>
              <a:t>By halving h, error is reduced by 16x</a:t>
            </a:r>
          </a:p>
          <a:p>
            <a:pPr marL="457200" lvl="1" indent="0">
              <a:buFont typeface="Arial" panose="020B0604020202020204" pitchFamily="34" charset="0"/>
              <a:buNone/>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8</a:t>
            </a:fld>
            <a:endParaRPr lang="en-US"/>
          </a:p>
        </p:txBody>
      </p:sp>
    </p:spTree>
    <p:extLst>
      <p:ext uri="{BB962C8B-B14F-4D97-AF65-F5344CB8AC3E}">
        <p14:creationId xmlns:p14="http://schemas.microsoft.com/office/powerpoint/2010/main" val="464341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dirty="0"/>
              <a:t>From the known inlet tracer mass and outlet concentration curve, we estimate the cardiac output using Stewart-Hamilton principle. Finding the denominator by taking the area under the concentration and times.</a:t>
            </a:r>
          </a:p>
        </p:txBody>
      </p:sp>
      <p:sp>
        <p:nvSpPr>
          <p:cNvPr id="4" name="Plassholder for lysbildenummer 3"/>
          <p:cNvSpPr>
            <a:spLocks noGrp="1"/>
          </p:cNvSpPr>
          <p:nvPr>
            <p:ph type="sldNum" sz="quarter" idx="5"/>
          </p:nvPr>
        </p:nvSpPr>
        <p:spPr/>
        <p:txBody>
          <a:bodyPr/>
          <a:lstStyle/>
          <a:p>
            <a:fld id="{F7A439AA-4617-4627-B5F6-FFD7862B74B0}" type="slidenum">
              <a:rPr lang="en-US" smtClean="0"/>
              <a:t>9</a:t>
            </a:fld>
            <a:endParaRPr lang="en-US"/>
          </a:p>
        </p:txBody>
      </p:sp>
    </p:spTree>
    <p:extLst>
      <p:ext uri="{BB962C8B-B14F-4D97-AF65-F5344CB8AC3E}">
        <p14:creationId xmlns:p14="http://schemas.microsoft.com/office/powerpoint/2010/main" val="1377588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err="1"/>
              <a:t>We</a:t>
            </a:r>
            <a:r>
              <a:rPr lang="nb-NO" dirty="0"/>
              <a:t> </a:t>
            </a:r>
            <a:r>
              <a:rPr lang="nb-NO" dirty="0" err="1"/>
              <a:t>created</a:t>
            </a:r>
            <a:r>
              <a:rPr lang="nb-NO" dirty="0"/>
              <a:t> a general </a:t>
            </a:r>
            <a:r>
              <a:rPr lang="nb-NO" dirty="0" err="1"/>
              <a:t>function</a:t>
            </a:r>
            <a:r>
              <a:rPr lang="nb-NO" dirty="0"/>
              <a:t> for </a:t>
            </a:r>
            <a:r>
              <a:rPr lang="nb-NO" dirty="0" err="1"/>
              <a:t>the</a:t>
            </a:r>
            <a:r>
              <a:rPr lang="nb-NO" dirty="0"/>
              <a:t> different </a:t>
            </a:r>
            <a:r>
              <a:rPr lang="nb-NO" dirty="0" err="1"/>
              <a:t>injection</a:t>
            </a:r>
            <a:r>
              <a:rPr lang="nb-NO" dirty="0"/>
              <a:t> </a:t>
            </a:r>
            <a:r>
              <a:rPr lang="nb-NO" dirty="0" err="1"/>
              <a:t>methods</a:t>
            </a:r>
            <a:r>
              <a:rPr lang="nb-NO" dirty="0"/>
              <a:t>, and </a:t>
            </a:r>
            <a:r>
              <a:rPr lang="nb-NO" dirty="0" err="1"/>
              <a:t>then</a:t>
            </a:r>
            <a:r>
              <a:rPr lang="nb-NO" dirty="0"/>
              <a:t> </a:t>
            </a:r>
            <a:r>
              <a:rPr lang="nb-NO" dirty="0" err="1"/>
              <a:t>creating</a:t>
            </a:r>
            <a:r>
              <a:rPr lang="nb-NO" dirty="0"/>
              <a:t> </a:t>
            </a:r>
            <a:r>
              <a:rPr lang="nb-NO" dirty="0" err="1"/>
              <a:t>the</a:t>
            </a:r>
            <a:r>
              <a:rPr lang="nb-NO" dirty="0"/>
              <a:t> </a:t>
            </a:r>
            <a:r>
              <a:rPr lang="nb-NO" dirty="0" err="1"/>
              <a:t>specific</a:t>
            </a:r>
            <a:r>
              <a:rPr lang="nb-NO" dirty="0"/>
              <a:t> cases, </a:t>
            </a:r>
            <a:r>
              <a:rPr lang="nb-NO" dirty="0" err="1"/>
              <a:t>where</a:t>
            </a:r>
            <a:r>
              <a:rPr lang="nb-NO" dirty="0"/>
              <a:t> </a:t>
            </a:r>
            <a:r>
              <a:rPr lang="nb-NO" dirty="0" err="1"/>
              <a:t>one</a:t>
            </a:r>
            <a:r>
              <a:rPr lang="nb-NO" dirty="0"/>
              <a:t> </a:t>
            </a:r>
            <a:r>
              <a:rPr lang="nb-NO" dirty="0" err="1"/>
              <a:t>can</a:t>
            </a:r>
            <a:r>
              <a:rPr lang="nb-NO" dirty="0"/>
              <a:t> </a:t>
            </a:r>
            <a:r>
              <a:rPr lang="nb-NO" dirty="0" err="1"/>
              <a:t>put</a:t>
            </a:r>
            <a:r>
              <a:rPr lang="nb-NO" dirty="0"/>
              <a:t> in a t and </a:t>
            </a:r>
            <a:r>
              <a:rPr lang="nb-NO" dirty="0" err="1"/>
              <a:t>get</a:t>
            </a:r>
            <a:r>
              <a:rPr lang="nb-NO" dirty="0"/>
              <a:t> </a:t>
            </a:r>
            <a:r>
              <a:rPr lang="nb-NO" dirty="0" err="1"/>
              <a:t>the</a:t>
            </a:r>
            <a:r>
              <a:rPr lang="nb-NO" dirty="0"/>
              <a:t> </a:t>
            </a:r>
            <a:r>
              <a:rPr lang="nb-NO" dirty="0" err="1"/>
              <a:t>concentration</a:t>
            </a:r>
            <a:r>
              <a:rPr lang="nb-NO" dirty="0"/>
              <a:t> </a:t>
            </a:r>
            <a:r>
              <a:rPr lang="nb-NO" dirty="0" err="1"/>
              <a:t>of</a:t>
            </a:r>
            <a:r>
              <a:rPr lang="nb-NO" dirty="0"/>
              <a:t> </a:t>
            </a:r>
            <a:r>
              <a:rPr lang="nb-NO" dirty="0" err="1"/>
              <a:t>the</a:t>
            </a:r>
            <a:r>
              <a:rPr lang="nb-NO" dirty="0"/>
              <a:t> </a:t>
            </a:r>
            <a:r>
              <a:rPr lang="nb-NO" dirty="0" err="1"/>
              <a:t>injection</a:t>
            </a:r>
            <a:r>
              <a:rPr lang="nb-NO" dirty="0"/>
              <a:t> </a:t>
            </a:r>
            <a:r>
              <a:rPr lang="nb-NO" dirty="0" err="1"/>
              <a:t>flow</a:t>
            </a:r>
            <a:r>
              <a:rPr lang="nb-NO" dirty="0"/>
              <a:t>.</a:t>
            </a: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10</a:t>
            </a:fld>
            <a:endParaRPr lang="en-US"/>
          </a:p>
        </p:txBody>
      </p:sp>
    </p:spTree>
    <p:extLst>
      <p:ext uri="{BB962C8B-B14F-4D97-AF65-F5344CB8AC3E}">
        <p14:creationId xmlns:p14="http://schemas.microsoft.com/office/powerpoint/2010/main" val="3077328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err="1"/>
              <a:t>We</a:t>
            </a:r>
            <a:r>
              <a:rPr lang="nb-NO" dirty="0"/>
              <a:t> </a:t>
            </a:r>
            <a:r>
              <a:rPr lang="nb-NO" dirty="0" err="1"/>
              <a:t>want</a:t>
            </a:r>
            <a:r>
              <a:rPr lang="nb-NO" dirty="0"/>
              <a:t> to </a:t>
            </a:r>
            <a:r>
              <a:rPr lang="nb-NO" dirty="0" err="1"/>
              <a:t>find</a:t>
            </a:r>
            <a:r>
              <a:rPr lang="nb-NO" dirty="0"/>
              <a:t> </a:t>
            </a:r>
            <a:r>
              <a:rPr lang="nb-NO" dirty="0" err="1"/>
              <a:t>the</a:t>
            </a:r>
            <a:r>
              <a:rPr lang="nb-NO" dirty="0"/>
              <a:t> optimal tau and n to </a:t>
            </a:r>
            <a:r>
              <a:rPr lang="nb-NO" dirty="0" err="1"/>
              <a:t>minimize</a:t>
            </a:r>
            <a:r>
              <a:rPr lang="nb-NO" dirty="0"/>
              <a:t> SSR </a:t>
            </a:r>
            <a:r>
              <a:rPr lang="nb-NO" dirty="0" err="1"/>
              <a:t>of</a:t>
            </a:r>
            <a:r>
              <a:rPr lang="nb-NO" dirty="0"/>
              <a:t> </a:t>
            </a:r>
            <a:r>
              <a:rPr lang="nb-NO" dirty="0" err="1"/>
              <a:t>the</a:t>
            </a:r>
            <a:r>
              <a:rPr lang="nb-NO" dirty="0"/>
              <a:t> </a:t>
            </a:r>
            <a:r>
              <a:rPr lang="nb-NO" dirty="0" err="1"/>
              <a:t>model</a:t>
            </a:r>
            <a:r>
              <a:rPr lang="nb-NO" dirty="0"/>
              <a:t> to </a:t>
            </a:r>
            <a:r>
              <a:rPr lang="nb-NO" dirty="0" err="1"/>
              <a:t>the</a:t>
            </a:r>
            <a:r>
              <a:rPr lang="nb-NO" dirty="0"/>
              <a:t> data. To </a:t>
            </a:r>
            <a:r>
              <a:rPr lang="nb-NO" dirty="0" err="1"/>
              <a:t>find</a:t>
            </a:r>
            <a:r>
              <a:rPr lang="nb-NO" dirty="0"/>
              <a:t> </a:t>
            </a:r>
            <a:r>
              <a:rPr lang="nb-NO" dirty="0" err="1"/>
              <a:t>the</a:t>
            </a:r>
            <a:r>
              <a:rPr lang="nb-NO" dirty="0"/>
              <a:t> optimal tau and </a:t>
            </a:r>
            <a:r>
              <a:rPr lang="nb-NO" dirty="0" err="1"/>
              <a:t>number</a:t>
            </a:r>
            <a:r>
              <a:rPr lang="nb-NO" dirty="0"/>
              <a:t> </a:t>
            </a:r>
            <a:r>
              <a:rPr lang="nb-NO" dirty="0" err="1"/>
              <a:t>of</a:t>
            </a:r>
            <a:r>
              <a:rPr lang="nb-NO" dirty="0"/>
              <a:t> </a:t>
            </a:r>
            <a:r>
              <a:rPr lang="nb-NO" dirty="0" err="1"/>
              <a:t>compartments</a:t>
            </a:r>
            <a:r>
              <a:rPr lang="nb-NO" dirty="0"/>
              <a:t> </a:t>
            </a:r>
            <a:r>
              <a:rPr lang="nb-NO" dirty="0" err="1"/>
              <a:t>we</a:t>
            </a:r>
            <a:r>
              <a:rPr lang="nb-NO" dirty="0"/>
              <a:t> </a:t>
            </a:r>
            <a:r>
              <a:rPr lang="nb-NO" dirty="0" err="1"/>
              <a:t>are</a:t>
            </a:r>
            <a:r>
              <a:rPr lang="nb-NO" dirty="0"/>
              <a:t> first </a:t>
            </a:r>
            <a:r>
              <a:rPr lang="nb-NO" dirty="0" err="1"/>
              <a:t>creating</a:t>
            </a:r>
            <a:r>
              <a:rPr lang="nb-NO" dirty="0"/>
              <a:t> a </a:t>
            </a:r>
            <a:r>
              <a:rPr lang="nb-NO" dirty="0" err="1"/>
              <a:t>function</a:t>
            </a:r>
            <a:r>
              <a:rPr lang="nb-NO" dirty="0"/>
              <a:t> </a:t>
            </a:r>
            <a:r>
              <a:rPr lang="nb-NO" dirty="0" err="1"/>
              <a:t>that</a:t>
            </a:r>
            <a:r>
              <a:rPr lang="nb-NO" dirty="0"/>
              <a:t> </a:t>
            </a:r>
            <a:r>
              <a:rPr lang="nb-NO" dirty="0" err="1"/>
              <a:t>finds</a:t>
            </a:r>
            <a:r>
              <a:rPr lang="nb-NO" dirty="0"/>
              <a:t> </a:t>
            </a:r>
            <a:r>
              <a:rPr lang="nb-NO" dirty="0" err="1"/>
              <a:t>the</a:t>
            </a:r>
            <a:r>
              <a:rPr lang="nb-NO" dirty="0"/>
              <a:t> optimal tau, i.e. </a:t>
            </a:r>
            <a:r>
              <a:rPr lang="nb-NO" dirty="0" err="1"/>
              <a:t>when</a:t>
            </a:r>
            <a:r>
              <a:rPr lang="nb-NO" dirty="0"/>
              <a:t> </a:t>
            </a:r>
            <a:r>
              <a:rPr lang="nb-NO" dirty="0" err="1"/>
              <a:t>the</a:t>
            </a:r>
            <a:r>
              <a:rPr lang="nb-NO" dirty="0"/>
              <a:t> derivative over tau is zero, </a:t>
            </a:r>
            <a:r>
              <a:rPr lang="nb-NO" dirty="0" err="1"/>
              <a:t>using</a:t>
            </a:r>
            <a:r>
              <a:rPr lang="nb-NO" dirty="0"/>
              <a:t> </a:t>
            </a:r>
            <a:r>
              <a:rPr lang="nb-NO" dirty="0" err="1"/>
              <a:t>secant</a:t>
            </a:r>
            <a:r>
              <a:rPr lang="nb-NO" dirty="0"/>
              <a:t> </a:t>
            </a:r>
            <a:r>
              <a:rPr lang="nb-NO" dirty="0" err="1"/>
              <a:t>method</a:t>
            </a:r>
            <a:endParaRPr lang="nb-NO" dirty="0"/>
          </a:p>
          <a:p>
            <a:r>
              <a:rPr lang="nb-NO" dirty="0" err="1"/>
              <a:t>Comment</a:t>
            </a:r>
            <a:r>
              <a:rPr lang="nb-NO" dirty="0"/>
              <a:t> </a:t>
            </a:r>
            <a:r>
              <a:rPr lang="nb-NO" dirty="0" err="1"/>
              <a:t>on</a:t>
            </a:r>
            <a:r>
              <a:rPr lang="nb-NO" dirty="0"/>
              <a:t> </a:t>
            </a:r>
            <a:r>
              <a:rPr lang="nb-NO" dirty="0" err="1"/>
              <a:t>the</a:t>
            </a:r>
            <a:r>
              <a:rPr lang="nb-NO" dirty="0"/>
              <a:t> </a:t>
            </a:r>
            <a:r>
              <a:rPr lang="nb-NO" dirty="0" err="1"/>
              <a:t>functions</a:t>
            </a:r>
            <a:r>
              <a:rPr lang="nb-NO" dirty="0"/>
              <a:t>. F in </a:t>
            </a:r>
            <a:r>
              <a:rPr lang="nb-NO" dirty="0" err="1"/>
              <a:t>the</a:t>
            </a:r>
            <a:r>
              <a:rPr lang="nb-NO" dirty="0"/>
              <a:t> tau </a:t>
            </a:r>
            <a:r>
              <a:rPr lang="nb-NO" dirty="0" err="1"/>
              <a:t>formula</a:t>
            </a:r>
            <a:r>
              <a:rPr lang="nb-NO" dirty="0"/>
              <a:t> is </a:t>
            </a:r>
            <a:r>
              <a:rPr lang="nb-NO" dirty="0" err="1"/>
              <a:t>the</a:t>
            </a:r>
            <a:r>
              <a:rPr lang="nb-NO" dirty="0"/>
              <a:t> derivative </a:t>
            </a:r>
            <a:r>
              <a:rPr lang="nb-NO" dirty="0" err="1"/>
              <a:t>of</a:t>
            </a:r>
            <a:r>
              <a:rPr lang="nb-NO" dirty="0"/>
              <a:t> SSR.</a:t>
            </a: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11</a:t>
            </a:fld>
            <a:endParaRPr lang="en-US"/>
          </a:p>
        </p:txBody>
      </p:sp>
    </p:spTree>
    <p:extLst>
      <p:ext uri="{BB962C8B-B14F-4D97-AF65-F5344CB8AC3E}">
        <p14:creationId xmlns:p14="http://schemas.microsoft.com/office/powerpoint/2010/main" val="753302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457200" lvl="1" indent="0">
              <a:buFont typeface="Arial" panose="020B0604020202020204" pitchFamily="34" charset="0"/>
              <a:buNone/>
            </a:pPr>
            <a:r>
              <a:rPr lang="en-US" dirty="0"/>
              <a:t>We first plot each 10 n interval, solving for each of the methods (retrieving the data from each csv file, looking at how a more general solution might look like)</a:t>
            </a:r>
          </a:p>
          <a:p>
            <a:pPr marL="457200" lvl="1" indent="0">
              <a:buFont typeface="Arial" panose="020B0604020202020204" pitchFamily="34" charset="0"/>
              <a:buNone/>
            </a:pPr>
            <a:r>
              <a:rPr lang="en-US" dirty="0"/>
              <a:t>Best fit was found at n = 49, tau = 2.36, meaning the modelling of the flow behaves nearly like plug flow </a:t>
            </a:r>
          </a:p>
          <a:p>
            <a:pPr marL="457200" lvl="1" indent="0">
              <a:buFont typeface="Arial" panose="020B0604020202020204" pitchFamily="34" charset="0"/>
              <a:buNone/>
            </a:pPr>
            <a:r>
              <a:rPr lang="en-US" dirty="0"/>
              <a:t>The model reproduces the outlet concentration with very good accuracy, and low SSR</a:t>
            </a:r>
          </a:p>
          <a:p>
            <a:pPr marL="457200" lvl="1" indent="0">
              <a:buFont typeface="Arial" panose="020B0604020202020204" pitchFamily="34" charset="0"/>
              <a:buNone/>
            </a:pPr>
            <a:r>
              <a:rPr lang="en-US" dirty="0"/>
              <a:t>One can see from the graph that we will expect a high SSR for run 1 which is the biphasic phase. If one had used lower n, the SSR would be lower for the other cases, and higher for rect_1s.</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12</a:t>
            </a:fld>
            <a:endParaRPr lang="en-US"/>
          </a:p>
        </p:txBody>
      </p:sp>
    </p:spTree>
    <p:extLst>
      <p:ext uri="{BB962C8B-B14F-4D97-AF65-F5344CB8AC3E}">
        <p14:creationId xmlns:p14="http://schemas.microsoft.com/office/powerpoint/2010/main" val="4106504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dirty="0"/>
              <a:t>SSR is lowest for the training case, as expected, but stays low for other cases too, meaning the model works well without re-fitting. Biphasic has the highest SSR. From the plot earlier this is expected. The best fit for the biphasic case was with a lower number of compartments, which means that the complex nature of the injection protocol is not captured as nicely by assuming less mixing in the tank.</a:t>
            </a:r>
            <a:br>
              <a:rPr lang="en-US" dirty="0"/>
            </a:br>
            <a:r>
              <a:rPr lang="en-US" dirty="0"/>
              <a:t>We can also see that the ramp SSRs are lower than the </a:t>
            </a:r>
            <a:r>
              <a:rPr lang="en-US" dirty="0" err="1"/>
              <a:t>rect</a:t>
            </a:r>
            <a:r>
              <a:rPr lang="en-US" dirty="0"/>
              <a:t>, which might be because of their smooth nature (No drastic changes), and therefore being captured better by the model and the higher n.</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13</a:t>
            </a:fld>
            <a:endParaRPr lang="en-US"/>
          </a:p>
        </p:txBody>
      </p:sp>
    </p:spTree>
    <p:extLst>
      <p:ext uri="{BB962C8B-B14F-4D97-AF65-F5344CB8AC3E}">
        <p14:creationId xmlns:p14="http://schemas.microsoft.com/office/powerpoint/2010/main" val="2698816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dirty="0"/>
              <a:t>Doing the same recipe for the aneurysm case and seeing a larger deviation and higher SSR in general for the different fits. We are also seeing that the models are optimizing with less number of compartments. </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14</a:t>
            </a:fld>
            <a:endParaRPr lang="en-US"/>
          </a:p>
        </p:txBody>
      </p:sp>
    </p:spTree>
    <p:extLst>
      <p:ext uri="{BB962C8B-B14F-4D97-AF65-F5344CB8AC3E}">
        <p14:creationId xmlns:p14="http://schemas.microsoft.com/office/powerpoint/2010/main" val="170159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dirty="0"/>
              <a:t>The model fits healthy cases better than aneurysm cases because it assumes equal compartment volumes and smooth flow—conditions that fail with aneurysms. Ramp injections give lower SSR than rectangular ones since the model handles gradual changes better than sudden jumps.</a:t>
            </a:r>
            <a:br>
              <a:rPr lang="en-US" dirty="0"/>
            </a:br>
            <a:r>
              <a:rPr lang="en-US" dirty="0"/>
              <a:t>Aneurysm cases needed far fewer compartments (</a:t>
            </a:r>
            <a:r>
              <a:rPr lang="en-US" b="1" dirty="0"/>
              <a:t>n = 21</a:t>
            </a:r>
            <a:r>
              <a:rPr lang="en-US" dirty="0"/>
              <a:t>) than healthy ones (</a:t>
            </a:r>
            <a:r>
              <a:rPr lang="en-US" b="1" dirty="0"/>
              <a:t>n = 49</a:t>
            </a:r>
            <a:r>
              <a:rPr lang="en-US" dirty="0"/>
              <a:t>), showing more dispersion and recirculation. Residence time was slightly higher, consistent with larger volume and slower washout. Higher SSR confirms the model struggles with complex aneurysmal flow.</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15</a:t>
            </a:fld>
            <a:endParaRPr lang="en-US"/>
          </a:p>
        </p:txBody>
      </p:sp>
    </p:spTree>
    <p:extLst>
      <p:ext uri="{BB962C8B-B14F-4D97-AF65-F5344CB8AC3E}">
        <p14:creationId xmlns:p14="http://schemas.microsoft.com/office/powerpoint/2010/main" val="2086913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To improve the fit further, we extend the model by adding a side reservoir to represent the aneurysm pocket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new equation describes exchange between the main flow and the side volume </a:t>
            </a:r>
          </a:p>
          <a:p>
            <a:pPr marL="0" indent="0">
              <a:buFont typeface="Arial" panose="020B0604020202020204" pitchFamily="34" charset="0"/>
              <a:buNone/>
            </a:pPr>
            <a:endParaRPr lang="en-US" dirty="0"/>
          </a:p>
          <a:p>
            <a:pPr marL="171450" lvl="0" indent="-171450">
              <a:buFont typeface="Arial" panose="020B0604020202020204" pitchFamily="34" charset="0"/>
              <a:buChar char="•"/>
            </a:pPr>
            <a:r>
              <a:rPr lang="en-US" dirty="0"/>
              <a:t>We optimized parameters and found D = 0.8 (exchange rate constant) and VA = 5.0 (reservoir volume) giving a better SSR of 0.18, and improvement factor of about 1.85 compared to aneurysm case without side reservoir</a:t>
            </a:r>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Physically, this means that the aneurysm acts as a large, slow exchanging reservoir near the outlet rather than just a part of the main flow path</a:t>
            </a:r>
          </a:p>
          <a:p>
            <a:pPr marL="628650" lvl="1" indent="-171450">
              <a:buFont typeface="Arial" panose="020B0604020202020204" pitchFamily="34" charset="0"/>
              <a:buChar char="•"/>
            </a:pPr>
            <a:r>
              <a:rPr lang="en-US" dirty="0"/>
              <a:t>This captures the delayed washout in the CFD data </a:t>
            </a:r>
          </a:p>
          <a:p>
            <a:pPr marL="171450" lvl="0"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16</a:t>
            </a:fld>
            <a:endParaRPr lang="en-US"/>
          </a:p>
        </p:txBody>
      </p:sp>
    </p:spTree>
    <p:extLst>
      <p:ext uri="{BB962C8B-B14F-4D97-AF65-F5344CB8AC3E}">
        <p14:creationId xmlns:p14="http://schemas.microsoft.com/office/powerpoint/2010/main" val="2232354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lvl="0" indent="-171450">
              <a:buFont typeface="Arial" panose="020B0604020202020204" pitchFamily="34" charset="0"/>
              <a:buChar char="•"/>
            </a:pPr>
            <a:r>
              <a:rPr lang="en-US" dirty="0"/>
              <a:t>The main strength of the n-CSTR approach are its simplicity and speed</a:t>
            </a:r>
          </a:p>
          <a:p>
            <a:pPr marL="171450" lvl="0" indent="-171450">
              <a:buFont typeface="Arial" panose="020B0604020202020204" pitchFamily="34" charset="0"/>
              <a:buChar char="•"/>
            </a:pPr>
            <a:r>
              <a:rPr lang="en-US" dirty="0"/>
              <a:t>It turns CDF-scale complexity into two easy parameters (n and tau), directly reflecting the flows mixing and residence characteristics</a:t>
            </a:r>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However, its not perfect.</a:t>
            </a:r>
          </a:p>
          <a:p>
            <a:pPr marL="628650" lvl="1" indent="-171450">
              <a:buFont typeface="Arial" panose="020B0604020202020204" pitchFamily="34" charset="0"/>
              <a:buChar char="•"/>
            </a:pPr>
            <a:r>
              <a:rPr lang="en-US" dirty="0"/>
              <a:t>Each tank assumes perfect mixing (so we lose spatial detail)</a:t>
            </a:r>
          </a:p>
          <a:p>
            <a:pPr marL="628650" lvl="1" indent="-171450">
              <a:buFont typeface="Arial" panose="020B0604020202020204" pitchFamily="34" charset="0"/>
              <a:buChar char="•"/>
            </a:pPr>
            <a:r>
              <a:rPr lang="en-US" dirty="0"/>
              <a:t>Since parameters are fitted rather than measured, the model can’t capture local flow patterns or backflow accurately in complex geometries</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Overall, it’s a great reduced-order model for interpreting flow systems efficiently</a:t>
            </a:r>
          </a:p>
          <a:p>
            <a:pPr marL="628650" lvl="1" indent="-171450">
              <a:buFont typeface="Arial" panose="020B0604020202020204" pitchFamily="34" charset="0"/>
              <a:buChar char="•"/>
            </a:pPr>
            <a:r>
              <a:rPr lang="en-US" dirty="0"/>
              <a:t>But not a CFD replacement when geometry-specific information is required</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17</a:t>
            </a:fld>
            <a:endParaRPr lang="en-US"/>
          </a:p>
        </p:txBody>
      </p:sp>
    </p:spTree>
    <p:extLst>
      <p:ext uri="{BB962C8B-B14F-4D97-AF65-F5344CB8AC3E}">
        <p14:creationId xmlns:p14="http://schemas.microsoft.com/office/powerpoint/2010/main" val="5198310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To summarize, the n-CSTR model successfully reproduced the CFD outlet with high accuracy</a:t>
            </a:r>
          </a:p>
          <a:p>
            <a:pPr marL="171450" indent="-171450">
              <a:buFont typeface="Arial" panose="020B0604020202020204" pitchFamily="34" charset="0"/>
              <a:buChar char="•"/>
            </a:pPr>
            <a:r>
              <a:rPr lang="en-US" dirty="0"/>
              <a:t>Through the project we have showed that </a:t>
            </a:r>
          </a:p>
          <a:p>
            <a:pPr marL="628650" lvl="1" indent="-171450">
              <a:buFont typeface="Arial" panose="020B0604020202020204" pitchFamily="34" charset="0"/>
              <a:buChar char="•"/>
            </a:pPr>
            <a:r>
              <a:rPr lang="en-US" dirty="0"/>
              <a:t>A simple reduced order n-CSTR model can capture the essential transport behavior of blood flow in an aortic arch</a:t>
            </a:r>
          </a:p>
          <a:p>
            <a:pPr marL="628650" lvl="1" indent="-171450">
              <a:buFont typeface="Arial" panose="020B0604020202020204" pitchFamily="34" charset="0"/>
              <a:buChar char="•"/>
            </a:pPr>
            <a:r>
              <a:rPr lang="en-US" dirty="0"/>
              <a:t>That the healthy aorta exhibits plug-like-flow transport with parameters n=49 and tau = 2.36</a:t>
            </a:r>
          </a:p>
          <a:p>
            <a:pPr marL="628650" lvl="1" indent="-171450">
              <a:buFont typeface="Arial" panose="020B0604020202020204" pitchFamily="34" charset="0"/>
              <a:buChar char="•"/>
            </a:pPr>
            <a:r>
              <a:rPr lang="en-US" dirty="0"/>
              <a:t>That the aneurysm aorta cause stronger dispersion and slower washout with parameters n= 21 and tau = 2.45</a:t>
            </a:r>
          </a:p>
          <a:p>
            <a:pPr marL="628650" lvl="1" indent="-171450">
              <a:buFont typeface="Arial" panose="020B0604020202020204" pitchFamily="34" charset="0"/>
              <a:buChar char="•"/>
            </a:pPr>
            <a:r>
              <a:rPr lang="en-US" dirty="0"/>
              <a:t>By extending the model with a side aneurysm volume we improve accuracy further and confirm the presence of slow recirculation zones</a:t>
            </a:r>
          </a:p>
          <a:p>
            <a:pPr marL="628650" lvl="1" indent="-171450">
              <a:buFont typeface="Arial" panose="020B0604020202020204" pitchFamily="34" charset="0"/>
              <a:buChar char="•"/>
            </a:pPr>
            <a:endParaRPr lang="en-US" dirty="0"/>
          </a:p>
          <a:p>
            <a:pPr marL="628650" lvl="1" indent="-171450">
              <a:buFont typeface="Arial" panose="020B0604020202020204" pitchFamily="34" charset="0"/>
              <a:buChar char="•"/>
            </a:pPr>
            <a:r>
              <a:rPr lang="en-US" dirty="0"/>
              <a:t>The project shows that simple ODE-based models can describe complex flow behavior when properly calibrated </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18</a:t>
            </a:fld>
            <a:endParaRPr lang="en-US"/>
          </a:p>
        </p:txBody>
      </p:sp>
    </p:spTree>
    <p:extLst>
      <p:ext uri="{BB962C8B-B14F-4D97-AF65-F5344CB8AC3E}">
        <p14:creationId xmlns:p14="http://schemas.microsoft.com/office/powerpoint/2010/main" val="2898704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19</a:t>
            </a:fld>
            <a:endParaRPr lang="en-US"/>
          </a:p>
        </p:txBody>
      </p:sp>
    </p:spTree>
    <p:extLst>
      <p:ext uri="{BB962C8B-B14F-4D97-AF65-F5344CB8AC3E}">
        <p14:creationId xmlns:p14="http://schemas.microsoft.com/office/powerpoint/2010/main" val="417429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4B1EFC7-1B3C-4B0F-AFC7-781CD6B4747D}" type="datetime1">
              <a:rPr lang="en-US" smtClean="0"/>
              <a:t>11/12/2025</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35407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BFADE27B-BC99-4A0A-BCFD-ED0A267D9D51}" type="datetime1">
              <a:rPr lang="en-US" smtClean="0"/>
              <a:t>11/12/2025</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567051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77062175-7B16-402E-9E2A-82AFC18A8DE6}" type="datetime1">
              <a:rPr lang="en-US" smtClean="0"/>
              <a:t>11/12/2025</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27776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46B8267C-7252-40EA-A643-356AD4037C13}" type="datetime1">
              <a:rPr lang="en-US" smtClean="0"/>
              <a:t>11/12/2025</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508016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E93C845-5CAB-4C98-B308-7DC64DC94442}" type="datetime1">
              <a:rPr lang="en-US" smtClean="0"/>
              <a:t>11/12/2025</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85423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C27C57F5-CCCF-4169-9887-C85A6A4A9305}" type="datetime1">
              <a:rPr lang="en-US" smtClean="0"/>
              <a:t>11/12/2025</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61968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F8C0A02F-ABD3-4941-934D-1D1C21EA3D08}" type="datetime1">
              <a:rPr lang="en-US" smtClean="0"/>
              <a:t>11/12/2025</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3762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68FC8457-5E11-4F74-9E39-A700DF498CFF}" type="datetime1">
              <a:rPr lang="en-US" smtClean="0"/>
              <a:t>11/12/2025</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05196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22796D06-1C8D-4B9D-9720-486DA66A489C}" type="datetime1">
              <a:rPr lang="en-US" smtClean="0"/>
              <a:t>11/12/2025</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1436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45A36719-8640-4027-924D-33E828541D99}" type="datetime1">
              <a:rPr lang="en-US" smtClean="0"/>
              <a:t>11/12/2025</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434708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BF978F77-05EF-4003-8D2E-60226B47138D}" type="datetime1">
              <a:rPr lang="en-US" smtClean="0"/>
              <a:t>11/12/2025</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8517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B8CF3C04-353E-43C9-BC6F-8427A61ACD27}" type="datetime1">
              <a:rPr lang="en-US" smtClean="0"/>
              <a:t>11/12/2025</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kstSylinder 7">
            <a:extLst>
              <a:ext uri="{FF2B5EF4-FFF2-40B4-BE49-F238E27FC236}">
                <a16:creationId xmlns:a16="http://schemas.microsoft.com/office/drawing/2014/main" id="{20D6977A-2BC9-810F-50A5-2840DD0D6E96}"/>
              </a:ext>
            </a:extLst>
          </p:cNvPr>
          <p:cNvSpPr txBox="1"/>
          <p:nvPr userDrawn="1">
            <p:extLst>
              <p:ext uri="{1162E1C5-73C7-4A58-AE30-91384D911F3F}">
                <p184:classification xmlns:p184="http://schemas.microsoft.com/office/powerpoint/2018/4/main" val="ftr"/>
              </p:ext>
            </p:extLst>
          </p:nvPr>
        </p:nvSpPr>
        <p:spPr>
          <a:xfrm>
            <a:off x="63500" y="6672580"/>
            <a:ext cx="817563"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Sensitivity: Internal</a:t>
            </a:r>
          </a:p>
        </p:txBody>
      </p:sp>
    </p:spTree>
    <p:extLst>
      <p:ext uri="{BB962C8B-B14F-4D97-AF65-F5344CB8AC3E}">
        <p14:creationId xmlns:p14="http://schemas.microsoft.com/office/powerpoint/2010/main" val="392161115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hf hdr="0" ftr="0" dt="0"/>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4665F997-7BA8-D1AE-21E3-8A66EB7AC7E3}"/>
              </a:ext>
            </a:extLst>
          </p:cNvPr>
          <p:cNvSpPr>
            <a:spLocks noGrp="1"/>
          </p:cNvSpPr>
          <p:nvPr>
            <p:ph type="ctrTitle"/>
          </p:nvPr>
        </p:nvSpPr>
        <p:spPr>
          <a:xfrm>
            <a:off x="1044515" y="1076635"/>
            <a:ext cx="4155281" cy="3495365"/>
          </a:xfrm>
        </p:spPr>
        <p:txBody>
          <a:bodyPr anchor="t">
            <a:normAutofit/>
          </a:bodyPr>
          <a:lstStyle/>
          <a:p>
            <a:r>
              <a:rPr lang="en-US" sz="4000" dirty="0"/>
              <a:t>Project 3 – Stirred </a:t>
            </a:r>
            <a:br>
              <a:rPr lang="en-US" sz="4000" dirty="0"/>
            </a:br>
            <a:r>
              <a:rPr lang="en-US" sz="4000" dirty="0"/>
              <a:t>(NOT shaken)</a:t>
            </a:r>
          </a:p>
        </p:txBody>
      </p:sp>
      <p:sp>
        <p:nvSpPr>
          <p:cNvPr id="3" name="Undertittel 2">
            <a:extLst>
              <a:ext uri="{FF2B5EF4-FFF2-40B4-BE49-F238E27FC236}">
                <a16:creationId xmlns:a16="http://schemas.microsoft.com/office/drawing/2014/main" id="{60469092-CE1F-BFB3-CC73-F735F18586D4}"/>
              </a:ext>
            </a:extLst>
          </p:cNvPr>
          <p:cNvSpPr>
            <a:spLocks noGrp="1"/>
          </p:cNvSpPr>
          <p:nvPr>
            <p:ph type="subTitle" idx="1"/>
          </p:nvPr>
        </p:nvSpPr>
        <p:spPr>
          <a:xfrm>
            <a:off x="1090940" y="4525682"/>
            <a:ext cx="3638358" cy="1318124"/>
          </a:xfrm>
        </p:spPr>
        <p:txBody>
          <a:bodyPr anchor="b">
            <a:normAutofit/>
          </a:bodyPr>
          <a:lstStyle/>
          <a:p>
            <a:r>
              <a:rPr lang="en-US" dirty="0"/>
              <a:t>Malvin </a:t>
            </a:r>
            <a:r>
              <a:rPr lang="en-US" dirty="0" err="1"/>
              <a:t>Varpe</a:t>
            </a:r>
            <a:r>
              <a:rPr lang="en-US" dirty="0"/>
              <a:t> &amp; </a:t>
            </a:r>
            <a:br>
              <a:rPr lang="en-US" dirty="0"/>
            </a:br>
            <a:r>
              <a:rPr lang="en-US" dirty="0"/>
              <a:t>Torgrim Odde</a:t>
            </a:r>
          </a:p>
        </p:txBody>
      </p:sp>
      <p:cxnSp>
        <p:nvCxnSpPr>
          <p:cNvPr id="16"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3" descr="Hvit struktur">
            <a:extLst>
              <a:ext uri="{FF2B5EF4-FFF2-40B4-BE49-F238E27FC236}">
                <a16:creationId xmlns:a16="http://schemas.microsoft.com/office/drawing/2014/main" id="{36F57848-66CA-2942-B675-DFAE15E48D77}"/>
              </a:ext>
            </a:extLst>
          </p:cNvPr>
          <p:cNvPicPr>
            <a:picLocks noChangeAspect="1"/>
          </p:cNvPicPr>
          <p:nvPr/>
        </p:nvPicPr>
        <p:blipFill>
          <a:blip r:embed="rId3"/>
          <a:srcRect l="1071" r="26742"/>
          <a:stretch>
            <a:fillRect/>
          </a:stretch>
        </p:blipFill>
        <p:spPr>
          <a:xfrm>
            <a:off x="5524500" y="1"/>
            <a:ext cx="6667501" cy="6857999"/>
          </a:xfrm>
          <a:prstGeom prst="rect">
            <a:avLst/>
          </a:prstGeom>
        </p:spPr>
      </p:pic>
      <p:sp>
        <p:nvSpPr>
          <p:cNvPr id="5" name="Plassholder for lysbildenummer 4">
            <a:extLst>
              <a:ext uri="{FF2B5EF4-FFF2-40B4-BE49-F238E27FC236}">
                <a16:creationId xmlns:a16="http://schemas.microsoft.com/office/drawing/2014/main" id="{45F2A5A8-881A-55B0-AF64-C67B449D9B96}"/>
              </a:ext>
            </a:extLst>
          </p:cNvPr>
          <p:cNvSpPr>
            <a:spLocks noGrp="1"/>
          </p:cNvSpPr>
          <p:nvPr>
            <p:ph type="sldNum" sz="quarter" idx="12"/>
          </p:nvPr>
        </p:nvSpPr>
        <p:spPr/>
        <p:txBody>
          <a:bodyPr/>
          <a:lstStyle/>
          <a:p>
            <a:fld id="{719D7796-F675-488F-AC46-C88938C80352}" type="slidenum">
              <a:rPr lang="en-US" smtClean="0"/>
              <a:t>1</a:t>
            </a:fld>
            <a:endParaRPr lang="en-US"/>
          </a:p>
        </p:txBody>
      </p:sp>
    </p:spTree>
    <p:extLst>
      <p:ext uri="{BB962C8B-B14F-4D97-AF65-F5344CB8AC3E}">
        <p14:creationId xmlns:p14="http://schemas.microsoft.com/office/powerpoint/2010/main" val="974668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5F2A9C2-EB17-6CB2-A050-C25396B4B716}"/>
              </a:ext>
            </a:extLst>
          </p:cNvPr>
          <p:cNvSpPr>
            <a:spLocks noGrp="1"/>
          </p:cNvSpPr>
          <p:nvPr>
            <p:ph type="title"/>
          </p:nvPr>
        </p:nvSpPr>
        <p:spPr/>
        <p:txBody>
          <a:bodyPr/>
          <a:lstStyle/>
          <a:p>
            <a:r>
              <a:rPr lang="en-US" dirty="0"/>
              <a:t>Agenda</a:t>
            </a:r>
          </a:p>
        </p:txBody>
      </p:sp>
      <p:sp>
        <p:nvSpPr>
          <p:cNvPr id="3" name="Plassholder for innhold 2">
            <a:extLst>
              <a:ext uri="{FF2B5EF4-FFF2-40B4-BE49-F238E27FC236}">
                <a16:creationId xmlns:a16="http://schemas.microsoft.com/office/drawing/2014/main" id="{A011D28F-77F2-55AD-BD61-8E92F7225202}"/>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US" dirty="0"/>
              <a:t>Introduction</a:t>
            </a:r>
          </a:p>
          <a:p>
            <a:pPr>
              <a:buFont typeface="Arial" panose="020B0604020202020204" pitchFamily="34" charset="0"/>
              <a:buChar char="•"/>
            </a:pPr>
            <a:r>
              <a:rPr lang="en-US" dirty="0"/>
              <a:t>Governing Theory</a:t>
            </a:r>
          </a:p>
          <a:p>
            <a:pPr>
              <a:buFont typeface="Arial" panose="020B0604020202020204" pitchFamily="34" charset="0"/>
              <a:buChar char="•"/>
            </a:pPr>
            <a:r>
              <a:rPr lang="en-US" dirty="0"/>
              <a:t>Numerical Implementation (Ex 1)</a:t>
            </a:r>
          </a:p>
          <a:p>
            <a:pPr>
              <a:buFont typeface="Arial" panose="020B0604020202020204" pitchFamily="34" charset="0"/>
              <a:buChar char="•"/>
            </a:pPr>
            <a:r>
              <a:rPr lang="en-US" dirty="0"/>
              <a:t>CFD Data and Cardiac Output (Ex 2)</a:t>
            </a:r>
          </a:p>
          <a:p>
            <a:pPr>
              <a:buFont typeface="Arial" panose="020B0604020202020204" pitchFamily="34" charset="0"/>
              <a:buChar char="•"/>
            </a:pPr>
            <a:r>
              <a:rPr lang="en-US" dirty="0"/>
              <a:t>Injection Protocols &amp; Model Setup</a:t>
            </a:r>
          </a:p>
          <a:p>
            <a:pPr>
              <a:buFont typeface="Arial" panose="020B0604020202020204" pitchFamily="34" charset="0"/>
              <a:buChar char="•"/>
            </a:pPr>
            <a:r>
              <a:rPr lang="en-US" dirty="0"/>
              <a:t>Fitting the Healthy Aorta Data</a:t>
            </a:r>
          </a:p>
          <a:p>
            <a:pPr>
              <a:buFont typeface="Arial" panose="020B0604020202020204" pitchFamily="34" charset="0"/>
              <a:buChar char="•"/>
            </a:pPr>
            <a:r>
              <a:rPr lang="en-US" dirty="0"/>
              <a:t>Aneurysm Case (Ex 3)</a:t>
            </a:r>
          </a:p>
          <a:p>
            <a:pPr>
              <a:buFont typeface="Arial" panose="020B0604020202020204" pitchFamily="34" charset="0"/>
              <a:buChar char="•"/>
            </a:pPr>
            <a:r>
              <a:rPr lang="en-US" dirty="0"/>
              <a:t>Extended Model (Ex 4)</a:t>
            </a:r>
          </a:p>
          <a:p>
            <a:pPr>
              <a:buFont typeface="Arial" panose="020B0604020202020204" pitchFamily="34" charset="0"/>
              <a:buChar char="•"/>
            </a:pPr>
            <a:r>
              <a:rPr lang="en-US" dirty="0"/>
              <a:t>Reflection</a:t>
            </a:r>
          </a:p>
          <a:p>
            <a:pPr>
              <a:buFont typeface="Arial" panose="020B0604020202020204" pitchFamily="34" charset="0"/>
              <a:buChar char="•"/>
            </a:pPr>
            <a:r>
              <a:rPr lang="en-US" dirty="0"/>
              <a:t>Conclusions &amp; Learning Outcomes</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Plassholder for lysbildenummer 3">
            <a:extLst>
              <a:ext uri="{FF2B5EF4-FFF2-40B4-BE49-F238E27FC236}">
                <a16:creationId xmlns:a16="http://schemas.microsoft.com/office/drawing/2014/main" id="{F465394E-BA1C-5D3F-88D4-91FDBB1AF3A8}"/>
              </a:ext>
            </a:extLst>
          </p:cNvPr>
          <p:cNvSpPr>
            <a:spLocks noGrp="1"/>
          </p:cNvSpPr>
          <p:nvPr>
            <p:ph type="sldNum" sz="quarter" idx="12"/>
          </p:nvPr>
        </p:nvSpPr>
        <p:spPr/>
        <p:txBody>
          <a:bodyPr/>
          <a:lstStyle/>
          <a:p>
            <a:fld id="{719D7796-F675-488F-AC46-C88938C80352}" type="slidenum">
              <a:rPr lang="en-US" smtClean="0"/>
              <a:t>2</a:t>
            </a:fld>
            <a:endParaRPr lang="en-US"/>
          </a:p>
        </p:txBody>
      </p:sp>
      <p:pic>
        <p:nvPicPr>
          <p:cNvPr id="6" name="Bilde 5">
            <a:extLst>
              <a:ext uri="{FF2B5EF4-FFF2-40B4-BE49-F238E27FC236}">
                <a16:creationId xmlns:a16="http://schemas.microsoft.com/office/drawing/2014/main" id="{EC889971-AD4D-A930-277B-A84E8C02F30B}"/>
              </a:ext>
            </a:extLst>
          </p:cNvPr>
          <p:cNvPicPr>
            <a:picLocks noChangeAspect="1"/>
          </p:cNvPicPr>
          <p:nvPr/>
        </p:nvPicPr>
        <p:blipFill>
          <a:blip r:embed="rId3"/>
          <a:srcRect r="51397"/>
          <a:stretch>
            <a:fillRect/>
          </a:stretch>
        </p:blipFill>
        <p:spPr>
          <a:xfrm>
            <a:off x="6547866" y="821291"/>
            <a:ext cx="4725184" cy="5465209"/>
          </a:xfrm>
          <a:prstGeom prst="rect">
            <a:avLst/>
          </a:prstGeom>
        </p:spPr>
      </p:pic>
    </p:spTree>
    <p:extLst>
      <p:ext uri="{BB962C8B-B14F-4D97-AF65-F5344CB8AC3E}">
        <p14:creationId xmlns:p14="http://schemas.microsoft.com/office/powerpoint/2010/main" val="2028096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2149F6C2-264F-12EB-2F52-937D2B91692E}"/>
              </a:ext>
            </a:extLst>
          </p:cNvPr>
          <p:cNvSpPr>
            <a:spLocks noGrp="1"/>
          </p:cNvSpPr>
          <p:nvPr>
            <p:ph type="title"/>
          </p:nvPr>
        </p:nvSpPr>
        <p:spPr>
          <a:xfrm>
            <a:off x="1091204" y="1091868"/>
            <a:ext cx="4147804" cy="2042160"/>
          </a:xfrm>
        </p:spPr>
        <p:txBody>
          <a:bodyPr>
            <a:normAutofit/>
          </a:bodyPr>
          <a:lstStyle/>
          <a:p>
            <a:r>
              <a:rPr lang="en-US" sz="4000"/>
              <a:t>Introduction</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6E96E3CE-5785-750E-8EC7-7CCF05697CAE}"/>
              </a:ext>
            </a:extLst>
          </p:cNvPr>
          <p:cNvSpPr>
            <a:spLocks noGrp="1"/>
          </p:cNvSpPr>
          <p:nvPr>
            <p:ph idx="1"/>
          </p:nvPr>
        </p:nvSpPr>
        <p:spPr>
          <a:xfrm>
            <a:off x="1120232" y="3204755"/>
            <a:ext cx="4147804" cy="2966043"/>
          </a:xfrm>
        </p:spPr>
        <p:txBody>
          <a:bodyPr>
            <a:normAutofit/>
          </a:bodyPr>
          <a:lstStyle/>
          <a:p>
            <a:pPr>
              <a:buFont typeface="Arial" panose="020B0604020202020204" pitchFamily="34" charset="0"/>
              <a:buChar char="•"/>
            </a:pPr>
            <a:r>
              <a:rPr lang="en-US" dirty="0"/>
              <a:t>Challenges with CFD</a:t>
            </a:r>
          </a:p>
          <a:p>
            <a:pPr>
              <a:buFont typeface="Arial" panose="020B0604020202020204" pitchFamily="34" charset="0"/>
              <a:buChar char="•"/>
            </a:pPr>
            <a:r>
              <a:rPr lang="en-US" dirty="0"/>
              <a:t>Goal: Build a reduced-order model</a:t>
            </a:r>
          </a:p>
          <a:p>
            <a:pPr>
              <a:buFont typeface="Arial" panose="020B0604020202020204" pitchFamily="34" charset="0"/>
              <a:buChar char="•"/>
            </a:pPr>
            <a:r>
              <a:rPr lang="en-US" dirty="0"/>
              <a:t>Tracer injection</a:t>
            </a:r>
          </a:p>
          <a:p>
            <a:pPr>
              <a:buFont typeface="Arial" panose="020B0604020202020204" pitchFamily="34" charset="0"/>
              <a:buChar char="•"/>
            </a:pPr>
            <a:endParaRPr lang="en-US" dirty="0"/>
          </a:p>
        </p:txBody>
      </p:sp>
      <p:sp>
        <p:nvSpPr>
          <p:cNvPr id="4" name="Plassholder for lysbildenummer 3">
            <a:extLst>
              <a:ext uri="{FF2B5EF4-FFF2-40B4-BE49-F238E27FC236}">
                <a16:creationId xmlns:a16="http://schemas.microsoft.com/office/drawing/2014/main" id="{76F07E2A-C619-AFF6-D4CA-B8F4152F7E87}"/>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3</a:t>
            </a:fld>
            <a:endParaRPr lang="en-US"/>
          </a:p>
        </p:txBody>
      </p:sp>
      <p:pic>
        <p:nvPicPr>
          <p:cNvPr id="7" name="Bilde 6">
            <a:extLst>
              <a:ext uri="{FF2B5EF4-FFF2-40B4-BE49-F238E27FC236}">
                <a16:creationId xmlns:a16="http://schemas.microsoft.com/office/drawing/2014/main" id="{7ED6EB3F-772F-D25C-8D1F-8F0B78163CED}"/>
              </a:ext>
            </a:extLst>
          </p:cNvPr>
          <p:cNvPicPr>
            <a:picLocks noChangeAspect="1"/>
          </p:cNvPicPr>
          <p:nvPr/>
        </p:nvPicPr>
        <p:blipFill>
          <a:blip r:embed="rId3"/>
          <a:stretch>
            <a:fillRect/>
          </a:stretch>
        </p:blipFill>
        <p:spPr>
          <a:xfrm>
            <a:off x="5538817" y="1091868"/>
            <a:ext cx="6048132" cy="4948471"/>
          </a:xfrm>
          <a:prstGeom prst="rect">
            <a:avLst/>
          </a:prstGeom>
        </p:spPr>
      </p:pic>
    </p:spTree>
    <p:extLst>
      <p:ext uri="{BB962C8B-B14F-4D97-AF65-F5344CB8AC3E}">
        <p14:creationId xmlns:p14="http://schemas.microsoft.com/office/powerpoint/2010/main" val="973795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EACBA78-7B06-8B9B-1389-AC655CDDE691}"/>
              </a:ext>
            </a:extLst>
          </p:cNvPr>
          <p:cNvSpPr>
            <a:spLocks noGrp="1"/>
          </p:cNvSpPr>
          <p:nvPr>
            <p:ph type="title"/>
          </p:nvPr>
        </p:nvSpPr>
        <p:spPr/>
        <p:txBody>
          <a:bodyPr/>
          <a:lstStyle/>
          <a:p>
            <a:r>
              <a:rPr lang="nb-NO" dirty="0"/>
              <a:t>Parameter </a:t>
            </a:r>
            <a:r>
              <a:rPr lang="nb-NO" dirty="0" err="1"/>
              <a:t>interpretation</a:t>
            </a:r>
            <a:endParaRPr lang="en-US" dirty="0"/>
          </a:p>
        </p:txBody>
      </p:sp>
      <mc:AlternateContent xmlns:mc="http://schemas.openxmlformats.org/markup-compatibility/2006">
        <mc:Choice xmlns:a14="http://schemas.microsoft.com/office/drawing/2010/main" Requires="a14">
          <p:sp>
            <p:nvSpPr>
              <p:cNvPr id="3" name="Plassholder for innhold 2">
                <a:extLst>
                  <a:ext uri="{FF2B5EF4-FFF2-40B4-BE49-F238E27FC236}">
                    <a16:creationId xmlns:a16="http://schemas.microsoft.com/office/drawing/2014/main" id="{08524EF4-AC29-5E93-5190-54BDD576B933}"/>
                  </a:ext>
                </a:extLst>
              </p:cNvPr>
              <p:cNvSpPr>
                <a:spLocks noGrp="1"/>
              </p:cNvSpPr>
              <p:nvPr>
                <p:ph idx="1"/>
              </p:nvPr>
            </p:nvSpPr>
            <p:spPr/>
            <p:txBody>
              <a:bodyPr/>
              <a:lstStyle/>
              <a:p>
                <a14:m>
                  <m:oMath xmlns:m="http://schemas.openxmlformats.org/officeDocument/2006/math">
                    <m:r>
                      <a:rPr lang="nb-NO" b="0" i="1" smtClean="0">
                        <a:latin typeface="Cambria Math" panose="02040503050406030204" pitchFamily="18" charset="0"/>
                      </a:rPr>
                      <m:t>𝜏</m:t>
                    </m:r>
                    <m:r>
                      <a:rPr lang="nb-NO" b="0" i="1" smtClean="0">
                        <a:latin typeface="Cambria Math" panose="02040503050406030204" pitchFamily="18" charset="0"/>
                      </a:rPr>
                      <m:t>=</m:t>
                    </m:r>
                    <m:f>
                      <m:fPr>
                        <m:ctrlPr>
                          <a:rPr lang="nb-NO" b="0" i="1" smtClean="0">
                            <a:latin typeface="Cambria Math" panose="02040503050406030204" pitchFamily="18" charset="0"/>
                          </a:rPr>
                        </m:ctrlPr>
                      </m:fPr>
                      <m:num>
                        <m:sSub>
                          <m:sSubPr>
                            <m:ctrlPr>
                              <a:rPr lang="nb-NO" b="0" i="1" smtClean="0">
                                <a:latin typeface="Cambria Math" panose="02040503050406030204" pitchFamily="18" charset="0"/>
                              </a:rPr>
                            </m:ctrlPr>
                          </m:sSubPr>
                          <m:e>
                            <m:r>
                              <a:rPr lang="nb-NO" b="0" i="1" smtClean="0">
                                <a:latin typeface="Cambria Math" panose="02040503050406030204" pitchFamily="18" charset="0"/>
                              </a:rPr>
                              <m:t>𝑉</m:t>
                            </m:r>
                          </m:e>
                          <m:sub>
                            <m:r>
                              <a:rPr lang="nb-NO" b="0" i="1" smtClean="0">
                                <a:latin typeface="Cambria Math" panose="02040503050406030204" pitchFamily="18" charset="0"/>
                              </a:rPr>
                              <m:t>𝑡𝑜𝑡</m:t>
                            </m:r>
                          </m:sub>
                        </m:sSub>
                      </m:num>
                      <m:den>
                        <m:r>
                          <a:rPr lang="nb-NO" b="0" i="1" smtClean="0">
                            <a:latin typeface="Cambria Math" panose="02040503050406030204" pitchFamily="18" charset="0"/>
                          </a:rPr>
                          <m:t>𝑞</m:t>
                        </m:r>
                      </m:den>
                    </m:f>
                  </m:oMath>
                </a14:m>
                <a:r>
                  <a:rPr lang="en-US" dirty="0"/>
                  <a:t> – Residence time in system.</a:t>
                </a:r>
              </a:p>
              <a:p>
                <a:pPr lvl="1"/>
                <a:r>
                  <a:rPr lang="en-US" dirty="0"/>
                  <a:t>Larger means fluid stays longer in system (Or more volume)</a:t>
                </a:r>
              </a:p>
              <a:p>
                <a14:m>
                  <m:oMath xmlns:m="http://schemas.openxmlformats.org/officeDocument/2006/math">
                    <m:r>
                      <a:rPr lang="nb-NO" b="0" i="1" smtClean="0">
                        <a:latin typeface="Cambria Math" panose="02040503050406030204" pitchFamily="18" charset="0"/>
                      </a:rPr>
                      <m:t>𝑛</m:t>
                    </m:r>
                  </m:oMath>
                </a14:m>
                <a:r>
                  <a:rPr lang="en-US" dirty="0"/>
                  <a:t> – Number of compartments.</a:t>
                </a:r>
              </a:p>
              <a:p>
                <a:pPr lvl="1"/>
                <a:r>
                  <a:rPr lang="en-US" dirty="0"/>
                  <a:t>Higher </a:t>
                </a:r>
                <a14:m>
                  <m:oMath xmlns:m="http://schemas.openxmlformats.org/officeDocument/2006/math">
                    <m:r>
                      <a:rPr lang="nb-NO" b="0" i="1" smtClean="0">
                        <a:latin typeface="Cambria Math" panose="02040503050406030204" pitchFamily="18" charset="0"/>
                      </a:rPr>
                      <m:t>→</m:t>
                    </m:r>
                  </m:oMath>
                </a14:m>
                <a:r>
                  <a:rPr lang="en-US" dirty="0"/>
                  <a:t> Plug flow </a:t>
                </a:r>
                <a:r>
                  <a:rPr lang="en-US" dirty="0" err="1"/>
                  <a:t>behaviour</a:t>
                </a:r>
                <a:r>
                  <a:rPr lang="en-US" dirty="0"/>
                  <a:t>. Fluid moves in layers with little mixing</a:t>
                </a:r>
              </a:p>
              <a:p>
                <a:pPr lvl="1"/>
                <a:r>
                  <a:rPr lang="en-US" dirty="0"/>
                  <a:t>Lower </a:t>
                </a:r>
                <a14:m>
                  <m:oMath xmlns:m="http://schemas.openxmlformats.org/officeDocument/2006/math">
                    <m:r>
                      <a:rPr lang="nb-NO" i="1">
                        <a:latin typeface="Cambria Math" panose="02040503050406030204" pitchFamily="18" charset="0"/>
                      </a:rPr>
                      <m:t>→</m:t>
                    </m:r>
                  </m:oMath>
                </a14:m>
                <a:r>
                  <a:rPr lang="en-US" dirty="0"/>
                  <a:t> Mixed flow </a:t>
                </a:r>
                <a:r>
                  <a:rPr lang="en-US" dirty="0" err="1"/>
                  <a:t>behaviour</a:t>
                </a:r>
                <a:r>
                  <a:rPr lang="en-US" dirty="0"/>
                  <a:t>. More recirculation and dispersion.</a:t>
                </a:r>
              </a:p>
            </p:txBody>
          </p:sp>
        </mc:Choice>
        <mc:Fallback>
          <p:sp>
            <p:nvSpPr>
              <p:cNvPr id="3" name="Plassholder for innhold 2">
                <a:extLst>
                  <a:ext uri="{FF2B5EF4-FFF2-40B4-BE49-F238E27FC236}">
                    <a16:creationId xmlns:a16="http://schemas.microsoft.com/office/drawing/2014/main" id="{08524EF4-AC29-5E93-5190-54BDD576B933}"/>
                  </a:ext>
                </a:extLst>
              </p:cNvPr>
              <p:cNvSpPr>
                <a:spLocks noGrp="1" noRot="1" noChangeAspect="1" noMove="1" noResize="1" noEditPoints="1" noAdjustHandles="1" noChangeArrowheads="1" noChangeShapeType="1" noTextEdit="1"/>
              </p:cNvSpPr>
              <p:nvPr>
                <p:ph idx="1"/>
              </p:nvPr>
            </p:nvSpPr>
            <p:spPr>
              <a:blipFill>
                <a:blip r:embed="rId2"/>
                <a:stretch>
                  <a:fillRect l="-553"/>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01A0DF30-BB24-636E-3CFB-CDD1D2958CD4}"/>
              </a:ext>
            </a:extLst>
          </p:cNvPr>
          <p:cNvSpPr>
            <a:spLocks noGrp="1"/>
          </p:cNvSpPr>
          <p:nvPr>
            <p:ph type="sldNum" sz="quarter" idx="12"/>
          </p:nvPr>
        </p:nvSpPr>
        <p:spPr/>
        <p:txBody>
          <a:bodyPr/>
          <a:lstStyle/>
          <a:p>
            <a:fld id="{719D7796-F675-488F-AC46-C88938C80352}" type="slidenum">
              <a:rPr lang="en-US" smtClean="0"/>
              <a:t>4</a:t>
            </a:fld>
            <a:endParaRPr lang="en-US"/>
          </a:p>
        </p:txBody>
      </p:sp>
    </p:spTree>
    <p:extLst>
      <p:ext uri="{BB962C8B-B14F-4D97-AF65-F5344CB8AC3E}">
        <p14:creationId xmlns:p14="http://schemas.microsoft.com/office/powerpoint/2010/main" val="1421198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72BDB57-FB51-8640-721A-6444E67585C2}"/>
              </a:ext>
            </a:extLst>
          </p:cNvPr>
          <p:cNvSpPr>
            <a:spLocks noGrp="1"/>
          </p:cNvSpPr>
          <p:nvPr>
            <p:ph type="title"/>
          </p:nvPr>
        </p:nvSpPr>
        <p:spPr/>
        <p:txBody>
          <a:bodyPr/>
          <a:lstStyle/>
          <a:p>
            <a:r>
              <a:rPr lang="en-US" dirty="0"/>
              <a:t>Governing Theory</a:t>
            </a:r>
          </a:p>
        </p:txBody>
      </p:sp>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6351EDC9-091A-8EE2-4485-820DA81E866C}"/>
                  </a:ext>
                </a:extLst>
              </p:cNvPr>
              <p:cNvSpPr>
                <a:spLocks noGrp="1"/>
              </p:cNvSpPr>
              <p:nvPr>
                <p:ph idx="1"/>
              </p:nvPr>
            </p:nvSpPr>
            <p:spPr/>
            <p:txBody>
              <a:bodyPr/>
              <a:lstStyle/>
              <a:p>
                <a:r>
                  <a:rPr lang="en-US" dirty="0"/>
                  <a:t>n-CSTR model</a:t>
                </a:r>
              </a:p>
              <a:p>
                <a:pPr lvl="1"/>
                <a:r>
                  <a:rPr lang="en-US" dirty="0"/>
                  <a:t>n = number of compartments</a:t>
                </a:r>
              </a:p>
              <a:p>
                <a:pPr lvl="1"/>
                <a14:m>
                  <m:oMath xmlns:m="http://schemas.openxmlformats.org/officeDocument/2006/math">
                    <m:r>
                      <a:rPr lang="en-US" b="0" i="1" smtClean="0">
                        <a:latin typeface="Cambria Math" panose="02040503050406030204" pitchFamily="18" charset="0"/>
                      </a:rPr>
                      <m:t>𝑡𝑎𝑢</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𝑡𝑜𝑡</m:t>
                            </m:r>
                          </m:sub>
                        </m:sSub>
                      </m:num>
                      <m:den>
                        <m:r>
                          <a:rPr lang="en-US" b="0" i="1" smtClean="0">
                            <a:latin typeface="Cambria Math" panose="02040503050406030204" pitchFamily="18" charset="0"/>
                          </a:rPr>
                          <m:t>𝑞</m:t>
                        </m:r>
                      </m:den>
                    </m:f>
                  </m:oMath>
                </a14:m>
                <a:endParaRPr lang="en-US" b="0" dirty="0"/>
              </a:p>
              <a:p>
                <a:pPr lvl="2"/>
                <a:r>
                  <a:rPr lang="en-US" dirty="0"/>
                  <a:t>q = flow rate</a:t>
                </a:r>
              </a:p>
            </p:txBody>
          </p:sp>
        </mc:Choice>
        <mc:Fallback xmlns="">
          <p:sp>
            <p:nvSpPr>
              <p:cNvPr id="3" name="Plassholder for innhold 2">
                <a:extLst>
                  <a:ext uri="{FF2B5EF4-FFF2-40B4-BE49-F238E27FC236}">
                    <a16:creationId xmlns:a16="http://schemas.microsoft.com/office/drawing/2014/main" id="{6351EDC9-091A-8EE2-4485-820DA81E866C}"/>
                  </a:ext>
                </a:extLst>
              </p:cNvPr>
              <p:cNvSpPr>
                <a:spLocks noGrp="1" noRot="1" noChangeAspect="1" noMove="1" noResize="1" noEditPoints="1" noAdjustHandles="1" noChangeArrowheads="1" noChangeShapeType="1" noTextEdit="1"/>
              </p:cNvSpPr>
              <p:nvPr>
                <p:ph idx="1"/>
              </p:nvPr>
            </p:nvSpPr>
            <p:spPr>
              <a:blipFill>
                <a:blip r:embed="rId3"/>
                <a:stretch>
                  <a:fillRect l="-553"/>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9DC32064-9840-2795-A1EC-E008CCFF12E5}"/>
              </a:ext>
            </a:extLst>
          </p:cNvPr>
          <p:cNvSpPr>
            <a:spLocks noGrp="1"/>
          </p:cNvSpPr>
          <p:nvPr>
            <p:ph type="sldNum" sz="quarter" idx="12"/>
          </p:nvPr>
        </p:nvSpPr>
        <p:spPr/>
        <p:txBody>
          <a:bodyPr/>
          <a:lstStyle/>
          <a:p>
            <a:fld id="{719D7796-F675-488F-AC46-C88938C80352}" type="slidenum">
              <a:rPr lang="en-US" smtClean="0"/>
              <a:t>5</a:t>
            </a:fld>
            <a:endParaRPr lang="en-US"/>
          </a:p>
        </p:txBody>
      </p:sp>
      <p:pic>
        <p:nvPicPr>
          <p:cNvPr id="6" name="Bilde 5">
            <a:extLst>
              <a:ext uri="{FF2B5EF4-FFF2-40B4-BE49-F238E27FC236}">
                <a16:creationId xmlns:a16="http://schemas.microsoft.com/office/drawing/2014/main" id="{C3E03462-2A9D-629E-9F77-CF587E20FFD2}"/>
              </a:ext>
            </a:extLst>
          </p:cNvPr>
          <p:cNvPicPr>
            <a:picLocks noChangeAspect="1"/>
          </p:cNvPicPr>
          <p:nvPr/>
        </p:nvPicPr>
        <p:blipFill>
          <a:blip r:embed="rId4"/>
          <a:srcRect r="47414"/>
          <a:stretch>
            <a:fillRect/>
          </a:stretch>
        </p:blipFill>
        <p:spPr>
          <a:xfrm>
            <a:off x="6445576" y="2865769"/>
            <a:ext cx="5242842" cy="1501370"/>
          </a:xfrm>
          <a:prstGeom prst="rect">
            <a:avLst/>
          </a:prstGeom>
        </p:spPr>
      </p:pic>
    </p:spTree>
    <p:extLst>
      <p:ext uri="{BB962C8B-B14F-4D97-AF65-F5344CB8AC3E}">
        <p14:creationId xmlns:p14="http://schemas.microsoft.com/office/powerpoint/2010/main" val="726462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2DCBCD-B047-5504-40D1-09724A117D71}"/>
              </a:ext>
            </a:extLst>
          </p:cNvPr>
          <p:cNvSpPr>
            <a:spLocks noGrp="1"/>
          </p:cNvSpPr>
          <p:nvPr>
            <p:ph type="title"/>
          </p:nvPr>
        </p:nvSpPr>
        <p:spPr/>
        <p:txBody>
          <a:bodyPr/>
          <a:lstStyle/>
          <a:p>
            <a:r>
              <a:rPr lang="en-US" dirty="0"/>
              <a:t>Numerical Implementation</a:t>
            </a:r>
          </a:p>
        </p:txBody>
      </p:sp>
      <p:sp>
        <p:nvSpPr>
          <p:cNvPr id="3" name="Plassholder for innhold 2">
            <a:extLst>
              <a:ext uri="{FF2B5EF4-FFF2-40B4-BE49-F238E27FC236}">
                <a16:creationId xmlns:a16="http://schemas.microsoft.com/office/drawing/2014/main" id="{09842B55-0ECA-A0B3-A50C-3FCF5E63DE5B}"/>
              </a:ext>
            </a:extLst>
          </p:cNvPr>
          <p:cNvSpPr>
            <a:spLocks noGrp="1"/>
          </p:cNvSpPr>
          <p:nvPr>
            <p:ph idx="1"/>
          </p:nvPr>
        </p:nvSpPr>
        <p:spPr/>
        <p:txBody>
          <a:bodyPr/>
          <a:lstStyle/>
          <a:p>
            <a:pPr>
              <a:buFont typeface="Arial" panose="020B0604020202020204" pitchFamily="34" charset="0"/>
              <a:buChar char="•"/>
            </a:pPr>
            <a:r>
              <a:rPr lang="en-US" dirty="0"/>
              <a:t>ODE form </a:t>
            </a:r>
          </a:p>
          <a:p>
            <a:pPr>
              <a:buFont typeface="Arial" panose="020B0604020202020204" pitchFamily="34" charset="0"/>
              <a:buChar char="•"/>
            </a:pPr>
            <a:endParaRPr lang="en-US" dirty="0"/>
          </a:p>
          <a:p>
            <a:pPr>
              <a:buFont typeface="Arial" panose="020B0604020202020204" pitchFamily="34" charset="0"/>
              <a:buChar char="•"/>
            </a:pPr>
            <a:r>
              <a:rPr lang="en-US" dirty="0"/>
              <a:t>Euler, RK2, RK4</a:t>
            </a:r>
          </a:p>
        </p:txBody>
      </p:sp>
      <p:sp>
        <p:nvSpPr>
          <p:cNvPr id="4" name="Plassholder for lysbildenummer 3">
            <a:extLst>
              <a:ext uri="{FF2B5EF4-FFF2-40B4-BE49-F238E27FC236}">
                <a16:creationId xmlns:a16="http://schemas.microsoft.com/office/drawing/2014/main" id="{2147250D-0CB0-4CEB-711B-7565860B286B}"/>
              </a:ext>
            </a:extLst>
          </p:cNvPr>
          <p:cNvSpPr>
            <a:spLocks noGrp="1"/>
          </p:cNvSpPr>
          <p:nvPr>
            <p:ph type="sldNum" sz="quarter" idx="12"/>
          </p:nvPr>
        </p:nvSpPr>
        <p:spPr/>
        <p:txBody>
          <a:bodyPr/>
          <a:lstStyle/>
          <a:p>
            <a:fld id="{719D7796-F675-488F-AC46-C88938C80352}" type="slidenum">
              <a:rPr lang="en-US" smtClean="0"/>
              <a:t>6</a:t>
            </a:fld>
            <a:endParaRPr lang="en-US"/>
          </a:p>
        </p:txBody>
      </p:sp>
      <p:pic>
        <p:nvPicPr>
          <p:cNvPr id="6" name="Bilde 5">
            <a:extLst>
              <a:ext uri="{FF2B5EF4-FFF2-40B4-BE49-F238E27FC236}">
                <a16:creationId xmlns:a16="http://schemas.microsoft.com/office/drawing/2014/main" id="{3B0D876B-1384-1E65-8EA2-E9CBF02F49E9}"/>
              </a:ext>
            </a:extLst>
          </p:cNvPr>
          <p:cNvPicPr>
            <a:picLocks noChangeAspect="1"/>
          </p:cNvPicPr>
          <p:nvPr/>
        </p:nvPicPr>
        <p:blipFill>
          <a:blip r:embed="rId3"/>
          <a:stretch>
            <a:fillRect/>
          </a:stretch>
        </p:blipFill>
        <p:spPr>
          <a:xfrm>
            <a:off x="2966236" y="2270431"/>
            <a:ext cx="1524792" cy="754847"/>
          </a:xfrm>
          <a:prstGeom prst="rect">
            <a:avLst/>
          </a:prstGeom>
        </p:spPr>
      </p:pic>
      <p:pic>
        <p:nvPicPr>
          <p:cNvPr id="8" name="Bilde 7">
            <a:extLst>
              <a:ext uri="{FF2B5EF4-FFF2-40B4-BE49-F238E27FC236}">
                <a16:creationId xmlns:a16="http://schemas.microsoft.com/office/drawing/2014/main" id="{5F0023BD-495A-00BC-92F4-BEF8CF1450A4}"/>
              </a:ext>
            </a:extLst>
          </p:cNvPr>
          <p:cNvPicPr>
            <a:picLocks noChangeAspect="1"/>
          </p:cNvPicPr>
          <p:nvPr/>
        </p:nvPicPr>
        <p:blipFill>
          <a:blip r:embed="rId4"/>
          <a:stretch>
            <a:fillRect/>
          </a:stretch>
        </p:blipFill>
        <p:spPr>
          <a:xfrm>
            <a:off x="5213590" y="5686301"/>
            <a:ext cx="6239747" cy="885949"/>
          </a:xfrm>
          <a:prstGeom prst="rect">
            <a:avLst/>
          </a:prstGeom>
        </p:spPr>
      </p:pic>
      <p:pic>
        <p:nvPicPr>
          <p:cNvPr id="16" name="Bilde 15">
            <a:extLst>
              <a:ext uri="{FF2B5EF4-FFF2-40B4-BE49-F238E27FC236}">
                <a16:creationId xmlns:a16="http://schemas.microsoft.com/office/drawing/2014/main" id="{77CB00A1-E5DC-0CDB-5FB8-FF8679BBE8B9}"/>
              </a:ext>
            </a:extLst>
          </p:cNvPr>
          <p:cNvPicPr>
            <a:picLocks noChangeAspect="1"/>
          </p:cNvPicPr>
          <p:nvPr/>
        </p:nvPicPr>
        <p:blipFill>
          <a:blip r:embed="rId5"/>
          <a:stretch>
            <a:fillRect/>
          </a:stretch>
        </p:blipFill>
        <p:spPr>
          <a:xfrm>
            <a:off x="5213592" y="2017066"/>
            <a:ext cx="6239746" cy="3496163"/>
          </a:xfrm>
          <a:prstGeom prst="rect">
            <a:avLst/>
          </a:prstGeom>
        </p:spPr>
      </p:pic>
    </p:spTree>
    <p:extLst>
      <p:ext uri="{BB962C8B-B14F-4D97-AF65-F5344CB8AC3E}">
        <p14:creationId xmlns:p14="http://schemas.microsoft.com/office/powerpoint/2010/main" val="1533562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902D1A37-7C2A-4258-95A8-919D781C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E17C7872-4FB0-594C-ED9B-C10850224246}"/>
              </a:ext>
            </a:extLst>
          </p:cNvPr>
          <p:cNvSpPr>
            <a:spLocks noGrp="1"/>
          </p:cNvSpPr>
          <p:nvPr>
            <p:ph type="title"/>
          </p:nvPr>
        </p:nvSpPr>
        <p:spPr>
          <a:xfrm>
            <a:off x="1069646" y="1092848"/>
            <a:ext cx="9958753" cy="680144"/>
          </a:xfrm>
        </p:spPr>
        <p:txBody>
          <a:bodyPr vert="horz" lIns="91440" tIns="45720" rIns="91440" bIns="45720" rtlCol="0" anchor="t">
            <a:normAutofit/>
          </a:bodyPr>
          <a:lstStyle/>
          <a:p>
            <a:r>
              <a:rPr lang="en-US" sz="4000" dirty="0"/>
              <a:t>Numerical Implementation</a:t>
            </a:r>
          </a:p>
        </p:txBody>
      </p:sp>
      <p:cxnSp>
        <p:nvCxnSpPr>
          <p:cNvPr id="23" name="Straight Connector 22">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26" y="1185999"/>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lassholder for innhold 9">
            <a:extLst>
              <a:ext uri="{FF2B5EF4-FFF2-40B4-BE49-F238E27FC236}">
                <a16:creationId xmlns:a16="http://schemas.microsoft.com/office/drawing/2014/main" id="{B1218900-40FA-E78D-E0F4-3823403A2759}"/>
              </a:ext>
            </a:extLst>
          </p:cNvPr>
          <p:cNvPicPr>
            <a:picLocks noGrp="1" noChangeAspect="1"/>
          </p:cNvPicPr>
          <p:nvPr>
            <p:ph idx="1"/>
          </p:nvPr>
        </p:nvPicPr>
        <p:blipFill>
          <a:blip r:embed="rId3"/>
          <a:stretch>
            <a:fillRect/>
          </a:stretch>
        </p:blipFill>
        <p:spPr>
          <a:xfrm>
            <a:off x="1181100" y="3101788"/>
            <a:ext cx="2975426" cy="2343148"/>
          </a:xfrm>
          <a:prstGeom prst="rect">
            <a:avLst/>
          </a:prstGeom>
        </p:spPr>
      </p:pic>
      <p:pic>
        <p:nvPicPr>
          <p:cNvPr id="12" name="Bilde 11">
            <a:extLst>
              <a:ext uri="{FF2B5EF4-FFF2-40B4-BE49-F238E27FC236}">
                <a16:creationId xmlns:a16="http://schemas.microsoft.com/office/drawing/2014/main" id="{3E79B280-9D9E-B8D7-84F5-3068D9F6AA9E}"/>
              </a:ext>
            </a:extLst>
          </p:cNvPr>
          <p:cNvPicPr>
            <a:picLocks noChangeAspect="1"/>
          </p:cNvPicPr>
          <p:nvPr/>
        </p:nvPicPr>
        <p:blipFill>
          <a:blip r:embed="rId4"/>
          <a:stretch>
            <a:fillRect/>
          </a:stretch>
        </p:blipFill>
        <p:spPr>
          <a:xfrm>
            <a:off x="4597029" y="3088616"/>
            <a:ext cx="2979280" cy="2331286"/>
          </a:xfrm>
          <a:prstGeom prst="rect">
            <a:avLst/>
          </a:prstGeom>
        </p:spPr>
      </p:pic>
      <p:pic>
        <p:nvPicPr>
          <p:cNvPr id="14" name="Bilde 13">
            <a:extLst>
              <a:ext uri="{FF2B5EF4-FFF2-40B4-BE49-F238E27FC236}">
                <a16:creationId xmlns:a16="http://schemas.microsoft.com/office/drawing/2014/main" id="{95DBD130-5415-8E5C-BA2C-98CA03FC8773}"/>
              </a:ext>
            </a:extLst>
          </p:cNvPr>
          <p:cNvPicPr>
            <a:picLocks noChangeAspect="1"/>
          </p:cNvPicPr>
          <p:nvPr/>
        </p:nvPicPr>
        <p:blipFill>
          <a:blip r:embed="rId5"/>
          <a:stretch>
            <a:fillRect/>
          </a:stretch>
        </p:blipFill>
        <p:spPr>
          <a:xfrm>
            <a:off x="8031620" y="3101788"/>
            <a:ext cx="2979280" cy="2323838"/>
          </a:xfrm>
          <a:prstGeom prst="rect">
            <a:avLst/>
          </a:prstGeom>
        </p:spPr>
      </p:pic>
      <p:sp>
        <p:nvSpPr>
          <p:cNvPr id="4" name="Plassholder for lysbildenummer 3">
            <a:extLst>
              <a:ext uri="{FF2B5EF4-FFF2-40B4-BE49-F238E27FC236}">
                <a16:creationId xmlns:a16="http://schemas.microsoft.com/office/drawing/2014/main" id="{2474EEAB-AEA9-7CD7-050E-AFF90A4E6108}"/>
              </a:ext>
            </a:extLst>
          </p:cNvPr>
          <p:cNvSpPr>
            <a:spLocks noGrp="1"/>
          </p:cNvSpPr>
          <p:nvPr>
            <p:ph type="sldNum" sz="quarter" idx="12"/>
          </p:nvPr>
        </p:nvSpPr>
        <p:spPr>
          <a:xfrm>
            <a:off x="10983190" y="6389688"/>
            <a:ext cx="940296" cy="365125"/>
          </a:xfrm>
        </p:spPr>
        <p:txBody>
          <a:bodyPr vert="horz" lIns="91440" tIns="45720" rIns="91440" bIns="45720" rtlCol="0" anchor="ctr">
            <a:normAutofit/>
          </a:bodyPr>
          <a:lstStyle/>
          <a:p>
            <a:pPr>
              <a:spcAft>
                <a:spcPts val="600"/>
              </a:spcAft>
            </a:pPr>
            <a:fld id="{719D7796-F675-488F-AC46-C88938C80352}" type="slidenum">
              <a:rPr lang="en-US" smtClean="0"/>
              <a:pPr>
                <a:spcAft>
                  <a:spcPts val="600"/>
                </a:spcAft>
              </a:pPr>
              <a:t>7</a:t>
            </a:fld>
            <a:endParaRPr lang="en-US"/>
          </a:p>
        </p:txBody>
      </p:sp>
      <p:sp>
        <p:nvSpPr>
          <p:cNvPr id="6" name="TekstSylinder 5">
            <a:extLst>
              <a:ext uri="{FF2B5EF4-FFF2-40B4-BE49-F238E27FC236}">
                <a16:creationId xmlns:a16="http://schemas.microsoft.com/office/drawing/2014/main" id="{17A30D4C-C8BE-383E-F4DB-EA3C2A7837E0}"/>
              </a:ext>
            </a:extLst>
          </p:cNvPr>
          <p:cNvSpPr txBox="1"/>
          <p:nvPr/>
        </p:nvSpPr>
        <p:spPr>
          <a:xfrm>
            <a:off x="1181100" y="2239552"/>
            <a:ext cx="6093724" cy="369332"/>
          </a:xfrm>
          <a:prstGeom prst="rect">
            <a:avLst/>
          </a:prstGeom>
          <a:noFill/>
        </p:spPr>
        <p:txBody>
          <a:bodyPr wrap="square">
            <a:spAutoFit/>
          </a:bodyPr>
          <a:lstStyle/>
          <a:p>
            <a:pPr marL="285750" indent="-285750">
              <a:buFont typeface="Arial" panose="020B0604020202020204" pitchFamily="34" charset="0"/>
              <a:buChar char="•"/>
            </a:pPr>
            <a:r>
              <a:rPr lang="en-US" dirty="0"/>
              <a:t>Analytical vs Numerical Solution</a:t>
            </a:r>
          </a:p>
        </p:txBody>
      </p:sp>
    </p:spTree>
    <p:extLst>
      <p:ext uri="{BB962C8B-B14F-4D97-AF65-F5344CB8AC3E}">
        <p14:creationId xmlns:p14="http://schemas.microsoft.com/office/powerpoint/2010/main" val="233139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49A72C6-8397-7E77-B5B4-89C1B59A95CE}"/>
              </a:ext>
            </a:extLst>
          </p:cNvPr>
          <p:cNvSpPr>
            <a:spLocks noGrp="1"/>
          </p:cNvSpPr>
          <p:nvPr>
            <p:ph type="title"/>
          </p:nvPr>
        </p:nvSpPr>
        <p:spPr/>
        <p:txBody>
          <a:bodyPr/>
          <a:lstStyle/>
          <a:p>
            <a:r>
              <a:rPr lang="en-US"/>
              <a:t>Convergence study</a:t>
            </a:r>
            <a:endParaRPr lang="en-US" dirty="0"/>
          </a:p>
        </p:txBody>
      </p:sp>
      <p:sp>
        <p:nvSpPr>
          <p:cNvPr id="3" name="Plassholder for innhold 2">
            <a:extLst>
              <a:ext uri="{FF2B5EF4-FFF2-40B4-BE49-F238E27FC236}">
                <a16:creationId xmlns:a16="http://schemas.microsoft.com/office/drawing/2014/main" id="{F9EE47DE-0D99-7AAD-F810-AE5F055CB30B}"/>
              </a:ext>
            </a:extLst>
          </p:cNvPr>
          <p:cNvSpPr>
            <a:spLocks noGrp="1"/>
          </p:cNvSpPr>
          <p:nvPr>
            <p:ph idx="1"/>
          </p:nvPr>
        </p:nvSpPr>
        <p:spPr/>
        <p:txBody>
          <a:bodyPr/>
          <a:lstStyle/>
          <a:p>
            <a:pPr>
              <a:buFont typeface="Arial" panose="020B0604020202020204" pitchFamily="34" charset="0"/>
              <a:buChar char="•"/>
            </a:pPr>
            <a:r>
              <a:rPr lang="en-US" dirty="0"/>
              <a:t>Log-log error plot for t = 1 (n=3)</a:t>
            </a:r>
          </a:p>
          <a:p>
            <a:pPr>
              <a:buFont typeface="Arial" panose="020B0604020202020204" pitchFamily="34" charset="0"/>
              <a:buChar char="•"/>
            </a:pPr>
            <a:endParaRPr lang="en-US" dirty="0"/>
          </a:p>
          <a:p>
            <a:pPr>
              <a:buFont typeface="Arial" panose="020B0604020202020204" pitchFamily="34" charset="0"/>
              <a:buChar char="•"/>
            </a:pPr>
            <a:r>
              <a:rPr lang="en-US" dirty="0"/>
              <a:t>Table of observed errors</a:t>
            </a:r>
          </a:p>
          <a:p>
            <a:pPr marL="0" indent="0">
              <a:buNone/>
            </a:pPr>
            <a:endParaRPr lang="en-US" dirty="0"/>
          </a:p>
        </p:txBody>
      </p:sp>
      <p:sp>
        <p:nvSpPr>
          <p:cNvPr id="4" name="Plassholder for lysbildenummer 3">
            <a:extLst>
              <a:ext uri="{FF2B5EF4-FFF2-40B4-BE49-F238E27FC236}">
                <a16:creationId xmlns:a16="http://schemas.microsoft.com/office/drawing/2014/main" id="{E2B57FFE-F656-28C3-068B-63D856CD72F9}"/>
              </a:ext>
            </a:extLst>
          </p:cNvPr>
          <p:cNvSpPr>
            <a:spLocks noGrp="1"/>
          </p:cNvSpPr>
          <p:nvPr>
            <p:ph type="sldNum" sz="quarter" idx="12"/>
          </p:nvPr>
        </p:nvSpPr>
        <p:spPr/>
        <p:txBody>
          <a:bodyPr/>
          <a:lstStyle/>
          <a:p>
            <a:fld id="{719D7796-F675-488F-AC46-C88938C80352}" type="slidenum">
              <a:rPr lang="en-US" smtClean="0"/>
              <a:t>8</a:t>
            </a:fld>
            <a:endParaRPr lang="en-US"/>
          </a:p>
        </p:txBody>
      </p:sp>
      <p:pic>
        <p:nvPicPr>
          <p:cNvPr id="6" name="Bilde 5">
            <a:extLst>
              <a:ext uri="{FF2B5EF4-FFF2-40B4-BE49-F238E27FC236}">
                <a16:creationId xmlns:a16="http://schemas.microsoft.com/office/drawing/2014/main" id="{BAFD0711-7CB4-E0B5-38AB-1A8216AF04C1}"/>
              </a:ext>
            </a:extLst>
          </p:cNvPr>
          <p:cNvPicPr>
            <a:picLocks noChangeAspect="1"/>
          </p:cNvPicPr>
          <p:nvPr/>
        </p:nvPicPr>
        <p:blipFill>
          <a:blip r:embed="rId3"/>
          <a:stretch>
            <a:fillRect/>
          </a:stretch>
        </p:blipFill>
        <p:spPr>
          <a:xfrm>
            <a:off x="7201930" y="1646653"/>
            <a:ext cx="4456123" cy="3362075"/>
          </a:xfrm>
          <a:prstGeom prst="rect">
            <a:avLst/>
          </a:prstGeom>
        </p:spPr>
      </p:pic>
      <p:pic>
        <p:nvPicPr>
          <p:cNvPr id="8" name="Bilde 7">
            <a:extLst>
              <a:ext uri="{FF2B5EF4-FFF2-40B4-BE49-F238E27FC236}">
                <a16:creationId xmlns:a16="http://schemas.microsoft.com/office/drawing/2014/main" id="{FDCC05B9-E328-BCA9-A4E2-C7F200297B8C}"/>
              </a:ext>
            </a:extLst>
          </p:cNvPr>
          <p:cNvPicPr>
            <a:picLocks noChangeAspect="1"/>
          </p:cNvPicPr>
          <p:nvPr/>
        </p:nvPicPr>
        <p:blipFill>
          <a:blip r:embed="rId4"/>
          <a:stretch>
            <a:fillRect/>
          </a:stretch>
        </p:blipFill>
        <p:spPr>
          <a:xfrm>
            <a:off x="7160089" y="5088032"/>
            <a:ext cx="4497964" cy="862392"/>
          </a:xfrm>
          <a:prstGeom prst="rect">
            <a:avLst/>
          </a:prstGeom>
        </p:spPr>
      </p:pic>
      <p:pic>
        <p:nvPicPr>
          <p:cNvPr id="12" name="Bilde 11">
            <a:extLst>
              <a:ext uri="{FF2B5EF4-FFF2-40B4-BE49-F238E27FC236}">
                <a16:creationId xmlns:a16="http://schemas.microsoft.com/office/drawing/2014/main" id="{3892F131-67C2-A72D-0A42-37734B5153AC}"/>
              </a:ext>
            </a:extLst>
          </p:cNvPr>
          <p:cNvPicPr>
            <a:picLocks noChangeAspect="1"/>
          </p:cNvPicPr>
          <p:nvPr/>
        </p:nvPicPr>
        <p:blipFill>
          <a:blip r:embed="rId5"/>
          <a:stretch>
            <a:fillRect/>
          </a:stretch>
        </p:blipFill>
        <p:spPr>
          <a:xfrm>
            <a:off x="533947" y="3971562"/>
            <a:ext cx="5372850" cy="2600688"/>
          </a:xfrm>
          <a:prstGeom prst="rect">
            <a:avLst/>
          </a:prstGeom>
        </p:spPr>
      </p:pic>
    </p:spTree>
    <p:extLst>
      <p:ext uri="{BB962C8B-B14F-4D97-AF65-F5344CB8AC3E}">
        <p14:creationId xmlns:p14="http://schemas.microsoft.com/office/powerpoint/2010/main" val="2567844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B5B83F6-BB68-6305-89A3-5740A8E55E69}"/>
              </a:ext>
            </a:extLst>
          </p:cNvPr>
          <p:cNvSpPr>
            <a:spLocks noGrp="1"/>
          </p:cNvSpPr>
          <p:nvPr>
            <p:ph type="title"/>
          </p:nvPr>
        </p:nvSpPr>
        <p:spPr/>
        <p:txBody>
          <a:bodyPr/>
          <a:lstStyle/>
          <a:p>
            <a:r>
              <a:rPr lang="en-US" dirty="0"/>
              <a:t>CFD Data and Cardiac Output</a:t>
            </a:r>
          </a:p>
        </p:txBody>
      </p:sp>
      <p:sp>
        <p:nvSpPr>
          <p:cNvPr id="3" name="Plassholder for innhold 2">
            <a:extLst>
              <a:ext uri="{FF2B5EF4-FFF2-40B4-BE49-F238E27FC236}">
                <a16:creationId xmlns:a16="http://schemas.microsoft.com/office/drawing/2014/main" id="{59DB2D51-5E42-2B26-A0B4-5D0893C17079}"/>
              </a:ext>
            </a:extLst>
          </p:cNvPr>
          <p:cNvSpPr>
            <a:spLocks noGrp="1"/>
          </p:cNvSpPr>
          <p:nvPr>
            <p:ph idx="1"/>
          </p:nvPr>
        </p:nvSpPr>
        <p:spPr/>
        <p:txBody>
          <a:bodyPr/>
          <a:lstStyle/>
          <a:p>
            <a:pPr>
              <a:buFont typeface="Arial" panose="020B0604020202020204" pitchFamily="34" charset="0"/>
              <a:buChar char="•"/>
            </a:pPr>
            <a:r>
              <a:rPr lang="en-US" dirty="0"/>
              <a:t>Stewart-Hamilton equation</a:t>
            </a:r>
          </a:p>
          <a:p>
            <a:pPr>
              <a:buFont typeface="Arial" panose="020B0604020202020204" pitchFamily="34" charset="0"/>
              <a:buChar char="•"/>
            </a:pPr>
            <a:endParaRPr lang="en-US" dirty="0"/>
          </a:p>
          <a:p>
            <a:pPr>
              <a:buFont typeface="Arial" panose="020B0604020202020204" pitchFamily="34" charset="0"/>
              <a:buChar char="•"/>
            </a:pPr>
            <a:r>
              <a:rPr lang="en-US" dirty="0"/>
              <a:t>Result: q = 5L/min</a:t>
            </a:r>
          </a:p>
          <a:p>
            <a:pPr>
              <a:buFont typeface="Arial" panose="020B0604020202020204" pitchFamily="34" charset="0"/>
              <a:buChar char="•"/>
            </a:pPr>
            <a:endParaRPr lang="en-US" dirty="0"/>
          </a:p>
        </p:txBody>
      </p:sp>
      <p:sp>
        <p:nvSpPr>
          <p:cNvPr id="4" name="Plassholder for lysbildenummer 3">
            <a:extLst>
              <a:ext uri="{FF2B5EF4-FFF2-40B4-BE49-F238E27FC236}">
                <a16:creationId xmlns:a16="http://schemas.microsoft.com/office/drawing/2014/main" id="{2B45E123-1A35-1F3F-4B20-1B8530DF80B7}"/>
              </a:ext>
            </a:extLst>
          </p:cNvPr>
          <p:cNvSpPr>
            <a:spLocks noGrp="1"/>
          </p:cNvSpPr>
          <p:nvPr>
            <p:ph type="sldNum" sz="quarter" idx="12"/>
          </p:nvPr>
        </p:nvSpPr>
        <p:spPr/>
        <p:txBody>
          <a:bodyPr/>
          <a:lstStyle/>
          <a:p>
            <a:fld id="{719D7796-F675-488F-AC46-C88938C80352}" type="slidenum">
              <a:rPr lang="en-US" smtClean="0"/>
              <a:t>9</a:t>
            </a:fld>
            <a:endParaRPr lang="en-US"/>
          </a:p>
        </p:txBody>
      </p:sp>
      <p:pic>
        <p:nvPicPr>
          <p:cNvPr id="6" name="Bilde 5">
            <a:extLst>
              <a:ext uri="{FF2B5EF4-FFF2-40B4-BE49-F238E27FC236}">
                <a16:creationId xmlns:a16="http://schemas.microsoft.com/office/drawing/2014/main" id="{FCC13CB8-A7DB-91F9-1077-39A420694D37}"/>
              </a:ext>
            </a:extLst>
          </p:cNvPr>
          <p:cNvPicPr>
            <a:picLocks noChangeAspect="1"/>
          </p:cNvPicPr>
          <p:nvPr/>
        </p:nvPicPr>
        <p:blipFill>
          <a:blip r:embed="rId3"/>
          <a:stretch>
            <a:fillRect/>
          </a:stretch>
        </p:blipFill>
        <p:spPr>
          <a:xfrm>
            <a:off x="6846870" y="2344590"/>
            <a:ext cx="3253240" cy="1174246"/>
          </a:xfrm>
          <a:prstGeom prst="rect">
            <a:avLst/>
          </a:prstGeom>
        </p:spPr>
      </p:pic>
      <p:pic>
        <p:nvPicPr>
          <p:cNvPr id="7" name="Bilde 6">
            <a:extLst>
              <a:ext uri="{FF2B5EF4-FFF2-40B4-BE49-F238E27FC236}">
                <a16:creationId xmlns:a16="http://schemas.microsoft.com/office/drawing/2014/main" id="{193A4257-AC7B-FCA2-11A4-392BD033DB99}"/>
              </a:ext>
            </a:extLst>
          </p:cNvPr>
          <p:cNvPicPr>
            <a:picLocks noChangeAspect="1"/>
          </p:cNvPicPr>
          <p:nvPr/>
        </p:nvPicPr>
        <p:blipFill>
          <a:blip r:embed="rId4"/>
          <a:stretch>
            <a:fillRect/>
          </a:stretch>
        </p:blipFill>
        <p:spPr>
          <a:xfrm>
            <a:off x="6013804" y="4196838"/>
            <a:ext cx="5439534" cy="1152686"/>
          </a:xfrm>
          <a:prstGeom prst="rect">
            <a:avLst/>
          </a:prstGeom>
        </p:spPr>
      </p:pic>
    </p:spTree>
    <p:extLst>
      <p:ext uri="{BB962C8B-B14F-4D97-AF65-F5344CB8AC3E}">
        <p14:creationId xmlns:p14="http://schemas.microsoft.com/office/powerpoint/2010/main" val="3891450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04603EF-45EA-360B-6884-2C41393F681A}"/>
              </a:ext>
            </a:extLst>
          </p:cNvPr>
          <p:cNvSpPr>
            <a:spLocks noGrp="1"/>
          </p:cNvSpPr>
          <p:nvPr>
            <p:ph type="title"/>
          </p:nvPr>
        </p:nvSpPr>
        <p:spPr/>
        <p:txBody>
          <a:bodyPr/>
          <a:lstStyle/>
          <a:p>
            <a:r>
              <a:rPr lang="en-US" dirty="0"/>
              <a:t>Injection Protocols &amp; Model Setup</a:t>
            </a:r>
          </a:p>
        </p:txBody>
      </p:sp>
      <p:sp>
        <p:nvSpPr>
          <p:cNvPr id="4" name="Plassholder for lysbildenummer 3">
            <a:extLst>
              <a:ext uri="{FF2B5EF4-FFF2-40B4-BE49-F238E27FC236}">
                <a16:creationId xmlns:a16="http://schemas.microsoft.com/office/drawing/2014/main" id="{1B2272CB-8123-9FB0-1B23-CCB603871E06}"/>
              </a:ext>
            </a:extLst>
          </p:cNvPr>
          <p:cNvSpPr>
            <a:spLocks noGrp="1"/>
          </p:cNvSpPr>
          <p:nvPr>
            <p:ph type="sldNum" sz="quarter" idx="12"/>
          </p:nvPr>
        </p:nvSpPr>
        <p:spPr/>
        <p:txBody>
          <a:bodyPr/>
          <a:lstStyle/>
          <a:p>
            <a:fld id="{719D7796-F675-488F-AC46-C88938C80352}" type="slidenum">
              <a:rPr lang="en-US" smtClean="0"/>
              <a:t>10</a:t>
            </a:fld>
            <a:endParaRPr lang="en-US"/>
          </a:p>
        </p:txBody>
      </p:sp>
      <p:pic>
        <p:nvPicPr>
          <p:cNvPr id="10" name="Plassholder for innhold 9">
            <a:extLst>
              <a:ext uri="{FF2B5EF4-FFF2-40B4-BE49-F238E27FC236}">
                <a16:creationId xmlns:a16="http://schemas.microsoft.com/office/drawing/2014/main" id="{77F9C39D-226B-2492-32E8-3A76E5FBE4F6}"/>
              </a:ext>
            </a:extLst>
          </p:cNvPr>
          <p:cNvPicPr>
            <a:picLocks noGrp="1" noChangeAspect="1"/>
          </p:cNvPicPr>
          <p:nvPr>
            <p:ph idx="1"/>
          </p:nvPr>
        </p:nvPicPr>
        <p:blipFill>
          <a:blip r:embed="rId3"/>
          <a:stretch>
            <a:fillRect/>
          </a:stretch>
        </p:blipFill>
        <p:spPr>
          <a:xfrm>
            <a:off x="5857374" y="2193946"/>
            <a:ext cx="4286848" cy="381053"/>
          </a:xfrm>
          <a:prstGeom prst="rect">
            <a:avLst/>
          </a:prstGeom>
        </p:spPr>
      </p:pic>
      <p:pic>
        <p:nvPicPr>
          <p:cNvPr id="12" name="Bilde 11">
            <a:extLst>
              <a:ext uri="{FF2B5EF4-FFF2-40B4-BE49-F238E27FC236}">
                <a16:creationId xmlns:a16="http://schemas.microsoft.com/office/drawing/2014/main" id="{95317DF8-A5DB-0A63-E26F-DD34EEFB3972}"/>
              </a:ext>
            </a:extLst>
          </p:cNvPr>
          <p:cNvPicPr>
            <a:picLocks noChangeAspect="1"/>
          </p:cNvPicPr>
          <p:nvPr/>
        </p:nvPicPr>
        <p:blipFill>
          <a:blip r:embed="rId4"/>
          <a:stretch>
            <a:fillRect/>
          </a:stretch>
        </p:blipFill>
        <p:spPr>
          <a:xfrm>
            <a:off x="5876208" y="2592078"/>
            <a:ext cx="5134692" cy="3381847"/>
          </a:xfrm>
          <a:prstGeom prst="rect">
            <a:avLst/>
          </a:prstGeom>
        </p:spPr>
      </p:pic>
      <mc:AlternateContent xmlns:mc="http://schemas.openxmlformats.org/markup-compatibility/2006" xmlns:a14="http://schemas.microsoft.com/office/drawing/2010/main">
        <mc:Choice Requires="a14">
          <p:sp>
            <p:nvSpPr>
              <p:cNvPr id="13" name="TekstSylinder 12">
                <a:extLst>
                  <a:ext uri="{FF2B5EF4-FFF2-40B4-BE49-F238E27FC236}">
                    <a16:creationId xmlns:a16="http://schemas.microsoft.com/office/drawing/2014/main" id="{B2CFAAAE-77E8-54B0-1581-08771ABD33CD}"/>
                  </a:ext>
                </a:extLst>
              </p:cNvPr>
              <p:cNvSpPr txBox="1"/>
              <p:nvPr/>
            </p:nvSpPr>
            <p:spPr>
              <a:xfrm>
                <a:off x="1088136" y="2193946"/>
                <a:ext cx="455729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Examples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shapes</a:t>
                </a:r>
              </a:p>
              <a:p>
                <a:pPr marL="742950" lvl="1" indent="-285750">
                  <a:buFont typeface="Arial" panose="020B0604020202020204" pitchFamily="34" charset="0"/>
                  <a:buChar char="•"/>
                </a:pPr>
                <a:r>
                  <a:rPr lang="en-US" dirty="0"/>
                  <a:t>Rectangular</a:t>
                </a:r>
              </a:p>
              <a:p>
                <a:pPr marL="742950" lvl="1" indent="-285750">
                  <a:buFont typeface="Arial" panose="020B0604020202020204" pitchFamily="34" charset="0"/>
                  <a:buChar char="•"/>
                </a:pPr>
                <a:r>
                  <a:rPr lang="en-US" dirty="0"/>
                  <a:t>Ramp</a:t>
                </a:r>
              </a:p>
              <a:p>
                <a:pPr marL="742950" lvl="1" indent="-285750">
                  <a:buFont typeface="Arial" panose="020B0604020202020204" pitchFamily="34" charset="0"/>
                  <a:buChar char="•"/>
                </a:pPr>
                <a:r>
                  <a:rPr lang="en-US" dirty="0"/>
                  <a:t>Biphasic</a:t>
                </a:r>
              </a:p>
            </p:txBody>
          </p:sp>
        </mc:Choice>
        <mc:Fallback xmlns="">
          <p:sp>
            <p:nvSpPr>
              <p:cNvPr id="13" name="TekstSylinder 12">
                <a:extLst>
                  <a:ext uri="{FF2B5EF4-FFF2-40B4-BE49-F238E27FC236}">
                    <a16:creationId xmlns:a16="http://schemas.microsoft.com/office/drawing/2014/main" id="{B2CFAAAE-77E8-54B0-1581-08771ABD33CD}"/>
                  </a:ext>
                </a:extLst>
              </p:cNvPr>
              <p:cNvSpPr txBox="1">
                <a:spLocks noRot="1" noChangeAspect="1" noMove="1" noResize="1" noEditPoints="1" noAdjustHandles="1" noChangeArrowheads="1" noChangeShapeType="1" noTextEdit="1"/>
              </p:cNvSpPr>
              <p:nvPr/>
            </p:nvSpPr>
            <p:spPr>
              <a:xfrm>
                <a:off x="1088136" y="2193946"/>
                <a:ext cx="4557290" cy="1200329"/>
              </a:xfrm>
              <a:prstGeom prst="rect">
                <a:avLst/>
              </a:prstGeom>
              <a:blipFill>
                <a:blip r:embed="rId5"/>
                <a:stretch>
                  <a:fillRect l="-937" t="-3046" b="-7107"/>
                </a:stretch>
              </a:blipFill>
            </p:spPr>
            <p:txBody>
              <a:bodyPr/>
              <a:lstStyle/>
              <a:p>
                <a:r>
                  <a:rPr lang="en-US">
                    <a:noFill/>
                  </a:rPr>
                  <a:t> </a:t>
                </a:r>
              </a:p>
            </p:txBody>
          </p:sp>
        </mc:Fallback>
      </mc:AlternateContent>
    </p:spTree>
    <p:extLst>
      <p:ext uri="{BB962C8B-B14F-4D97-AF65-F5344CB8AC3E}">
        <p14:creationId xmlns:p14="http://schemas.microsoft.com/office/powerpoint/2010/main" val="987412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FD4E365-1277-2492-445D-E5FCCADA020E}"/>
              </a:ext>
            </a:extLst>
          </p:cNvPr>
          <p:cNvSpPr>
            <a:spLocks noGrp="1"/>
          </p:cNvSpPr>
          <p:nvPr>
            <p:ph type="title"/>
          </p:nvPr>
        </p:nvSpPr>
        <p:spPr>
          <a:xfrm>
            <a:off x="1134618" y="395283"/>
            <a:ext cx="9922764" cy="1294228"/>
          </a:xfrm>
        </p:spPr>
        <p:txBody>
          <a:bodyPr/>
          <a:lstStyle/>
          <a:p>
            <a:r>
              <a:rPr lang="en-US" dirty="0"/>
              <a:t>Fitting the Healthy Aorta Data</a:t>
            </a:r>
          </a:p>
        </p:txBody>
      </p:sp>
      <p:pic>
        <p:nvPicPr>
          <p:cNvPr id="6" name="Plassholder for innhold 5">
            <a:extLst>
              <a:ext uri="{FF2B5EF4-FFF2-40B4-BE49-F238E27FC236}">
                <a16:creationId xmlns:a16="http://schemas.microsoft.com/office/drawing/2014/main" id="{F268787F-990F-8FD0-3742-788950CDB362}"/>
              </a:ext>
            </a:extLst>
          </p:cNvPr>
          <p:cNvPicPr>
            <a:picLocks noGrp="1" noChangeAspect="1"/>
          </p:cNvPicPr>
          <p:nvPr>
            <p:ph idx="1"/>
          </p:nvPr>
        </p:nvPicPr>
        <p:blipFill>
          <a:blip r:embed="rId3"/>
          <a:stretch>
            <a:fillRect/>
          </a:stretch>
        </p:blipFill>
        <p:spPr>
          <a:xfrm>
            <a:off x="6972300" y="1974408"/>
            <a:ext cx="5219700" cy="1238250"/>
          </a:xfrm>
          <a:prstGeom prst="rect">
            <a:avLst/>
          </a:prstGeom>
        </p:spPr>
      </p:pic>
      <p:sp>
        <p:nvSpPr>
          <p:cNvPr id="4" name="Plassholder for lysbildenummer 3">
            <a:extLst>
              <a:ext uri="{FF2B5EF4-FFF2-40B4-BE49-F238E27FC236}">
                <a16:creationId xmlns:a16="http://schemas.microsoft.com/office/drawing/2014/main" id="{4508FD04-4625-B861-6918-42E6BB80164C}"/>
              </a:ext>
            </a:extLst>
          </p:cNvPr>
          <p:cNvSpPr>
            <a:spLocks noGrp="1"/>
          </p:cNvSpPr>
          <p:nvPr>
            <p:ph type="sldNum" sz="quarter" idx="12"/>
          </p:nvPr>
        </p:nvSpPr>
        <p:spPr/>
        <p:txBody>
          <a:bodyPr/>
          <a:lstStyle/>
          <a:p>
            <a:fld id="{719D7796-F675-488F-AC46-C88938C80352}" type="slidenum">
              <a:rPr lang="en-US" smtClean="0"/>
              <a:t>11</a:t>
            </a:fld>
            <a:endParaRPr lang="en-US"/>
          </a:p>
        </p:txBody>
      </p:sp>
      <p:pic>
        <p:nvPicPr>
          <p:cNvPr id="8" name="Bilde 7">
            <a:extLst>
              <a:ext uri="{FF2B5EF4-FFF2-40B4-BE49-F238E27FC236}">
                <a16:creationId xmlns:a16="http://schemas.microsoft.com/office/drawing/2014/main" id="{3A653EC9-8B71-64BF-3971-8C941AFE1439}"/>
              </a:ext>
            </a:extLst>
          </p:cNvPr>
          <p:cNvPicPr>
            <a:picLocks noChangeAspect="1"/>
          </p:cNvPicPr>
          <p:nvPr/>
        </p:nvPicPr>
        <p:blipFill>
          <a:blip r:embed="rId4"/>
          <a:stretch>
            <a:fillRect/>
          </a:stretch>
        </p:blipFill>
        <p:spPr>
          <a:xfrm>
            <a:off x="8257990" y="3782452"/>
            <a:ext cx="2648320" cy="628738"/>
          </a:xfrm>
          <a:prstGeom prst="rect">
            <a:avLst/>
          </a:prstGeom>
        </p:spPr>
      </p:pic>
      <mc:AlternateContent xmlns:mc="http://schemas.openxmlformats.org/markup-compatibility/2006">
        <mc:Choice xmlns:a14="http://schemas.microsoft.com/office/drawing/2010/main" Requires="a14">
          <p:sp>
            <p:nvSpPr>
              <p:cNvPr id="9" name="Plassholder for innhold 2">
                <a:extLst>
                  <a:ext uri="{FF2B5EF4-FFF2-40B4-BE49-F238E27FC236}">
                    <a16:creationId xmlns:a16="http://schemas.microsoft.com/office/drawing/2014/main" id="{A4F2B3A4-31D9-2A82-EF6F-44E44380A2C3}"/>
                  </a:ext>
                </a:extLst>
              </p:cNvPr>
              <p:cNvSpPr txBox="1">
                <a:spLocks/>
              </p:cNvSpPr>
              <p:nvPr/>
            </p:nvSpPr>
            <p:spPr>
              <a:xfrm>
                <a:off x="1033735" y="1914648"/>
                <a:ext cx="4975768" cy="3028704"/>
              </a:xfrm>
              <a:prstGeom prst="rect">
                <a:avLst/>
              </a:prstGeom>
            </p:spPr>
            <p:txBody>
              <a:bodyPr vert="horz" lIns="91440" tIns="45720" rIns="91440" bIns="45720" rtlCol="0">
                <a:normAutofit/>
              </a:bodyPr>
              <a:lst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nb-NO" dirty="0"/>
                  <a:t>Want to </a:t>
                </a:r>
                <a:r>
                  <a:rPr lang="nb-NO" dirty="0" err="1"/>
                  <a:t>find</a:t>
                </a:r>
                <a:r>
                  <a:rPr lang="nb-NO" dirty="0"/>
                  <a:t> optimal </a:t>
                </a:r>
                <a14:m>
                  <m:oMath xmlns:m="http://schemas.openxmlformats.org/officeDocument/2006/math">
                    <m:r>
                      <a:rPr lang="nb-NO" i="1">
                        <a:latin typeface="Cambria Math" panose="02040503050406030204" pitchFamily="18" charset="0"/>
                      </a:rPr>
                      <m:t>𝜏</m:t>
                    </m:r>
                  </m:oMath>
                </a14:m>
                <a:r>
                  <a:rPr lang="nb-NO" dirty="0"/>
                  <a:t> and n to </a:t>
                </a:r>
                <a:r>
                  <a:rPr lang="nb-NO" dirty="0" err="1"/>
                  <a:t>minimize</a:t>
                </a:r>
                <a:r>
                  <a:rPr lang="nb-NO" dirty="0"/>
                  <a:t> SSR.</a:t>
                </a:r>
              </a:p>
              <a:p>
                <a:pPr>
                  <a:buFont typeface="Arial" panose="020B0604020202020204" pitchFamily="34" charset="0"/>
                  <a:buChar char="•"/>
                </a:pPr>
                <a:r>
                  <a:rPr lang="nb-NO" dirty="0"/>
                  <a:t> </a:t>
                </a:r>
                <a14:m>
                  <m:oMath xmlns:m="http://schemas.openxmlformats.org/officeDocument/2006/math">
                    <m:f>
                      <m:fPr>
                        <m:ctrlPr>
                          <a:rPr lang="nb-NO" b="0" i="1" smtClean="0">
                            <a:latin typeface="Cambria Math" panose="02040503050406030204" pitchFamily="18" charset="0"/>
                          </a:rPr>
                        </m:ctrlPr>
                      </m:fPr>
                      <m:num>
                        <m:r>
                          <a:rPr lang="nb-NO" b="0" i="1" smtClean="0">
                            <a:latin typeface="Cambria Math" panose="02040503050406030204" pitchFamily="18" charset="0"/>
                          </a:rPr>
                          <m:t>𝑑𝑆𝑆𝑅</m:t>
                        </m:r>
                      </m:num>
                      <m:den>
                        <m:r>
                          <a:rPr lang="nb-NO" b="0" i="1" smtClean="0">
                            <a:latin typeface="Cambria Math" panose="02040503050406030204" pitchFamily="18" charset="0"/>
                          </a:rPr>
                          <m:t>𝑑</m:t>
                        </m:r>
                        <m:r>
                          <a:rPr lang="nb-NO" b="0" i="1" smtClean="0">
                            <a:latin typeface="Cambria Math" panose="02040503050406030204" pitchFamily="18" charset="0"/>
                          </a:rPr>
                          <m:t>𝜏</m:t>
                        </m:r>
                      </m:den>
                    </m:f>
                    <m:r>
                      <a:rPr lang="nb-NO" b="0" i="1" smtClean="0">
                        <a:latin typeface="Cambria Math" panose="02040503050406030204" pitchFamily="18" charset="0"/>
                      </a:rPr>
                      <m:t>=0</m:t>
                    </m:r>
                  </m:oMath>
                </a14:m>
                <a:endParaRPr lang="nb-NO" b="0" dirty="0"/>
              </a:p>
              <a:p>
                <a:pPr>
                  <a:buFont typeface="Arial" panose="020B0604020202020204" pitchFamily="34" charset="0"/>
                  <a:buChar char="•"/>
                </a:pPr>
                <a:r>
                  <a:rPr lang="en-US" dirty="0"/>
                  <a:t>Finding optimal  </a:t>
                </a:r>
                <a14:m>
                  <m:oMath xmlns:m="http://schemas.openxmlformats.org/officeDocument/2006/math">
                    <m:r>
                      <a:rPr lang="nb-NO" b="0" i="1" smtClean="0">
                        <a:latin typeface="Cambria Math" panose="02040503050406030204" pitchFamily="18" charset="0"/>
                      </a:rPr>
                      <m:t>𝜏</m:t>
                    </m:r>
                  </m:oMath>
                </a14:m>
                <a:r>
                  <a:rPr lang="en-US" dirty="0"/>
                  <a:t> with secant method for each n.</a:t>
                </a:r>
              </a:p>
              <a:p>
                <a:pPr>
                  <a:buFont typeface="Arial" panose="020B0604020202020204" pitchFamily="34" charset="0"/>
                  <a:buChar char="•"/>
                </a:pPr>
                <a:r>
                  <a:rPr lang="en-US" dirty="0"/>
                  <a:t>Grid search for n</a:t>
                </a:r>
              </a:p>
              <a:p>
                <a:pPr>
                  <a:buFont typeface="Arial" panose="020B0604020202020204" pitchFamily="34" charset="0"/>
                  <a:buChar char="•"/>
                </a:pPr>
                <a:endParaRPr lang="en-US" dirty="0"/>
              </a:p>
            </p:txBody>
          </p:sp>
        </mc:Choice>
        <mc:Fallback>
          <p:sp>
            <p:nvSpPr>
              <p:cNvPr id="9" name="Plassholder for innhold 2">
                <a:extLst>
                  <a:ext uri="{FF2B5EF4-FFF2-40B4-BE49-F238E27FC236}">
                    <a16:creationId xmlns:a16="http://schemas.microsoft.com/office/drawing/2014/main" id="{A4F2B3A4-31D9-2A82-EF6F-44E44380A2C3}"/>
                  </a:ext>
                </a:extLst>
              </p:cNvPr>
              <p:cNvSpPr txBox="1">
                <a:spLocks noRot="1" noChangeAspect="1" noMove="1" noResize="1" noEditPoints="1" noAdjustHandles="1" noChangeArrowheads="1" noChangeShapeType="1" noTextEdit="1"/>
              </p:cNvSpPr>
              <p:nvPr/>
            </p:nvSpPr>
            <p:spPr>
              <a:xfrm>
                <a:off x="1033735" y="1914648"/>
                <a:ext cx="4975768" cy="3028704"/>
              </a:xfrm>
              <a:prstGeom prst="rect">
                <a:avLst/>
              </a:prstGeom>
              <a:blipFill>
                <a:blip r:embed="rId5"/>
                <a:stretch>
                  <a:fillRect l="-858"/>
                </a:stretch>
              </a:blipFill>
            </p:spPr>
            <p:txBody>
              <a:bodyPr/>
              <a:lstStyle/>
              <a:p>
                <a:r>
                  <a:rPr lang="en-US">
                    <a:noFill/>
                  </a:rPr>
                  <a:t> </a:t>
                </a:r>
              </a:p>
            </p:txBody>
          </p:sp>
        </mc:Fallback>
      </mc:AlternateContent>
      <p:pic>
        <p:nvPicPr>
          <p:cNvPr id="11" name="Bilde 10">
            <a:extLst>
              <a:ext uri="{FF2B5EF4-FFF2-40B4-BE49-F238E27FC236}">
                <a16:creationId xmlns:a16="http://schemas.microsoft.com/office/drawing/2014/main" id="{03150A3B-B522-F662-BE49-6CE51799160A}"/>
              </a:ext>
            </a:extLst>
          </p:cNvPr>
          <p:cNvPicPr>
            <a:picLocks noChangeAspect="1"/>
          </p:cNvPicPr>
          <p:nvPr/>
        </p:nvPicPr>
        <p:blipFill>
          <a:blip r:embed="rId6"/>
          <a:stretch>
            <a:fillRect/>
          </a:stretch>
        </p:blipFill>
        <p:spPr>
          <a:xfrm>
            <a:off x="3456720" y="3942983"/>
            <a:ext cx="4801270" cy="2629267"/>
          </a:xfrm>
          <a:prstGeom prst="rect">
            <a:avLst/>
          </a:prstGeom>
        </p:spPr>
      </p:pic>
    </p:spTree>
    <p:extLst>
      <p:ext uri="{BB962C8B-B14F-4D97-AF65-F5344CB8AC3E}">
        <p14:creationId xmlns:p14="http://schemas.microsoft.com/office/powerpoint/2010/main" val="1499581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2131E615-7FE0-D95E-D1FF-7926E9D20348}"/>
              </a:ext>
            </a:extLst>
          </p:cNvPr>
          <p:cNvSpPr>
            <a:spLocks noGrp="1"/>
          </p:cNvSpPr>
          <p:nvPr>
            <p:ph type="title"/>
          </p:nvPr>
        </p:nvSpPr>
        <p:spPr>
          <a:xfrm>
            <a:off x="1091203" y="1091868"/>
            <a:ext cx="5077479" cy="2042160"/>
          </a:xfrm>
        </p:spPr>
        <p:txBody>
          <a:bodyPr>
            <a:normAutofit/>
          </a:bodyPr>
          <a:lstStyle/>
          <a:p>
            <a:r>
              <a:rPr lang="en-US" sz="4000" dirty="0"/>
              <a:t>Fitting the Healthy Aorta Data</a:t>
            </a:r>
          </a:p>
        </p:txBody>
      </p:sp>
      <p:cxnSp>
        <p:nvCxnSpPr>
          <p:cNvPr id="15" name="Straight Connector 14">
            <a:extLst>
              <a:ext uri="{FF2B5EF4-FFF2-40B4-BE49-F238E27FC236}">
                <a16:creationId xmlns:a16="http://schemas.microsoft.com/office/drawing/2014/main" id="{E55FB8EA-5471-4074-88CA-98AA3AD981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12"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C7CF1FBB-AD76-7C09-EE70-1EF915BC3579}"/>
              </a:ext>
            </a:extLst>
          </p:cNvPr>
          <p:cNvSpPr>
            <a:spLocks noGrp="1"/>
          </p:cNvSpPr>
          <p:nvPr>
            <p:ph idx="1"/>
          </p:nvPr>
        </p:nvSpPr>
        <p:spPr>
          <a:xfrm>
            <a:off x="1120232" y="3204755"/>
            <a:ext cx="4975768" cy="3028704"/>
          </a:xfrm>
        </p:spPr>
        <p:txBody>
          <a:bodyPr>
            <a:normAutofit/>
          </a:bodyPr>
          <a:lstStyle/>
          <a:p>
            <a:pPr>
              <a:buFont typeface="Arial" panose="020B0604020202020204" pitchFamily="34" charset="0"/>
              <a:buChar char="•"/>
            </a:pPr>
            <a:r>
              <a:rPr lang="en-US" dirty="0"/>
              <a:t>Results</a:t>
            </a:r>
          </a:p>
          <a:p>
            <a:pPr lvl="1">
              <a:buFont typeface="Arial" panose="020B0604020202020204" pitchFamily="34" charset="0"/>
              <a:buChar char="•"/>
            </a:pPr>
            <a:r>
              <a:rPr lang="en-US" dirty="0"/>
              <a:t>n = 49</a:t>
            </a:r>
          </a:p>
          <a:p>
            <a:pPr lvl="1">
              <a:buFont typeface="Arial" panose="020B0604020202020204" pitchFamily="34" charset="0"/>
              <a:buChar char="•"/>
            </a:pPr>
            <a:r>
              <a:rPr lang="en-US" dirty="0"/>
              <a:t>Tau = 2.36</a:t>
            </a:r>
          </a:p>
        </p:txBody>
      </p:sp>
      <p:sp>
        <p:nvSpPr>
          <p:cNvPr id="4" name="Plassholder for lysbildenummer 3">
            <a:extLst>
              <a:ext uri="{FF2B5EF4-FFF2-40B4-BE49-F238E27FC236}">
                <a16:creationId xmlns:a16="http://schemas.microsoft.com/office/drawing/2014/main" id="{C2221742-AA8A-8B5D-CC02-2D5040A1C14C}"/>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12</a:t>
            </a:fld>
            <a:endParaRPr lang="en-US"/>
          </a:p>
        </p:txBody>
      </p:sp>
      <p:pic>
        <p:nvPicPr>
          <p:cNvPr id="7" name="Bilde 6">
            <a:extLst>
              <a:ext uri="{FF2B5EF4-FFF2-40B4-BE49-F238E27FC236}">
                <a16:creationId xmlns:a16="http://schemas.microsoft.com/office/drawing/2014/main" id="{F6D38DA0-1371-DAF9-9620-3DF9F257687F}"/>
              </a:ext>
            </a:extLst>
          </p:cNvPr>
          <p:cNvPicPr>
            <a:picLocks noChangeAspect="1"/>
          </p:cNvPicPr>
          <p:nvPr/>
        </p:nvPicPr>
        <p:blipFill>
          <a:blip r:embed="rId3"/>
          <a:srcRect b="1505"/>
          <a:stretch>
            <a:fillRect/>
          </a:stretch>
        </p:blipFill>
        <p:spPr>
          <a:xfrm>
            <a:off x="5780059" y="0"/>
            <a:ext cx="5574585" cy="6754813"/>
          </a:xfrm>
          <a:prstGeom prst="rect">
            <a:avLst/>
          </a:prstGeom>
        </p:spPr>
      </p:pic>
    </p:spTree>
    <p:extLst>
      <p:ext uri="{BB962C8B-B14F-4D97-AF65-F5344CB8AC3E}">
        <p14:creationId xmlns:p14="http://schemas.microsoft.com/office/powerpoint/2010/main" val="1031553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348472B-5E29-BC0C-F6AC-BCB9F1607170}"/>
              </a:ext>
            </a:extLst>
          </p:cNvPr>
          <p:cNvSpPr>
            <a:spLocks noGrp="1"/>
          </p:cNvSpPr>
          <p:nvPr>
            <p:ph type="title"/>
          </p:nvPr>
        </p:nvSpPr>
        <p:spPr/>
        <p:txBody>
          <a:bodyPr/>
          <a:lstStyle/>
          <a:p>
            <a:r>
              <a:rPr lang="nb-NO" dirty="0" err="1"/>
              <a:t>Results</a:t>
            </a:r>
            <a:endParaRPr lang="en-US" dirty="0"/>
          </a:p>
        </p:txBody>
      </p:sp>
      <p:sp>
        <p:nvSpPr>
          <p:cNvPr id="3" name="Plassholder for innhold 2">
            <a:extLst>
              <a:ext uri="{FF2B5EF4-FFF2-40B4-BE49-F238E27FC236}">
                <a16:creationId xmlns:a16="http://schemas.microsoft.com/office/drawing/2014/main" id="{B18FC8E0-D43A-5901-A86B-CD6ADEACAF1C}"/>
              </a:ext>
            </a:extLst>
          </p:cNvPr>
          <p:cNvSpPr>
            <a:spLocks noGrp="1"/>
          </p:cNvSpPr>
          <p:nvPr>
            <p:ph idx="1"/>
          </p:nvPr>
        </p:nvSpPr>
        <p:spPr/>
        <p:txBody>
          <a:bodyPr/>
          <a:lstStyle/>
          <a:p>
            <a:r>
              <a:rPr lang="nb-NO" dirty="0"/>
              <a:t>Overall </a:t>
            </a:r>
            <a:r>
              <a:rPr lang="nb-NO" dirty="0" err="1"/>
              <a:t>good</a:t>
            </a:r>
            <a:r>
              <a:rPr lang="nb-NO" dirty="0"/>
              <a:t> match</a:t>
            </a:r>
          </a:p>
          <a:p>
            <a:r>
              <a:rPr lang="nb-NO" dirty="0" err="1"/>
              <a:t>Biphasic</a:t>
            </a:r>
            <a:r>
              <a:rPr lang="nb-NO" dirty="0"/>
              <a:t> </a:t>
            </a:r>
            <a:r>
              <a:rPr lang="nb-NO" dirty="0" err="1"/>
              <a:t>highest</a:t>
            </a:r>
            <a:r>
              <a:rPr lang="nb-NO" dirty="0"/>
              <a:t> SSR</a:t>
            </a:r>
            <a:endParaRPr lang="en-US" dirty="0"/>
          </a:p>
        </p:txBody>
      </p:sp>
      <p:sp>
        <p:nvSpPr>
          <p:cNvPr id="4" name="Plassholder for lysbildenummer 3">
            <a:extLst>
              <a:ext uri="{FF2B5EF4-FFF2-40B4-BE49-F238E27FC236}">
                <a16:creationId xmlns:a16="http://schemas.microsoft.com/office/drawing/2014/main" id="{A230DE5F-B903-BCBA-F98F-0F4ECA7A8DC2}"/>
              </a:ext>
            </a:extLst>
          </p:cNvPr>
          <p:cNvSpPr>
            <a:spLocks noGrp="1"/>
          </p:cNvSpPr>
          <p:nvPr>
            <p:ph type="sldNum" sz="quarter" idx="12"/>
          </p:nvPr>
        </p:nvSpPr>
        <p:spPr/>
        <p:txBody>
          <a:bodyPr/>
          <a:lstStyle/>
          <a:p>
            <a:fld id="{719D7796-F675-488F-AC46-C88938C80352}" type="slidenum">
              <a:rPr lang="en-US" smtClean="0"/>
              <a:t>13</a:t>
            </a:fld>
            <a:endParaRPr lang="en-US"/>
          </a:p>
        </p:txBody>
      </p:sp>
      <p:pic>
        <p:nvPicPr>
          <p:cNvPr id="6" name="Bilde 5">
            <a:extLst>
              <a:ext uri="{FF2B5EF4-FFF2-40B4-BE49-F238E27FC236}">
                <a16:creationId xmlns:a16="http://schemas.microsoft.com/office/drawing/2014/main" id="{0C8A5F22-8752-7E9B-5F84-8F53FF601AC9}"/>
              </a:ext>
            </a:extLst>
          </p:cNvPr>
          <p:cNvPicPr>
            <a:picLocks noChangeAspect="1"/>
          </p:cNvPicPr>
          <p:nvPr/>
        </p:nvPicPr>
        <p:blipFill>
          <a:blip r:embed="rId3"/>
          <a:stretch>
            <a:fillRect/>
          </a:stretch>
        </p:blipFill>
        <p:spPr>
          <a:xfrm>
            <a:off x="5497942" y="48277"/>
            <a:ext cx="3400900" cy="6706536"/>
          </a:xfrm>
          <a:prstGeom prst="rect">
            <a:avLst/>
          </a:prstGeom>
        </p:spPr>
      </p:pic>
      <p:pic>
        <p:nvPicPr>
          <p:cNvPr id="8" name="Bilde 7">
            <a:extLst>
              <a:ext uri="{FF2B5EF4-FFF2-40B4-BE49-F238E27FC236}">
                <a16:creationId xmlns:a16="http://schemas.microsoft.com/office/drawing/2014/main" id="{FCEFBC36-5C29-DD65-E63E-589578E19801}"/>
              </a:ext>
            </a:extLst>
          </p:cNvPr>
          <p:cNvPicPr>
            <a:picLocks noChangeAspect="1"/>
          </p:cNvPicPr>
          <p:nvPr/>
        </p:nvPicPr>
        <p:blipFill>
          <a:blip r:embed="rId4"/>
          <a:stretch>
            <a:fillRect/>
          </a:stretch>
        </p:blipFill>
        <p:spPr>
          <a:xfrm>
            <a:off x="8657732" y="0"/>
            <a:ext cx="3534268" cy="6649378"/>
          </a:xfrm>
          <a:prstGeom prst="rect">
            <a:avLst/>
          </a:prstGeom>
        </p:spPr>
      </p:pic>
      <p:pic>
        <p:nvPicPr>
          <p:cNvPr id="10" name="Bilde 9">
            <a:extLst>
              <a:ext uri="{FF2B5EF4-FFF2-40B4-BE49-F238E27FC236}">
                <a16:creationId xmlns:a16="http://schemas.microsoft.com/office/drawing/2014/main" id="{6386162A-4CC3-5032-3ECC-5614D145697B}"/>
              </a:ext>
            </a:extLst>
          </p:cNvPr>
          <p:cNvPicPr>
            <a:picLocks noChangeAspect="1"/>
          </p:cNvPicPr>
          <p:nvPr/>
        </p:nvPicPr>
        <p:blipFill>
          <a:blip r:embed="rId5"/>
          <a:stretch>
            <a:fillRect/>
          </a:stretch>
        </p:blipFill>
        <p:spPr>
          <a:xfrm>
            <a:off x="1563733" y="5134031"/>
            <a:ext cx="2753109" cy="1038370"/>
          </a:xfrm>
          <a:prstGeom prst="rect">
            <a:avLst/>
          </a:prstGeom>
        </p:spPr>
      </p:pic>
    </p:spTree>
    <p:extLst>
      <p:ext uri="{BB962C8B-B14F-4D97-AF65-F5344CB8AC3E}">
        <p14:creationId xmlns:p14="http://schemas.microsoft.com/office/powerpoint/2010/main" val="2954372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608C15EB-6A90-EF91-E8B4-33B27146D341}"/>
              </a:ext>
            </a:extLst>
          </p:cNvPr>
          <p:cNvSpPr>
            <a:spLocks noGrp="1"/>
          </p:cNvSpPr>
          <p:nvPr>
            <p:ph type="title"/>
          </p:nvPr>
        </p:nvSpPr>
        <p:spPr>
          <a:xfrm>
            <a:off x="1091203" y="1091868"/>
            <a:ext cx="5077479" cy="2042160"/>
          </a:xfrm>
        </p:spPr>
        <p:txBody>
          <a:bodyPr>
            <a:normAutofit/>
          </a:bodyPr>
          <a:lstStyle/>
          <a:p>
            <a:r>
              <a:rPr lang="en-US" sz="4000"/>
              <a:t>Aneurysm Case</a:t>
            </a:r>
          </a:p>
        </p:txBody>
      </p:sp>
      <p:cxnSp>
        <p:nvCxnSpPr>
          <p:cNvPr id="15" name="Straight Connector 14">
            <a:extLst>
              <a:ext uri="{FF2B5EF4-FFF2-40B4-BE49-F238E27FC236}">
                <a16:creationId xmlns:a16="http://schemas.microsoft.com/office/drawing/2014/main" id="{E55FB8EA-5471-4074-88CA-98AA3AD981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12"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29723981-C01C-0625-6182-FE6419286F02}"/>
              </a:ext>
            </a:extLst>
          </p:cNvPr>
          <p:cNvSpPr>
            <a:spLocks noGrp="1"/>
          </p:cNvSpPr>
          <p:nvPr>
            <p:ph idx="1"/>
          </p:nvPr>
        </p:nvSpPr>
        <p:spPr>
          <a:xfrm>
            <a:off x="1120232" y="3204755"/>
            <a:ext cx="4975768" cy="3028704"/>
          </a:xfrm>
        </p:spPr>
        <p:txBody>
          <a:bodyPr>
            <a:normAutofit/>
          </a:bodyPr>
          <a:lstStyle/>
          <a:p>
            <a:pPr>
              <a:buFont typeface="Arial" panose="020B0604020202020204" pitchFamily="34" charset="0"/>
              <a:buChar char="•"/>
            </a:pPr>
            <a:r>
              <a:rPr lang="en-US" dirty="0"/>
              <a:t>Results</a:t>
            </a:r>
          </a:p>
          <a:p>
            <a:pPr lvl="1">
              <a:buFont typeface="Arial" panose="020B0604020202020204" pitchFamily="34" charset="0"/>
              <a:buChar char="•"/>
            </a:pPr>
            <a:r>
              <a:rPr lang="en-US" dirty="0"/>
              <a:t>n = 21</a:t>
            </a:r>
          </a:p>
          <a:p>
            <a:pPr lvl="1">
              <a:buFont typeface="Arial" panose="020B0604020202020204" pitchFamily="34" charset="0"/>
              <a:buChar char="•"/>
            </a:pPr>
            <a:r>
              <a:rPr lang="en-US" dirty="0"/>
              <a:t>Tau = 2.45</a:t>
            </a:r>
          </a:p>
        </p:txBody>
      </p:sp>
      <p:sp>
        <p:nvSpPr>
          <p:cNvPr id="4" name="Plassholder for lysbildenummer 3">
            <a:extLst>
              <a:ext uri="{FF2B5EF4-FFF2-40B4-BE49-F238E27FC236}">
                <a16:creationId xmlns:a16="http://schemas.microsoft.com/office/drawing/2014/main" id="{245499CF-4A96-97CA-061B-DDD7B1F62B01}"/>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14</a:t>
            </a:fld>
            <a:endParaRPr lang="en-US"/>
          </a:p>
        </p:txBody>
      </p:sp>
      <p:pic>
        <p:nvPicPr>
          <p:cNvPr id="7" name="Bilde 6">
            <a:extLst>
              <a:ext uri="{FF2B5EF4-FFF2-40B4-BE49-F238E27FC236}">
                <a16:creationId xmlns:a16="http://schemas.microsoft.com/office/drawing/2014/main" id="{6FF3AD65-CC5E-A8D6-3183-92A17E9F1A74}"/>
              </a:ext>
            </a:extLst>
          </p:cNvPr>
          <p:cNvPicPr>
            <a:picLocks noChangeAspect="1"/>
          </p:cNvPicPr>
          <p:nvPr/>
        </p:nvPicPr>
        <p:blipFill>
          <a:blip r:embed="rId3"/>
          <a:stretch>
            <a:fillRect/>
          </a:stretch>
        </p:blipFill>
        <p:spPr>
          <a:xfrm>
            <a:off x="6780735" y="0"/>
            <a:ext cx="5411265" cy="6858000"/>
          </a:xfrm>
          <a:prstGeom prst="rect">
            <a:avLst/>
          </a:prstGeom>
        </p:spPr>
      </p:pic>
    </p:spTree>
    <p:extLst>
      <p:ext uri="{BB962C8B-B14F-4D97-AF65-F5344CB8AC3E}">
        <p14:creationId xmlns:p14="http://schemas.microsoft.com/office/powerpoint/2010/main" val="847210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8DCF17A-B07A-1FC9-F098-62182F9C9861}"/>
              </a:ext>
            </a:extLst>
          </p:cNvPr>
          <p:cNvSpPr>
            <a:spLocks noGrp="1"/>
          </p:cNvSpPr>
          <p:nvPr>
            <p:ph type="title"/>
          </p:nvPr>
        </p:nvSpPr>
        <p:spPr/>
        <p:txBody>
          <a:bodyPr/>
          <a:lstStyle/>
          <a:p>
            <a:r>
              <a:rPr lang="nb-NO" dirty="0" err="1"/>
              <a:t>Results</a:t>
            </a:r>
            <a:endParaRPr lang="en-US" dirty="0"/>
          </a:p>
        </p:txBody>
      </p:sp>
      <p:sp>
        <p:nvSpPr>
          <p:cNvPr id="3" name="Plassholder for innhold 2">
            <a:extLst>
              <a:ext uri="{FF2B5EF4-FFF2-40B4-BE49-F238E27FC236}">
                <a16:creationId xmlns:a16="http://schemas.microsoft.com/office/drawing/2014/main" id="{EF6A495A-E50B-DEE5-3838-FCB03F6FE000}"/>
              </a:ext>
            </a:extLst>
          </p:cNvPr>
          <p:cNvSpPr>
            <a:spLocks noGrp="1"/>
          </p:cNvSpPr>
          <p:nvPr>
            <p:ph idx="1"/>
          </p:nvPr>
        </p:nvSpPr>
        <p:spPr/>
        <p:txBody>
          <a:bodyPr/>
          <a:lstStyle/>
          <a:p>
            <a:r>
              <a:rPr lang="nb-NO" dirty="0" err="1"/>
              <a:t>Worse</a:t>
            </a:r>
            <a:r>
              <a:rPr lang="nb-NO" dirty="0"/>
              <a:t> </a:t>
            </a:r>
            <a:r>
              <a:rPr lang="nb-NO" dirty="0" err="1"/>
              <a:t>fit</a:t>
            </a:r>
            <a:endParaRPr lang="nb-NO" dirty="0"/>
          </a:p>
          <a:p>
            <a:pPr lvl="1"/>
            <a:r>
              <a:rPr lang="nb-NO" dirty="0" err="1"/>
              <a:t>Higher</a:t>
            </a:r>
            <a:r>
              <a:rPr lang="nb-NO" dirty="0"/>
              <a:t> SSRs</a:t>
            </a:r>
          </a:p>
        </p:txBody>
      </p:sp>
      <p:sp>
        <p:nvSpPr>
          <p:cNvPr id="4" name="Plassholder for lysbildenummer 3">
            <a:extLst>
              <a:ext uri="{FF2B5EF4-FFF2-40B4-BE49-F238E27FC236}">
                <a16:creationId xmlns:a16="http://schemas.microsoft.com/office/drawing/2014/main" id="{13B2AACD-2A69-3117-1026-649ACCA8E31F}"/>
              </a:ext>
            </a:extLst>
          </p:cNvPr>
          <p:cNvSpPr>
            <a:spLocks noGrp="1"/>
          </p:cNvSpPr>
          <p:nvPr>
            <p:ph type="sldNum" sz="quarter" idx="12"/>
          </p:nvPr>
        </p:nvSpPr>
        <p:spPr/>
        <p:txBody>
          <a:bodyPr/>
          <a:lstStyle/>
          <a:p>
            <a:fld id="{719D7796-F675-488F-AC46-C88938C80352}" type="slidenum">
              <a:rPr lang="en-US" smtClean="0"/>
              <a:t>15</a:t>
            </a:fld>
            <a:endParaRPr lang="en-US"/>
          </a:p>
        </p:txBody>
      </p:sp>
      <p:pic>
        <p:nvPicPr>
          <p:cNvPr id="6" name="Bilde 5">
            <a:extLst>
              <a:ext uri="{FF2B5EF4-FFF2-40B4-BE49-F238E27FC236}">
                <a16:creationId xmlns:a16="http://schemas.microsoft.com/office/drawing/2014/main" id="{EAE7F7CA-7072-F034-FB5A-7DD8017C4198}"/>
              </a:ext>
            </a:extLst>
          </p:cNvPr>
          <p:cNvPicPr>
            <a:picLocks noChangeAspect="1"/>
          </p:cNvPicPr>
          <p:nvPr/>
        </p:nvPicPr>
        <p:blipFill>
          <a:blip r:embed="rId3"/>
          <a:stretch>
            <a:fillRect/>
          </a:stretch>
        </p:blipFill>
        <p:spPr>
          <a:xfrm>
            <a:off x="4789518" y="0"/>
            <a:ext cx="3781953" cy="6754168"/>
          </a:xfrm>
          <a:prstGeom prst="rect">
            <a:avLst/>
          </a:prstGeom>
        </p:spPr>
      </p:pic>
      <p:pic>
        <p:nvPicPr>
          <p:cNvPr id="8" name="Bilde 7">
            <a:extLst>
              <a:ext uri="{FF2B5EF4-FFF2-40B4-BE49-F238E27FC236}">
                <a16:creationId xmlns:a16="http://schemas.microsoft.com/office/drawing/2014/main" id="{AB4A95DF-D60F-DC98-A1A8-4036B5F4BC3A}"/>
              </a:ext>
            </a:extLst>
          </p:cNvPr>
          <p:cNvPicPr>
            <a:picLocks noChangeAspect="1"/>
          </p:cNvPicPr>
          <p:nvPr/>
        </p:nvPicPr>
        <p:blipFill>
          <a:blip r:embed="rId4"/>
          <a:stretch>
            <a:fillRect/>
          </a:stretch>
        </p:blipFill>
        <p:spPr>
          <a:xfrm>
            <a:off x="8215010" y="0"/>
            <a:ext cx="3972479" cy="6782747"/>
          </a:xfrm>
          <a:prstGeom prst="rect">
            <a:avLst/>
          </a:prstGeom>
        </p:spPr>
      </p:pic>
      <p:pic>
        <p:nvPicPr>
          <p:cNvPr id="10" name="Bilde 9">
            <a:extLst>
              <a:ext uri="{FF2B5EF4-FFF2-40B4-BE49-F238E27FC236}">
                <a16:creationId xmlns:a16="http://schemas.microsoft.com/office/drawing/2014/main" id="{600D62B4-CA16-1103-46FC-E44D131C0123}"/>
              </a:ext>
            </a:extLst>
          </p:cNvPr>
          <p:cNvPicPr>
            <a:picLocks noChangeAspect="1"/>
          </p:cNvPicPr>
          <p:nvPr/>
        </p:nvPicPr>
        <p:blipFill>
          <a:blip r:embed="rId5"/>
          <a:stretch>
            <a:fillRect/>
          </a:stretch>
        </p:blipFill>
        <p:spPr>
          <a:xfrm>
            <a:off x="906850" y="4919911"/>
            <a:ext cx="2886478" cy="1066949"/>
          </a:xfrm>
          <a:prstGeom prst="rect">
            <a:avLst/>
          </a:prstGeom>
        </p:spPr>
      </p:pic>
    </p:spTree>
    <p:extLst>
      <p:ext uri="{BB962C8B-B14F-4D97-AF65-F5344CB8AC3E}">
        <p14:creationId xmlns:p14="http://schemas.microsoft.com/office/powerpoint/2010/main" val="3047324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DC4F0D24-3141-DAA3-AB59-2424A7622C6D}"/>
              </a:ext>
            </a:extLst>
          </p:cNvPr>
          <p:cNvSpPr>
            <a:spLocks noGrp="1"/>
          </p:cNvSpPr>
          <p:nvPr>
            <p:ph type="title"/>
          </p:nvPr>
        </p:nvSpPr>
        <p:spPr>
          <a:xfrm>
            <a:off x="1091204" y="1091868"/>
            <a:ext cx="4147804" cy="2042160"/>
          </a:xfrm>
        </p:spPr>
        <p:txBody>
          <a:bodyPr>
            <a:normAutofit/>
          </a:bodyPr>
          <a:lstStyle/>
          <a:p>
            <a:r>
              <a:rPr lang="en-US" sz="4000"/>
              <a:t>Extended Model</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104DB93C-AEC4-1BDC-1891-9B27B0C46693}"/>
                  </a:ext>
                </a:extLst>
              </p:cNvPr>
              <p:cNvSpPr>
                <a:spLocks noGrp="1"/>
              </p:cNvSpPr>
              <p:nvPr>
                <p:ph idx="1"/>
              </p:nvPr>
            </p:nvSpPr>
            <p:spPr>
              <a:xfrm>
                <a:off x="1120232" y="3204755"/>
                <a:ext cx="4147804" cy="2966043"/>
              </a:xfrm>
            </p:spPr>
            <p:txBody>
              <a:bodyPr>
                <a:normAutofit lnSpcReduction="10000"/>
              </a:bodyPr>
              <a:lstStyle/>
              <a:p>
                <a:pPr>
                  <a:lnSpc>
                    <a:spcPct val="120000"/>
                  </a:lnSpc>
                  <a:buFont typeface="Arial" panose="020B0604020202020204" pitchFamily="34" charset="0"/>
                  <a:buChar char="•"/>
                </a:pPr>
                <a:r>
                  <a:rPr lang="en-US" sz="1400" dirty="0"/>
                  <a:t>Added equation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𝐴</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𝑑</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𝐶</m:t>
                            </m:r>
                          </m:e>
                          <m:sub>
                            <m:r>
                              <a:rPr lang="en-US" sz="1400" b="0" i="1" smtClean="0">
                                <a:latin typeface="Cambria Math" panose="02040503050406030204" pitchFamily="18" charset="0"/>
                              </a:rPr>
                              <m:t>𝐴</m:t>
                            </m:r>
                          </m:sub>
                        </m:sSub>
                      </m:num>
                      <m:den>
                        <m:r>
                          <a:rPr lang="en-US" sz="1400" b="0" i="1" smtClean="0">
                            <a:latin typeface="Cambria Math" panose="02040503050406030204" pitchFamily="18" charset="0"/>
                          </a:rPr>
                          <m:t>𝑑𝑡</m:t>
                        </m:r>
                      </m:den>
                    </m:f>
                    <m:r>
                      <a:rPr lang="en-US" sz="1400" b="0" i="1" smtClean="0">
                        <a:latin typeface="Cambria Math" panose="02040503050406030204" pitchFamily="18" charset="0"/>
                      </a:rPr>
                      <m:t>=</m:t>
                    </m:r>
                    <m:r>
                      <a:rPr lang="en-US" sz="1400" b="0" i="1" smtClean="0">
                        <a:latin typeface="Cambria Math" panose="02040503050406030204" pitchFamily="18" charset="0"/>
                      </a:rPr>
                      <m:t>𝐷</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𝐶</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𝐶</m:t>
                        </m:r>
                      </m:e>
                      <m:sub>
                        <m:r>
                          <a:rPr lang="en-US" sz="1400" b="0" i="1" smtClean="0">
                            <a:latin typeface="Cambria Math" panose="02040503050406030204" pitchFamily="18" charset="0"/>
                          </a:rPr>
                          <m:t>𝐴</m:t>
                        </m:r>
                      </m:sub>
                    </m:sSub>
                    <m:r>
                      <a:rPr lang="en-US" sz="1400" b="0" i="1" smtClean="0">
                        <a:latin typeface="Cambria Math" panose="02040503050406030204" pitchFamily="18" charset="0"/>
                      </a:rPr>
                      <m:t>)</m:t>
                    </m:r>
                  </m:oMath>
                </a14:m>
                <a:endParaRPr lang="en-US" sz="1400" dirty="0"/>
              </a:p>
              <a:p>
                <a:pPr>
                  <a:lnSpc>
                    <a:spcPct val="120000"/>
                  </a:lnSpc>
                  <a:buFont typeface="Arial" panose="020B0604020202020204" pitchFamily="34" charset="0"/>
                  <a:buChar char="•"/>
                </a:pPr>
                <a:endParaRPr lang="en-US" sz="1400" dirty="0"/>
              </a:p>
              <a:p>
                <a:pPr>
                  <a:lnSpc>
                    <a:spcPct val="120000"/>
                  </a:lnSpc>
                  <a:buFont typeface="Arial" panose="020B0604020202020204" pitchFamily="34" charset="0"/>
                  <a:buChar char="•"/>
                </a:pPr>
                <a:r>
                  <a:rPr lang="en-US" sz="1400" dirty="0"/>
                  <a:t>Results</a:t>
                </a:r>
              </a:p>
              <a:p>
                <a:pPr lvl="1">
                  <a:lnSpc>
                    <a:spcPct val="120000"/>
                  </a:lnSpc>
                  <a:buFont typeface="Arial" panose="020B0604020202020204" pitchFamily="34" charset="0"/>
                  <a:buChar char="•"/>
                </a:pPr>
                <a:r>
                  <a:rPr lang="en-US" sz="1400" dirty="0"/>
                  <a:t>D = 0.9</a:t>
                </a:r>
              </a:p>
              <a:p>
                <a:pPr lvl="1">
                  <a:lnSpc>
                    <a:spcPct val="120000"/>
                  </a:lnSpc>
                  <a:buFont typeface="Arial" panose="020B0604020202020204" pitchFamily="34" charset="0"/>
                  <a:buChar char="•"/>
                </a:pPr>
                <a:r>
                  <a:rPr lang="en-US" sz="1400" dirty="0"/>
                  <a:t>VA = 5.0</a:t>
                </a:r>
              </a:p>
              <a:p>
                <a:pPr lvl="1">
                  <a:lnSpc>
                    <a:spcPct val="120000"/>
                  </a:lnSpc>
                  <a:buFont typeface="Arial" panose="020B0604020202020204" pitchFamily="34" charset="0"/>
                  <a:buChar char="•"/>
                </a:pPr>
                <a:r>
                  <a:rPr lang="en-US" sz="1400" dirty="0"/>
                  <a:t>SSR improvement: 0.34 -&gt; 0.18</a:t>
                </a:r>
              </a:p>
              <a:p>
                <a:pPr lvl="1">
                  <a:lnSpc>
                    <a:spcPct val="120000"/>
                  </a:lnSpc>
                  <a:buFont typeface="Arial" panose="020B0604020202020204" pitchFamily="34" charset="0"/>
                  <a:buChar char="•"/>
                </a:pPr>
                <a:endParaRPr lang="en-US" sz="1400" dirty="0"/>
              </a:p>
              <a:p>
                <a:pPr lvl="1">
                  <a:lnSpc>
                    <a:spcPct val="120000"/>
                  </a:lnSpc>
                  <a:buFont typeface="Arial" panose="020B0604020202020204" pitchFamily="34" charset="0"/>
                  <a:buChar char="•"/>
                </a:pPr>
                <a:r>
                  <a:rPr lang="en-US" sz="1400" dirty="0"/>
                  <a:t>Diagram: Main flow + side aneurysm pocket</a:t>
                </a:r>
              </a:p>
            </p:txBody>
          </p:sp>
        </mc:Choice>
        <mc:Fallback xmlns="">
          <p:sp>
            <p:nvSpPr>
              <p:cNvPr id="3" name="Plassholder for innhold 2">
                <a:extLst>
                  <a:ext uri="{FF2B5EF4-FFF2-40B4-BE49-F238E27FC236}">
                    <a16:creationId xmlns:a16="http://schemas.microsoft.com/office/drawing/2014/main" id="{104DB93C-AEC4-1BDC-1891-9B27B0C46693}"/>
                  </a:ext>
                </a:extLst>
              </p:cNvPr>
              <p:cNvSpPr>
                <a:spLocks noGrp="1" noRot="1" noChangeAspect="1" noMove="1" noResize="1" noEditPoints="1" noAdjustHandles="1" noChangeArrowheads="1" noChangeShapeType="1" noTextEdit="1"/>
              </p:cNvSpPr>
              <p:nvPr>
                <p:ph idx="1"/>
              </p:nvPr>
            </p:nvSpPr>
            <p:spPr>
              <a:xfrm>
                <a:off x="1120232" y="3204755"/>
                <a:ext cx="4147804" cy="2966043"/>
              </a:xfrm>
              <a:blipFill>
                <a:blip r:embed="rId3"/>
                <a:stretch>
                  <a:fillRect l="-294"/>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B6FFEB46-48C7-B2F0-B1F9-BA1548E614B3}"/>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16</a:t>
            </a:fld>
            <a:endParaRPr lang="en-US"/>
          </a:p>
        </p:txBody>
      </p:sp>
      <p:pic>
        <p:nvPicPr>
          <p:cNvPr id="8" name="Bilde 7">
            <a:extLst>
              <a:ext uri="{FF2B5EF4-FFF2-40B4-BE49-F238E27FC236}">
                <a16:creationId xmlns:a16="http://schemas.microsoft.com/office/drawing/2014/main" id="{A3BC2834-7929-B9D3-24FA-C675755E70FC}"/>
              </a:ext>
            </a:extLst>
          </p:cNvPr>
          <p:cNvPicPr>
            <a:picLocks noChangeAspect="1"/>
          </p:cNvPicPr>
          <p:nvPr/>
        </p:nvPicPr>
        <p:blipFill>
          <a:blip r:embed="rId4"/>
          <a:stretch>
            <a:fillRect/>
          </a:stretch>
        </p:blipFill>
        <p:spPr>
          <a:xfrm>
            <a:off x="7193507" y="2430968"/>
            <a:ext cx="3650636" cy="4141282"/>
          </a:xfrm>
          <a:prstGeom prst="rect">
            <a:avLst/>
          </a:prstGeom>
        </p:spPr>
      </p:pic>
      <p:pic>
        <p:nvPicPr>
          <p:cNvPr id="14" name="Bilde 13">
            <a:extLst>
              <a:ext uri="{FF2B5EF4-FFF2-40B4-BE49-F238E27FC236}">
                <a16:creationId xmlns:a16="http://schemas.microsoft.com/office/drawing/2014/main" id="{0245B91A-9ED5-0C7A-03DE-AC2E2DAA6D44}"/>
              </a:ext>
            </a:extLst>
          </p:cNvPr>
          <p:cNvPicPr>
            <a:picLocks noChangeAspect="1"/>
          </p:cNvPicPr>
          <p:nvPr/>
        </p:nvPicPr>
        <p:blipFill>
          <a:blip r:embed="rId5"/>
          <a:stretch>
            <a:fillRect/>
          </a:stretch>
        </p:blipFill>
        <p:spPr>
          <a:xfrm>
            <a:off x="5928067" y="451262"/>
            <a:ext cx="5525271" cy="1829055"/>
          </a:xfrm>
          <a:prstGeom prst="rect">
            <a:avLst/>
          </a:prstGeom>
        </p:spPr>
      </p:pic>
    </p:spTree>
    <p:extLst>
      <p:ext uri="{BB962C8B-B14F-4D97-AF65-F5344CB8AC3E}">
        <p14:creationId xmlns:p14="http://schemas.microsoft.com/office/powerpoint/2010/main" val="2927373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54BCC20-4BCC-BD78-948B-6D6F547BBA5A}"/>
              </a:ext>
            </a:extLst>
          </p:cNvPr>
          <p:cNvSpPr>
            <a:spLocks noGrp="1"/>
          </p:cNvSpPr>
          <p:nvPr>
            <p:ph type="title"/>
          </p:nvPr>
        </p:nvSpPr>
        <p:spPr/>
        <p:txBody>
          <a:bodyPr/>
          <a:lstStyle/>
          <a:p>
            <a:r>
              <a:rPr lang="en-US" dirty="0"/>
              <a:t>Discussion</a:t>
            </a:r>
          </a:p>
        </p:txBody>
      </p:sp>
      <p:sp>
        <p:nvSpPr>
          <p:cNvPr id="3" name="Plassholder for innhold 2">
            <a:extLst>
              <a:ext uri="{FF2B5EF4-FFF2-40B4-BE49-F238E27FC236}">
                <a16:creationId xmlns:a16="http://schemas.microsoft.com/office/drawing/2014/main" id="{AD15EE6B-B675-C760-FD8E-9AC6F77980B7}"/>
              </a:ext>
            </a:extLst>
          </p:cNvPr>
          <p:cNvSpPr>
            <a:spLocks noGrp="1"/>
          </p:cNvSpPr>
          <p:nvPr>
            <p:ph idx="1"/>
          </p:nvPr>
        </p:nvSpPr>
        <p:spPr/>
        <p:txBody>
          <a:bodyPr/>
          <a:lstStyle/>
          <a:p>
            <a:pPr>
              <a:buFont typeface="Arial" panose="020B0604020202020204" pitchFamily="34" charset="0"/>
              <a:buChar char="•"/>
            </a:pPr>
            <a:r>
              <a:rPr lang="en-US" dirty="0"/>
              <a:t>Strengths</a:t>
            </a:r>
          </a:p>
          <a:p>
            <a:pPr lvl="1">
              <a:buFont typeface="Arial" panose="020B0604020202020204" pitchFamily="34" charset="0"/>
              <a:buChar char="•"/>
            </a:pPr>
            <a:r>
              <a:rPr lang="en-US" dirty="0"/>
              <a:t>Simple &amp; fast, ideal for diagnostics</a:t>
            </a:r>
          </a:p>
          <a:p>
            <a:pPr lvl="1">
              <a:buFont typeface="Arial" panose="020B0604020202020204" pitchFamily="34" charset="0"/>
              <a:buChar char="•"/>
            </a:pPr>
            <a:r>
              <a:rPr lang="en-US" dirty="0"/>
              <a:t>Physically interpretable results</a:t>
            </a:r>
          </a:p>
          <a:p>
            <a:pPr lvl="1">
              <a:buFont typeface="Arial" panose="020B0604020202020204" pitchFamily="34" charset="0"/>
              <a:buChar char="•"/>
            </a:pPr>
            <a:r>
              <a:rPr lang="en-US" dirty="0"/>
              <a:t>Good generalization to new inputs</a:t>
            </a:r>
          </a:p>
          <a:p>
            <a:pPr lvl="1">
              <a:buFont typeface="Arial" panose="020B0604020202020204" pitchFamily="34" charset="0"/>
              <a:buChar char="•"/>
            </a:pPr>
            <a:endParaRPr lang="en-US" dirty="0"/>
          </a:p>
          <a:p>
            <a:pPr>
              <a:buFont typeface="Arial" panose="020B0604020202020204" pitchFamily="34" charset="0"/>
              <a:buChar char="•"/>
            </a:pPr>
            <a:r>
              <a:rPr lang="en-US" dirty="0"/>
              <a:t>Weaknesses</a:t>
            </a:r>
          </a:p>
          <a:p>
            <a:pPr lvl="1">
              <a:buFont typeface="Arial" panose="020B0604020202020204" pitchFamily="34" charset="0"/>
              <a:buChar char="•"/>
            </a:pPr>
            <a:r>
              <a:rPr lang="en-US" dirty="0"/>
              <a:t>Loses spatial detail</a:t>
            </a:r>
          </a:p>
          <a:p>
            <a:pPr lvl="1">
              <a:buFont typeface="Arial" panose="020B0604020202020204" pitchFamily="34" charset="0"/>
              <a:buChar char="•"/>
            </a:pPr>
            <a:r>
              <a:rPr lang="en-US" dirty="0"/>
              <a:t>Empirical data fitting</a:t>
            </a:r>
          </a:p>
          <a:p>
            <a:pPr lvl="1">
              <a:buFont typeface="Arial" panose="020B0604020202020204" pitchFamily="34" charset="0"/>
              <a:buChar char="•"/>
            </a:pPr>
            <a:r>
              <a:rPr lang="en-US" dirty="0"/>
              <a:t>Limited accuracy for complex 3D flow</a:t>
            </a:r>
          </a:p>
        </p:txBody>
      </p:sp>
      <p:sp>
        <p:nvSpPr>
          <p:cNvPr id="4" name="Plassholder for lysbildenummer 3">
            <a:extLst>
              <a:ext uri="{FF2B5EF4-FFF2-40B4-BE49-F238E27FC236}">
                <a16:creationId xmlns:a16="http://schemas.microsoft.com/office/drawing/2014/main" id="{D43C876D-64FB-CAA5-1722-CCB087B53BBE}"/>
              </a:ext>
            </a:extLst>
          </p:cNvPr>
          <p:cNvSpPr>
            <a:spLocks noGrp="1"/>
          </p:cNvSpPr>
          <p:nvPr>
            <p:ph type="sldNum" sz="quarter" idx="12"/>
          </p:nvPr>
        </p:nvSpPr>
        <p:spPr/>
        <p:txBody>
          <a:bodyPr/>
          <a:lstStyle/>
          <a:p>
            <a:fld id="{719D7796-F675-488F-AC46-C88938C80352}" type="slidenum">
              <a:rPr lang="en-US" smtClean="0"/>
              <a:t>17</a:t>
            </a:fld>
            <a:endParaRPr lang="en-US"/>
          </a:p>
        </p:txBody>
      </p:sp>
    </p:spTree>
    <p:extLst>
      <p:ext uri="{BB962C8B-B14F-4D97-AF65-F5344CB8AC3E}">
        <p14:creationId xmlns:p14="http://schemas.microsoft.com/office/powerpoint/2010/main" val="554394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FCDD8BC-983E-EA4D-D277-B14FE06E32C4}"/>
              </a:ext>
            </a:extLst>
          </p:cNvPr>
          <p:cNvSpPr>
            <a:spLocks noGrp="1"/>
          </p:cNvSpPr>
          <p:nvPr>
            <p:ph type="title"/>
          </p:nvPr>
        </p:nvSpPr>
        <p:spPr/>
        <p:txBody>
          <a:bodyPr/>
          <a:lstStyle/>
          <a:p>
            <a:r>
              <a:rPr lang="en-US" dirty="0"/>
              <a:t>Conclusion &amp; Learning Outcomes</a:t>
            </a:r>
          </a:p>
        </p:txBody>
      </p:sp>
      <p:sp>
        <p:nvSpPr>
          <p:cNvPr id="3" name="Plassholder for innhold 2">
            <a:extLst>
              <a:ext uri="{FF2B5EF4-FFF2-40B4-BE49-F238E27FC236}">
                <a16:creationId xmlns:a16="http://schemas.microsoft.com/office/drawing/2014/main" id="{C23DA360-9EF5-49BA-5ED0-0C69B09F2059}"/>
              </a:ext>
            </a:extLst>
          </p:cNvPr>
          <p:cNvSpPr>
            <a:spLocks noGrp="1"/>
          </p:cNvSpPr>
          <p:nvPr>
            <p:ph idx="1"/>
          </p:nvPr>
        </p:nvSpPr>
        <p:spPr/>
        <p:txBody>
          <a:bodyPr/>
          <a:lstStyle/>
          <a:p>
            <a:pPr>
              <a:buFont typeface="Arial" panose="020B0604020202020204" pitchFamily="34" charset="0"/>
              <a:buChar char="•"/>
            </a:pPr>
            <a:r>
              <a:rPr lang="en-US" dirty="0"/>
              <a:t>Key results</a:t>
            </a:r>
          </a:p>
          <a:p>
            <a:pPr lvl="1">
              <a:buFont typeface="Arial" panose="020B0604020202020204" pitchFamily="34" charset="0"/>
              <a:buChar char="•"/>
            </a:pPr>
            <a:r>
              <a:rPr lang="en-US" dirty="0"/>
              <a:t>Healthy n = 49, tau = 2.36</a:t>
            </a:r>
          </a:p>
          <a:p>
            <a:pPr lvl="1">
              <a:buFont typeface="Arial" panose="020B0604020202020204" pitchFamily="34" charset="0"/>
              <a:buChar char="•"/>
            </a:pPr>
            <a:r>
              <a:rPr lang="en-US" dirty="0"/>
              <a:t>Aneurysm n = 21, tau = 2.45</a:t>
            </a:r>
          </a:p>
          <a:p>
            <a:pPr lvl="1">
              <a:buFont typeface="Arial" panose="020B0604020202020204" pitchFamily="34" charset="0"/>
              <a:buChar char="•"/>
            </a:pPr>
            <a:r>
              <a:rPr lang="en-US" dirty="0"/>
              <a:t>Extended model, SSR reduced by factor 1.85</a:t>
            </a:r>
          </a:p>
          <a:p>
            <a:pPr lvl="1">
              <a:buFont typeface="Arial" panose="020B0604020202020204" pitchFamily="34" charset="0"/>
              <a:buChar char="•"/>
            </a:pPr>
            <a:endParaRPr lang="en-US" dirty="0"/>
          </a:p>
          <a:p>
            <a:pPr>
              <a:buFont typeface="Arial" panose="020B0604020202020204" pitchFamily="34" charset="0"/>
              <a:buChar char="•"/>
            </a:pPr>
            <a:r>
              <a:rPr lang="en-US" dirty="0"/>
              <a:t>Summary</a:t>
            </a:r>
          </a:p>
          <a:p>
            <a:pPr lvl="1">
              <a:buFont typeface="Arial" panose="020B0604020202020204" pitchFamily="34" charset="0"/>
              <a:buChar char="•"/>
            </a:pPr>
            <a:r>
              <a:rPr lang="en-US" dirty="0"/>
              <a:t>Solvers validated (Euler, RK2 and RK4)</a:t>
            </a:r>
          </a:p>
          <a:p>
            <a:pPr lvl="1">
              <a:buFont typeface="Arial" panose="020B0604020202020204" pitchFamily="34" charset="0"/>
              <a:buChar char="•"/>
            </a:pPr>
            <a:r>
              <a:rPr lang="en-US" dirty="0"/>
              <a:t>CFD matched with simple ODE model</a:t>
            </a:r>
          </a:p>
          <a:p>
            <a:pPr lvl="1">
              <a:buFont typeface="Arial" panose="020B0604020202020204" pitchFamily="34" charset="0"/>
              <a:buChar char="•"/>
            </a:pPr>
            <a:r>
              <a:rPr lang="en-US" dirty="0"/>
              <a:t>Reduced-order model captures physiology at low cost</a:t>
            </a:r>
          </a:p>
        </p:txBody>
      </p:sp>
      <p:sp>
        <p:nvSpPr>
          <p:cNvPr id="4" name="Plassholder for lysbildenummer 3">
            <a:extLst>
              <a:ext uri="{FF2B5EF4-FFF2-40B4-BE49-F238E27FC236}">
                <a16:creationId xmlns:a16="http://schemas.microsoft.com/office/drawing/2014/main" id="{98B3B6CA-3013-2BFF-8B40-1E3821C9AA41}"/>
              </a:ext>
            </a:extLst>
          </p:cNvPr>
          <p:cNvSpPr>
            <a:spLocks noGrp="1"/>
          </p:cNvSpPr>
          <p:nvPr>
            <p:ph type="sldNum" sz="quarter" idx="12"/>
          </p:nvPr>
        </p:nvSpPr>
        <p:spPr/>
        <p:txBody>
          <a:bodyPr/>
          <a:lstStyle/>
          <a:p>
            <a:fld id="{719D7796-F675-488F-AC46-C88938C80352}" type="slidenum">
              <a:rPr lang="en-US" smtClean="0"/>
              <a:t>18</a:t>
            </a:fld>
            <a:endParaRPr lang="en-US"/>
          </a:p>
        </p:txBody>
      </p:sp>
    </p:spTree>
    <p:extLst>
      <p:ext uri="{BB962C8B-B14F-4D97-AF65-F5344CB8AC3E}">
        <p14:creationId xmlns:p14="http://schemas.microsoft.com/office/powerpoint/2010/main" val="3419326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F3BA311-DAD9-D87A-EAA7-D830F328AE45}"/>
              </a:ext>
            </a:extLst>
          </p:cNvPr>
          <p:cNvSpPr>
            <a:spLocks noGrp="1"/>
          </p:cNvSpPr>
          <p:nvPr>
            <p:ph type="title"/>
          </p:nvPr>
        </p:nvSpPr>
        <p:spPr/>
        <p:txBody>
          <a:bodyPr/>
          <a:lstStyle/>
          <a:p>
            <a:r>
              <a:rPr lang="en-US" dirty="0"/>
              <a:t>Conclusion &amp; Learning Outcomes</a:t>
            </a:r>
          </a:p>
        </p:txBody>
      </p:sp>
      <p:sp>
        <p:nvSpPr>
          <p:cNvPr id="3" name="Plassholder for innhold 2">
            <a:extLst>
              <a:ext uri="{FF2B5EF4-FFF2-40B4-BE49-F238E27FC236}">
                <a16:creationId xmlns:a16="http://schemas.microsoft.com/office/drawing/2014/main" id="{8588ED80-8581-A66A-910A-8B2452464ACF}"/>
              </a:ext>
            </a:extLst>
          </p:cNvPr>
          <p:cNvSpPr>
            <a:spLocks noGrp="1"/>
          </p:cNvSpPr>
          <p:nvPr>
            <p:ph idx="1"/>
          </p:nvPr>
        </p:nvSpPr>
        <p:spPr/>
        <p:txBody>
          <a:bodyPr>
            <a:normAutofit/>
          </a:bodyPr>
          <a:lstStyle/>
          <a:p>
            <a:pPr>
              <a:buFont typeface="Arial" panose="020B0604020202020204" pitchFamily="34" charset="0"/>
              <a:buChar char="•"/>
            </a:pPr>
            <a:r>
              <a:rPr lang="en-US" dirty="0"/>
              <a:t>Learning objectives</a:t>
            </a:r>
          </a:p>
          <a:p>
            <a:pPr lvl="1">
              <a:buFont typeface="Arial" panose="020B0604020202020204" pitchFamily="34" charset="0"/>
              <a:buChar char="•"/>
            </a:pPr>
            <a:r>
              <a:rPr lang="en-US" dirty="0"/>
              <a:t>Implement an ODE solver using the Euler, Runge-</a:t>
            </a:r>
            <a:r>
              <a:rPr lang="en-US" dirty="0" err="1"/>
              <a:t>Kutta</a:t>
            </a:r>
            <a:r>
              <a:rPr lang="en-US" dirty="0"/>
              <a:t> (second and fourth order) algorithm</a:t>
            </a:r>
          </a:p>
          <a:p>
            <a:pPr lvl="1">
              <a:buFont typeface="Arial" panose="020B0604020202020204" pitchFamily="34" charset="0"/>
              <a:buChar char="•"/>
            </a:pPr>
            <a:r>
              <a:rPr lang="en-US" dirty="0"/>
              <a:t>Use mixing tank models to model how the shape of a medical tracer changes after traveling in an aorta arch</a:t>
            </a:r>
          </a:p>
          <a:p>
            <a:pPr lvl="1">
              <a:buFont typeface="Arial" panose="020B0604020202020204" pitchFamily="34" charset="0"/>
              <a:buChar char="•"/>
            </a:pPr>
            <a:r>
              <a:rPr lang="en-US" dirty="0"/>
              <a:t>Compare the ODE model to CFD simulation results and extract information about the cardiac output (flooding rate) and volume of the aortic arch</a:t>
            </a:r>
          </a:p>
          <a:p>
            <a:pPr lvl="1">
              <a:buFont typeface="Arial" panose="020B0604020202020204" pitchFamily="34" charset="0"/>
              <a:buChar char="•"/>
            </a:pPr>
            <a:r>
              <a:rPr lang="en-US" dirty="0"/>
              <a:t>Investigate if one can use the tracer signal to identify if there is a an aneurysm in the aorta</a:t>
            </a:r>
          </a:p>
        </p:txBody>
      </p:sp>
      <p:sp>
        <p:nvSpPr>
          <p:cNvPr id="4" name="Plassholder for lysbildenummer 3">
            <a:extLst>
              <a:ext uri="{FF2B5EF4-FFF2-40B4-BE49-F238E27FC236}">
                <a16:creationId xmlns:a16="http://schemas.microsoft.com/office/drawing/2014/main" id="{8F24E8A9-DE17-45D3-33BE-0A8A92A83E54}"/>
              </a:ext>
            </a:extLst>
          </p:cNvPr>
          <p:cNvSpPr>
            <a:spLocks noGrp="1"/>
          </p:cNvSpPr>
          <p:nvPr>
            <p:ph type="sldNum" sz="quarter" idx="12"/>
          </p:nvPr>
        </p:nvSpPr>
        <p:spPr/>
        <p:txBody>
          <a:bodyPr/>
          <a:lstStyle/>
          <a:p>
            <a:fld id="{719D7796-F675-488F-AC46-C88938C80352}" type="slidenum">
              <a:rPr lang="en-US" smtClean="0"/>
              <a:t>19</a:t>
            </a:fld>
            <a:endParaRPr lang="en-US"/>
          </a:p>
        </p:txBody>
      </p:sp>
    </p:spTree>
    <p:extLst>
      <p:ext uri="{BB962C8B-B14F-4D97-AF65-F5344CB8AC3E}">
        <p14:creationId xmlns:p14="http://schemas.microsoft.com/office/powerpoint/2010/main" val="1505925696"/>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44BBD6C06A0DE48ACBAB514EB50DDDC" ma:contentTypeVersion="15" ma:contentTypeDescription="Create a new document." ma:contentTypeScope="" ma:versionID="e411f08a2840eb4c2c659d48e130b1c1">
  <xsd:schema xmlns:xsd="http://www.w3.org/2001/XMLSchema" xmlns:xs="http://www.w3.org/2001/XMLSchema" xmlns:p="http://schemas.microsoft.com/office/2006/metadata/properties" xmlns:ns3="f32230bf-e247-430b-8132-dda84b672e09" xmlns:ns4="63dba08a-eb68-4688-8594-69aeae0aec6b" targetNamespace="http://schemas.microsoft.com/office/2006/metadata/properties" ma:root="true" ma:fieldsID="c0124a76df93d5d422ba5e331c68b4b9" ns3:_="" ns4:_="">
    <xsd:import namespace="f32230bf-e247-430b-8132-dda84b672e09"/>
    <xsd:import namespace="63dba08a-eb68-4688-8594-69aeae0aec6b"/>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SystemTags" minOccurs="0"/>
                <xsd:element ref="ns3:MediaServiceOCR" minOccurs="0"/>
                <xsd:element ref="ns3:MediaServiceDateTaken" minOccurs="0"/>
                <xsd:element ref="ns3:MediaServiceLocation" minOccurs="0"/>
                <xsd:element ref="ns3:_activity"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2230bf-e247-430b-8132-dda84b672e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3dba08a-eb68-4688-8594-69aeae0aec6b"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32230bf-e247-430b-8132-dda84b672e09" xsi:nil="true"/>
  </documentManagement>
</p:properties>
</file>

<file path=customXml/itemProps1.xml><?xml version="1.0" encoding="utf-8"?>
<ds:datastoreItem xmlns:ds="http://schemas.openxmlformats.org/officeDocument/2006/customXml" ds:itemID="{1F9B8160-C1C6-4E12-902A-6A06E8B787CD}">
  <ds:schemaRefs>
    <ds:schemaRef ds:uri="http://schemas.microsoft.com/sharepoint/v3/contenttype/forms"/>
  </ds:schemaRefs>
</ds:datastoreItem>
</file>

<file path=customXml/itemProps2.xml><?xml version="1.0" encoding="utf-8"?>
<ds:datastoreItem xmlns:ds="http://schemas.openxmlformats.org/officeDocument/2006/customXml" ds:itemID="{0DC6942C-5FA6-44C0-95FC-C76C51F471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2230bf-e247-430b-8132-dda84b672e09"/>
    <ds:schemaRef ds:uri="63dba08a-eb68-4688-8594-69aeae0aec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13A51D2-7BD9-468E-B9FF-0AF273694999}">
  <ds:schemaRefs>
    <ds:schemaRef ds:uri="http://schemas.microsoft.com/office/infopath/2007/PartnerControls"/>
    <ds:schemaRef ds:uri="63dba08a-eb68-4688-8594-69aeae0aec6b"/>
    <ds:schemaRef ds:uri="http://schemas.microsoft.com/office/2006/documentManagement/types"/>
    <ds:schemaRef ds:uri="http://schemas.microsoft.com/office/2006/metadata/properties"/>
    <ds:schemaRef ds:uri="http://www.w3.org/XML/1998/namespace"/>
    <ds:schemaRef ds:uri="http://purl.org/dc/terms/"/>
    <ds:schemaRef ds:uri="http://schemas.openxmlformats.org/package/2006/metadata/core-properties"/>
    <ds:schemaRef ds:uri="f32230bf-e247-430b-8132-dda84b672e09"/>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2787</TotalTime>
  <Words>1949</Words>
  <Application>Microsoft Office PowerPoint</Application>
  <PresentationFormat>Widescreen</PresentationFormat>
  <Paragraphs>235</Paragraphs>
  <Slides>19</Slides>
  <Notes>18</Notes>
  <HiddenSlides>0</HiddenSlides>
  <MMClips>0</MMClips>
  <ScaleCrop>false</ScaleCrop>
  <HeadingPairs>
    <vt:vector size="6" baseType="variant">
      <vt:variant>
        <vt:lpstr>Brukte skrifter</vt:lpstr>
      </vt:variant>
      <vt:variant>
        <vt:i4>5</vt:i4>
      </vt:variant>
      <vt:variant>
        <vt:lpstr>Tema</vt:lpstr>
      </vt:variant>
      <vt:variant>
        <vt:i4>1</vt:i4>
      </vt:variant>
      <vt:variant>
        <vt:lpstr>Lysbildetitler</vt:lpstr>
      </vt:variant>
      <vt:variant>
        <vt:i4>19</vt:i4>
      </vt:variant>
    </vt:vector>
  </HeadingPairs>
  <TitlesOfParts>
    <vt:vector size="25" baseType="lpstr">
      <vt:lpstr>Aptos</vt:lpstr>
      <vt:lpstr>Arial</vt:lpstr>
      <vt:lpstr>Calibri</vt:lpstr>
      <vt:lpstr>Cambria Math</vt:lpstr>
      <vt:lpstr>Neue Haas Grotesk Text Pro</vt:lpstr>
      <vt:lpstr>BjornVTI</vt:lpstr>
      <vt:lpstr>Project 3 – Stirred  (NOT shaken)</vt:lpstr>
      <vt:lpstr>Agenda</vt:lpstr>
      <vt:lpstr>Introduction</vt:lpstr>
      <vt:lpstr>Parameter interpretation</vt:lpstr>
      <vt:lpstr>Governing Theory</vt:lpstr>
      <vt:lpstr>Numerical Implementation</vt:lpstr>
      <vt:lpstr>Numerical Implementation</vt:lpstr>
      <vt:lpstr>Convergence study</vt:lpstr>
      <vt:lpstr>CFD Data and Cardiac Output</vt:lpstr>
      <vt:lpstr>Injection Protocols &amp; Model Setup</vt:lpstr>
      <vt:lpstr>Fitting the Healthy Aorta Data</vt:lpstr>
      <vt:lpstr>Fitting the Healthy Aorta Data</vt:lpstr>
      <vt:lpstr>Results</vt:lpstr>
      <vt:lpstr>Aneurysm Case</vt:lpstr>
      <vt:lpstr>Results</vt:lpstr>
      <vt:lpstr>Extended Model</vt:lpstr>
      <vt:lpstr>Discussion</vt:lpstr>
      <vt:lpstr>Conclusion &amp; Learning Outcomes</vt:lpstr>
      <vt:lpstr>Conclusion &amp; Learning 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Torgrim Odde</dc:creator>
  <cp:lastModifiedBy>Malvin Varpe</cp:lastModifiedBy>
  <cp:revision>3</cp:revision>
  <dcterms:created xsi:type="dcterms:W3CDTF">2025-10-12T13:08:04Z</dcterms:created>
  <dcterms:modified xsi:type="dcterms:W3CDTF">2025-11-12T07:35:51Z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0x010100344BBD6C06A0DE48ACBAB514EB50DDDC</vt:lpwstr>
  </property>
  <property fmtid="{D5CDD505-2E9C-101B-9397-08002B2CF9AE}" pid="3" name="MSIP_Label_e575afd7-7428-4d0b-a18c-f972d457efaf_Enabled">
    <vt:lpwstr>true</vt:lpwstr>
  </property>
  <property fmtid="{D5CDD505-2E9C-101B-9397-08002B2CF9AE}" pid="4" name="MSIP_Label_e575afd7-7428-4d0b-a18c-f972d457efaf_SetDate">
    <vt:lpwstr>2025-11-12T07:35:51Z</vt:lpwstr>
  </property>
  <property fmtid="{D5CDD505-2E9C-101B-9397-08002B2CF9AE}" pid="5" name="MSIP_Label_e575afd7-7428-4d0b-a18c-f972d457efaf_Method">
    <vt:lpwstr>Standard</vt:lpwstr>
  </property>
  <property fmtid="{D5CDD505-2E9C-101B-9397-08002B2CF9AE}" pid="6" name="MSIP_Label_e575afd7-7428-4d0b-a18c-f972d457efaf_Name">
    <vt:lpwstr>e575afd7-7428-4d0b-a18c-f972d457efaf</vt:lpwstr>
  </property>
  <property fmtid="{D5CDD505-2E9C-101B-9397-08002B2CF9AE}" pid="7" name="MSIP_Label_e575afd7-7428-4d0b-a18c-f972d457efaf_SiteId">
    <vt:lpwstr>306bb27f-a230-403b-a436-2e5cd45b8ec0</vt:lpwstr>
  </property>
  <property fmtid="{D5CDD505-2E9C-101B-9397-08002B2CF9AE}" pid="8" name="MSIP_Label_e575afd7-7428-4d0b-a18c-f972d457efaf_ActionId">
    <vt:lpwstr>e6cacaf9-2f71-4c6d-87d0-332c5cdd7393</vt:lpwstr>
  </property>
  <property fmtid="{D5CDD505-2E9C-101B-9397-08002B2CF9AE}" pid="9" name="MSIP_Label_e575afd7-7428-4d0b-a18c-f972d457efaf_ContentBits">
    <vt:lpwstr>2</vt:lpwstr>
  </property>
  <property fmtid="{D5CDD505-2E9C-101B-9397-08002B2CF9AE}" pid="10" name="MSIP_Label_e575afd7-7428-4d0b-a18c-f972d457efaf_Tag">
    <vt:lpwstr>10, 3, 0, 1</vt:lpwstr>
  </property>
  <property fmtid="{D5CDD505-2E9C-101B-9397-08002B2CF9AE}" pid="11" name="ClassificationContentMarkingFooterLocations">
    <vt:lpwstr>BjornVTI:8</vt:lpwstr>
  </property>
  <property fmtid="{D5CDD505-2E9C-101B-9397-08002B2CF9AE}" pid="12" name="ClassificationContentMarkingFooterText">
    <vt:lpwstr>Sensitivity: Internal</vt:lpwstr>
  </property>
</Properties>
</file>